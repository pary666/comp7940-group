
<file path=[Content_Types].xml><?xml version="1.0" encoding="utf-8"?>
<Types xmlns="http://schemas.openxmlformats.org/package/2006/content-types">
  <Default Extension="bin" ContentType="image/unknown"/>
  <Default Extension="jfif" ContentType="image/jpeg"/>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1.xml" ContentType="application/vnd.openxmlformats-officedocument.presentationml.tags+xml"/>
  <Override PartName="/ppt/notesSlides/notesSlide7.xml" ContentType="application/vnd.openxmlformats-officedocument.presentationml.notesSlide+xml"/>
  <Override PartName="/ppt/tags/tag2.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4"/>
  </p:notesMasterIdLst>
  <p:sldIdLst>
    <p:sldId id="256" r:id="rId2"/>
    <p:sldId id="257" r:id="rId3"/>
    <p:sldId id="258" r:id="rId4"/>
    <p:sldId id="259" r:id="rId5"/>
    <p:sldId id="267" r:id="rId6"/>
    <p:sldId id="270" r:id="rId7"/>
    <p:sldId id="268" r:id="rId8"/>
    <p:sldId id="269" r:id="rId9"/>
    <p:sldId id="273" r:id="rId10"/>
    <p:sldId id="272" r:id="rId11"/>
    <p:sldId id="271" r:id="rId12"/>
    <p:sldId id="266" r:id="rId13"/>
  </p:sldIdLst>
  <p:sldSz cx="12192000" cy="6858000"/>
  <p:notesSz cx="6858000" cy="12192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B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3" d="100"/>
          <a:sy n="83" d="100"/>
        </p:scale>
        <p:origin x="466"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334981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87EBDA-19E1-84EA-2CA5-8498D95413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DEE88D-A1B9-32CC-AAB7-806B8A3D8B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60062A-7C2E-6BEE-5806-86D14293199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4AABFDC-D778-D87B-E253-89E9C65B13A1}"/>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28796279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6F9710-825D-498B-5810-2CB87D71A2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B18617-7AD3-FC42-6B84-F85176804F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F566F4-2355-D1EE-3B77-1E7038FCDD6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FD525C7-329D-BBD3-00D6-F8FBF34808FF}"/>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1217121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6AE5F3-C1DA-3198-CEB4-70DD6CD5C6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FFDC04-84B3-3160-6F42-D4AE914592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97CA81-3CDB-9728-9A82-FADB9BCE7BF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3DB14DF-EB17-57CA-181A-7DC0FE43F645}"/>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4542701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B09BB8-2B35-D541-9004-441AE5A95F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D589B5-99DC-62BE-7ACC-64205A9515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D9680E-A692-12AD-CC2D-36A6BC29445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ACA5AF6-F48D-242F-91FD-F521A84A9B21}"/>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20937652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04EB2F-A862-7D0D-52A0-9DBCC94C82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9BADD6-14C7-913B-2A8D-E12B9CD3E9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C699A7-0116-A5CC-1B8B-0050765441D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C73B3E8-D0F8-910A-2CD1-58C31A9BF62D}"/>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25363065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F59AE7-20A8-C44A-D274-3C6F2A28C8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1F66F0-7AC8-88A7-8FAF-B5E3E1E8D7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342739-571C-E89E-3E41-68257A164B2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6E6857A-7430-09B7-2712-3754E17B8176}"/>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37330438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875F1C-FBC6-3579-E175-56AA2937F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EFE837-1651-30D5-8A11-DA1B681851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A16D93-E3B6-DEE2-E229-E946A295BA0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A2802A6-C300-96AE-F20A-62FA8A53A406}"/>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2721980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jfif"/><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hyperlink" Target="https://github.com/pary666/comp7940-group" TargetMode="External"/><Relationship Id="rId4" Type="http://schemas.openxmlformats.org/officeDocument/2006/relationships/image" Target="../media/image3.bin"/></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5.jpe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tags" Target="../tags/tag1.xml"/><Relationship Id="rId5" Type="http://schemas.openxmlformats.org/officeDocument/2006/relationships/image" Target="../media/image11.png"/><Relationship Id="rId4" Type="http://schemas.openxmlformats.org/officeDocument/2006/relationships/image" Target="../media/image10.sv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tags" Target="../tags/tag2.xml"/><Relationship Id="rId5" Type="http://schemas.openxmlformats.org/officeDocument/2006/relationships/image" Target="../media/image13.png"/><Relationship Id="rId4" Type="http://schemas.openxmlformats.org/officeDocument/2006/relationships/image" Target="../media/image12.sv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284538" y="1290638"/>
            <a:ext cx="3619500" cy="419100"/>
          </a:xfrm>
          <a:custGeom>
            <a:avLst/>
            <a:gdLst/>
            <a:ahLst/>
            <a:cxnLst/>
            <a:rect l="l" t="t" r="r" b="b"/>
            <a:pathLst>
              <a:path w="3619500" h="419100">
                <a:moveTo>
                  <a:pt x="0" y="0"/>
                </a:moveTo>
                <a:lnTo>
                  <a:pt x="3619500" y="0"/>
                </a:lnTo>
                <a:lnTo>
                  <a:pt x="3619500" y="419100"/>
                </a:lnTo>
                <a:lnTo>
                  <a:pt x="0" y="419100"/>
                </a:lnTo>
                <a:lnTo>
                  <a:pt x="0" y="0"/>
                </a:lnTo>
                <a:close/>
              </a:path>
            </a:pathLst>
          </a:custGeom>
          <a:solidFill>
            <a:srgbClr val="8B0000"/>
          </a:solidFill>
          <a:ln/>
        </p:spPr>
      </p:sp>
      <p:sp>
        <p:nvSpPr>
          <p:cNvPr id="3" name="Text 1"/>
          <p:cNvSpPr/>
          <p:nvPr/>
        </p:nvSpPr>
        <p:spPr>
          <a:xfrm>
            <a:off x="4241676" y="1290638"/>
            <a:ext cx="3705225" cy="419100"/>
          </a:xfrm>
          <a:prstGeom prst="rect">
            <a:avLst/>
          </a:prstGeom>
          <a:noFill/>
          <a:ln/>
        </p:spPr>
        <p:txBody>
          <a:bodyPr wrap="square" lIns="228600" tIns="76200" rIns="228600" bIns="76200" rtlCol="0" anchor="ctr"/>
          <a:lstStyle/>
          <a:p>
            <a:pPr algn="ctr">
              <a:lnSpc>
                <a:spcPct val="130000"/>
              </a:lnSpc>
            </a:pPr>
            <a:r>
              <a:rPr lang="en-US" sz="1350" kern="0" spc="135" dirty="0">
                <a:solidFill>
                  <a:srgbClr val="FFFFFF"/>
                </a:solidFill>
                <a:latin typeface="Times New Roman" panose="02020603050405020304" pitchFamily="18" charset="0"/>
                <a:ea typeface="Sorts Mill Goudy" pitchFamily="34" charset="-122"/>
                <a:cs typeface="Times New Roman" panose="02020603050405020304" pitchFamily="18" charset="0"/>
              </a:rPr>
              <a:t>COMP7940 CLOUD COMPUTING</a:t>
            </a:r>
            <a:endParaRPr lang="en-US" sz="1600" dirty="0">
              <a:latin typeface="Times New Roman" panose="02020603050405020304" pitchFamily="18" charset="0"/>
              <a:cs typeface="Times New Roman" panose="02020603050405020304" pitchFamily="18" charset="0"/>
            </a:endParaRPr>
          </a:p>
        </p:txBody>
      </p:sp>
      <p:sp>
        <p:nvSpPr>
          <p:cNvPr id="5" name="Text 3"/>
          <p:cNvSpPr/>
          <p:nvPr/>
        </p:nvSpPr>
        <p:spPr>
          <a:xfrm>
            <a:off x="1551977" y="2184044"/>
            <a:ext cx="9084621" cy="1819275"/>
          </a:xfrm>
          <a:prstGeom prst="rect">
            <a:avLst/>
          </a:prstGeom>
          <a:noFill/>
          <a:ln/>
        </p:spPr>
        <p:txBody>
          <a:bodyPr wrap="square" lIns="0" tIns="0" rIns="0" bIns="0" rtlCol="0" anchor="ctr"/>
          <a:lstStyle/>
          <a:p>
            <a:pPr algn="ctr">
              <a:lnSpc>
                <a:spcPct val="100000"/>
              </a:lnSpc>
            </a:pPr>
            <a:r>
              <a:rPr lang="en-US" sz="4400" b="1" dirty="0">
                <a:latin typeface="Times New Roman" panose="02020603050405020304" pitchFamily="18" charset="0"/>
                <a:ea typeface="Sorts Mill Goudy" pitchFamily="34" charset="-122"/>
                <a:cs typeface="Times New Roman" panose="02020603050405020304" pitchFamily="18" charset="0"/>
              </a:rPr>
              <a:t>Cloud-based Intelligent Learning Assistant Chatbot System</a:t>
            </a:r>
            <a:endParaRPr lang="en-US" sz="4400" b="1" dirty="0">
              <a:latin typeface="Times New Roman" panose="02020603050405020304" pitchFamily="18" charset="0"/>
              <a:cs typeface="Times New Roman" panose="02020603050405020304" pitchFamily="18" charset="0"/>
            </a:endParaRPr>
          </a:p>
        </p:txBody>
      </p:sp>
      <p:sp>
        <p:nvSpPr>
          <p:cNvPr id="6" name="Shape 4"/>
          <p:cNvSpPr/>
          <p:nvPr/>
        </p:nvSpPr>
        <p:spPr>
          <a:xfrm>
            <a:off x="4420344" y="4605338"/>
            <a:ext cx="3352800" cy="19050"/>
          </a:xfrm>
          <a:custGeom>
            <a:avLst/>
            <a:gdLst/>
            <a:ahLst/>
            <a:cxnLst/>
            <a:rect l="l" t="t" r="r" b="b"/>
            <a:pathLst>
              <a:path w="3352800" h="19050">
                <a:moveTo>
                  <a:pt x="0" y="0"/>
                </a:moveTo>
                <a:lnTo>
                  <a:pt x="3352800" y="0"/>
                </a:lnTo>
                <a:lnTo>
                  <a:pt x="3352800" y="19050"/>
                </a:lnTo>
                <a:lnTo>
                  <a:pt x="0" y="19050"/>
                </a:lnTo>
                <a:lnTo>
                  <a:pt x="0" y="0"/>
                </a:lnTo>
                <a:close/>
              </a:path>
            </a:pathLst>
          </a:custGeom>
          <a:solidFill>
            <a:srgbClr val="8B0000"/>
          </a:solidFill>
          <a:ln/>
        </p:spPr>
      </p:sp>
      <p:grpSp>
        <p:nvGrpSpPr>
          <p:cNvPr id="9" name="组合 8">
            <a:extLst>
              <a:ext uri="{FF2B5EF4-FFF2-40B4-BE49-F238E27FC236}">
                <a16:creationId xmlns:a16="http://schemas.microsoft.com/office/drawing/2014/main" id="{8E28EC9D-DD74-0380-CD4D-B59B6FE388FF}"/>
              </a:ext>
            </a:extLst>
          </p:cNvPr>
          <p:cNvGrpSpPr/>
          <p:nvPr/>
        </p:nvGrpSpPr>
        <p:grpSpPr>
          <a:xfrm>
            <a:off x="4363194" y="4919663"/>
            <a:ext cx="3467100" cy="1176483"/>
            <a:chOff x="4363194" y="4919663"/>
            <a:chExt cx="3467100" cy="1176483"/>
          </a:xfrm>
        </p:grpSpPr>
        <p:sp>
          <p:nvSpPr>
            <p:cNvPr id="7" name="Text 5"/>
            <p:cNvSpPr/>
            <p:nvPr/>
          </p:nvSpPr>
          <p:spPr>
            <a:xfrm>
              <a:off x="4363194" y="4919663"/>
              <a:ext cx="3467100" cy="304800"/>
            </a:xfrm>
            <a:prstGeom prst="rect">
              <a:avLst/>
            </a:prstGeom>
            <a:noFill/>
            <a:ln/>
          </p:spPr>
          <p:txBody>
            <a:bodyPr wrap="square" lIns="0" tIns="0" rIns="0" bIns="0" rtlCol="0" anchor="ctr"/>
            <a:lstStyle/>
            <a:p>
              <a:pPr algn="ctr">
                <a:lnSpc>
                  <a:spcPct val="110000"/>
                </a:lnSpc>
              </a:pPr>
              <a:r>
                <a:rPr lang="en-US" sz="1800" dirty="0">
                  <a:solidFill>
                    <a:srgbClr val="1F2937"/>
                  </a:solidFill>
                  <a:latin typeface="Times New Roman" panose="02020603050405020304" pitchFamily="18" charset="0"/>
                  <a:ea typeface="Sorts Mill Goudy" pitchFamily="34" charset="-122"/>
                  <a:cs typeface="Times New Roman" panose="02020603050405020304" pitchFamily="18" charset="0"/>
                </a:rPr>
                <a:t>Group AK</a:t>
              </a:r>
              <a:endParaRPr lang="en-US" sz="1600" dirty="0">
                <a:latin typeface="Times New Roman" panose="02020603050405020304" pitchFamily="18" charset="0"/>
                <a:cs typeface="Times New Roman" panose="02020603050405020304" pitchFamily="18" charset="0"/>
              </a:endParaRPr>
            </a:p>
          </p:txBody>
        </p:sp>
        <p:sp>
          <p:nvSpPr>
            <p:cNvPr id="8" name="Text 6"/>
            <p:cNvSpPr/>
            <p:nvPr/>
          </p:nvSpPr>
          <p:spPr>
            <a:xfrm>
              <a:off x="4363194" y="5230381"/>
              <a:ext cx="3448050" cy="865765"/>
            </a:xfrm>
            <a:prstGeom prst="rect">
              <a:avLst/>
            </a:prstGeom>
            <a:noFill/>
            <a:ln/>
          </p:spPr>
          <p:txBody>
            <a:bodyPr wrap="square" lIns="0" tIns="0" rIns="0" bIns="0" rtlCol="0" anchor="ctr"/>
            <a:lstStyle/>
            <a:p>
              <a:pPr algn="ctr">
                <a:lnSpc>
                  <a:spcPct val="120000"/>
                </a:lnSpc>
              </a:pPr>
              <a:r>
                <a:rPr lang="en-US" sz="1500" dirty="0">
                  <a:solidFill>
                    <a:schemeClr val="bg1">
                      <a:lumMod val="50000"/>
                    </a:schemeClr>
                  </a:solidFill>
                  <a:latin typeface="Times New Roman" panose="02020603050405020304" pitchFamily="18" charset="0"/>
                  <a:ea typeface="Sorts Mill Goudy" pitchFamily="34" charset="-122"/>
                  <a:cs typeface="Times New Roman" panose="02020603050405020304" pitchFamily="18" charset="0"/>
                </a:rPr>
                <a:t>Luo Chenjin-25450476</a:t>
              </a:r>
            </a:p>
            <a:p>
              <a:pPr algn="ctr">
                <a:lnSpc>
                  <a:spcPct val="120000"/>
                </a:lnSpc>
              </a:pPr>
              <a:r>
                <a:rPr lang="en-US" altLang="zh-CN" sz="1500" dirty="0">
                  <a:solidFill>
                    <a:schemeClr val="bg1">
                      <a:lumMod val="50000"/>
                    </a:schemeClr>
                  </a:solidFill>
                  <a:latin typeface="Times New Roman" panose="02020603050405020304" pitchFamily="18" charset="0"/>
                  <a:ea typeface="Sorts Mill Goudy" pitchFamily="34" charset="-122"/>
                  <a:cs typeface="Times New Roman" panose="02020603050405020304" pitchFamily="18" charset="0"/>
                </a:rPr>
                <a:t>Zhang Zilong-</a:t>
              </a:r>
              <a:r>
                <a:rPr lang="en-US" altLang="zh-CN" sz="1500" dirty="0">
                  <a:solidFill>
                    <a:schemeClr val="bg1">
                      <a:lumMod val="50000"/>
                    </a:schemeClr>
                  </a:solidFill>
                  <a:latin typeface="Times New Roman" panose="02020603050405020304" pitchFamily="18" charset="0"/>
                  <a:cs typeface="Times New Roman" panose="02020603050405020304" pitchFamily="18" charset="0"/>
                </a:rPr>
                <a:t>25454722</a:t>
              </a:r>
              <a:r>
                <a:rPr lang="en-US" sz="1500" dirty="0">
                  <a:solidFill>
                    <a:schemeClr val="bg1">
                      <a:lumMod val="50000"/>
                    </a:schemeClr>
                  </a:solidFill>
                  <a:latin typeface="Times New Roman" panose="02020603050405020304" pitchFamily="18" charset="0"/>
                  <a:ea typeface="Sorts Mill Goudy" pitchFamily="34" charset="-122"/>
                  <a:cs typeface="Times New Roman" panose="02020603050405020304" pitchFamily="18" charset="0"/>
                </a:rPr>
                <a:t>  </a:t>
              </a:r>
            </a:p>
            <a:p>
              <a:pPr algn="ctr">
                <a:lnSpc>
                  <a:spcPct val="120000"/>
                </a:lnSpc>
              </a:pPr>
              <a:r>
                <a:rPr lang="en-US" sz="1500" dirty="0">
                  <a:solidFill>
                    <a:schemeClr val="bg1">
                      <a:lumMod val="50000"/>
                    </a:schemeClr>
                  </a:solidFill>
                  <a:latin typeface="Times New Roman" panose="02020603050405020304" pitchFamily="18" charset="0"/>
                  <a:ea typeface="Sorts Mill Goudy" pitchFamily="34" charset="-122"/>
                  <a:cs typeface="Times New Roman" panose="02020603050405020304" pitchFamily="18" charset="0"/>
                </a:rPr>
                <a:t>Zhang Ziru-</a:t>
              </a:r>
              <a:r>
                <a:rPr lang="en-US" altLang="zh-CN" sz="1500" dirty="0">
                  <a:solidFill>
                    <a:schemeClr val="bg1">
                      <a:lumMod val="50000"/>
                    </a:schemeClr>
                  </a:solidFill>
                  <a:latin typeface="Times New Roman" panose="02020603050405020304" pitchFamily="18" charset="0"/>
                  <a:cs typeface="Times New Roman" panose="02020603050405020304" pitchFamily="18" charset="0"/>
                </a:rPr>
                <a:t>25450492</a:t>
              </a:r>
              <a:r>
                <a:rPr lang="en-US" sz="1500" dirty="0">
                  <a:solidFill>
                    <a:schemeClr val="bg1">
                      <a:lumMod val="50000"/>
                    </a:schemeClr>
                  </a:solidFill>
                  <a:latin typeface="Times New Roman" panose="02020603050405020304" pitchFamily="18" charset="0"/>
                  <a:ea typeface="Sorts Mill Goudy" pitchFamily="34" charset="-122"/>
                  <a:cs typeface="Times New Roman" panose="02020603050405020304" pitchFamily="18" charset="0"/>
                </a:rPr>
                <a:t>  </a:t>
              </a:r>
            </a:p>
          </p:txBody>
        </p:sp>
      </p:gr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81000" y="381000"/>
            <a:ext cx="11515725" cy="266700"/>
          </a:xfrm>
          <a:prstGeom prst="rect">
            <a:avLst/>
          </a:prstGeom>
          <a:noFill/>
          <a:ln/>
        </p:spPr>
        <p:txBody>
          <a:bodyPr wrap="square" lIns="0" tIns="0" rIns="0" bIns="0" rtlCol="0" anchor="ctr"/>
          <a:lstStyle/>
          <a:p>
            <a:pPr>
              <a:lnSpc>
                <a:spcPct val="130000"/>
              </a:lnSpc>
            </a:pPr>
            <a:r>
              <a:rPr lang="en-US" sz="1350" b="1" kern="0" spc="68" dirty="0">
                <a:solidFill>
                  <a:srgbClr val="8B0000"/>
                </a:solidFill>
                <a:latin typeface="Times New Roman" panose="02020603050405020304" pitchFamily="18" charset="0"/>
                <a:ea typeface="Sorts Mill Goudy" pitchFamily="34" charset="-122"/>
                <a:cs typeface="Times New Roman" panose="02020603050405020304" pitchFamily="18" charset="0"/>
              </a:rPr>
              <a:t>PRESENTATION OUTLINE</a:t>
            </a:r>
            <a:endParaRPr lang="en-US" sz="1600" dirty="0">
              <a:latin typeface="Times New Roman" panose="02020603050405020304" pitchFamily="18" charset="0"/>
              <a:cs typeface="Times New Roman" panose="02020603050405020304" pitchFamily="18" charset="0"/>
            </a:endParaRPr>
          </a:p>
        </p:txBody>
      </p:sp>
      <p:sp>
        <p:nvSpPr>
          <p:cNvPr id="3" name="Text 1"/>
          <p:cNvSpPr/>
          <p:nvPr/>
        </p:nvSpPr>
        <p:spPr>
          <a:xfrm>
            <a:off x="381000" y="723900"/>
            <a:ext cx="11658600" cy="457200"/>
          </a:xfrm>
          <a:prstGeom prst="rect">
            <a:avLst/>
          </a:prstGeom>
          <a:noFill/>
          <a:ln/>
        </p:spPr>
        <p:txBody>
          <a:bodyPr wrap="square" lIns="0" tIns="0" rIns="0" bIns="0" rtlCol="0" anchor="ctr"/>
          <a:lstStyle/>
          <a:p>
            <a:pPr>
              <a:lnSpc>
                <a:spcPct val="80000"/>
              </a:lnSpc>
            </a:pPr>
            <a:r>
              <a:rPr lang="en-US" sz="3600" b="1" dirty="0">
                <a:solidFill>
                  <a:srgbClr val="1F2937"/>
                </a:solidFill>
                <a:latin typeface="Times New Roman" panose="02020603050405020304" pitchFamily="18" charset="0"/>
                <a:ea typeface="Sorts Mill Goudy" pitchFamily="34" charset="-122"/>
                <a:cs typeface="Times New Roman" panose="02020603050405020304" pitchFamily="18" charset="0"/>
              </a:rPr>
              <a:t>Contents</a:t>
            </a:r>
            <a:endParaRPr lang="en-US" sz="1600" dirty="0">
              <a:latin typeface="Times New Roman" panose="02020603050405020304" pitchFamily="18" charset="0"/>
              <a:cs typeface="Times New Roman" panose="02020603050405020304" pitchFamily="18" charset="0"/>
            </a:endParaRPr>
          </a:p>
        </p:txBody>
      </p:sp>
      <p:grpSp>
        <p:nvGrpSpPr>
          <p:cNvPr id="28" name="组合 27">
            <a:extLst>
              <a:ext uri="{FF2B5EF4-FFF2-40B4-BE49-F238E27FC236}">
                <a16:creationId xmlns:a16="http://schemas.microsoft.com/office/drawing/2014/main" id="{8C3ED055-A3A8-212A-941C-8F669536FBA8}"/>
              </a:ext>
            </a:extLst>
          </p:cNvPr>
          <p:cNvGrpSpPr/>
          <p:nvPr/>
        </p:nvGrpSpPr>
        <p:grpSpPr>
          <a:xfrm>
            <a:off x="381000" y="2590800"/>
            <a:ext cx="3295650" cy="685800"/>
            <a:chOff x="381000" y="1485900"/>
            <a:chExt cx="3295650" cy="685800"/>
          </a:xfrm>
        </p:grpSpPr>
        <p:sp>
          <p:nvSpPr>
            <p:cNvPr id="4" name="Text 2"/>
            <p:cNvSpPr/>
            <p:nvPr/>
          </p:nvSpPr>
          <p:spPr>
            <a:xfrm>
              <a:off x="381000" y="1485900"/>
              <a:ext cx="781050" cy="381000"/>
            </a:xfrm>
            <a:prstGeom prst="rect">
              <a:avLst/>
            </a:prstGeom>
            <a:noFill/>
            <a:ln/>
          </p:spPr>
          <p:txBody>
            <a:bodyPr wrap="square" lIns="0" tIns="0" rIns="0" bIns="0" rtlCol="0" anchor="ctr"/>
            <a:lstStyle/>
            <a:p>
              <a:pPr>
                <a:lnSpc>
                  <a:spcPct val="90000"/>
                </a:lnSpc>
              </a:pPr>
              <a:r>
                <a:rPr lang="en-US" sz="2700" b="1" dirty="0">
                  <a:solidFill>
                    <a:srgbClr val="8B0000"/>
                  </a:solidFill>
                  <a:latin typeface="Times New Roman" panose="02020603050405020304" pitchFamily="18" charset="0"/>
                  <a:ea typeface="Sorts Mill Goudy" pitchFamily="34" charset="-122"/>
                  <a:cs typeface="Times New Roman" panose="02020603050405020304" pitchFamily="18" charset="0"/>
                </a:rPr>
                <a:t>01</a:t>
              </a:r>
              <a:endParaRPr lang="en-US" sz="1600" dirty="0">
                <a:latin typeface="Times New Roman" panose="02020603050405020304" pitchFamily="18" charset="0"/>
                <a:cs typeface="Times New Roman" panose="02020603050405020304" pitchFamily="18" charset="0"/>
              </a:endParaRPr>
            </a:p>
          </p:txBody>
        </p:sp>
        <p:sp>
          <p:nvSpPr>
            <p:cNvPr id="5" name="Text 3"/>
            <p:cNvSpPr/>
            <p:nvPr/>
          </p:nvSpPr>
          <p:spPr>
            <a:xfrm>
              <a:off x="1143000" y="1562100"/>
              <a:ext cx="2533650" cy="304800"/>
            </a:xfrm>
            <a:prstGeom prst="rect">
              <a:avLst/>
            </a:prstGeom>
            <a:noFill/>
            <a:ln/>
          </p:spPr>
          <p:txBody>
            <a:bodyPr wrap="square" lIns="0" tIns="0" rIns="0" bIns="0" rtlCol="0" anchor="ctr"/>
            <a:lstStyle/>
            <a:p>
              <a:pPr>
                <a:lnSpc>
                  <a:spcPct val="110000"/>
                </a:lnSpc>
              </a:pPr>
              <a:r>
                <a:rPr lang="en-US" sz="1800" b="1" dirty="0">
                  <a:solidFill>
                    <a:srgbClr val="1F2937"/>
                  </a:solidFill>
                  <a:latin typeface="Times New Roman" panose="02020603050405020304" pitchFamily="18" charset="0"/>
                  <a:ea typeface="Sorts Mill Goudy" pitchFamily="34" charset="-122"/>
                  <a:cs typeface="Times New Roman" panose="02020603050405020304" pitchFamily="18" charset="0"/>
                </a:rPr>
                <a:t>Project Overview</a:t>
              </a:r>
              <a:endParaRPr lang="en-US" sz="1600" dirty="0">
                <a:latin typeface="Times New Roman" panose="02020603050405020304" pitchFamily="18" charset="0"/>
                <a:cs typeface="Times New Roman" panose="02020603050405020304" pitchFamily="18" charset="0"/>
              </a:endParaRPr>
            </a:p>
          </p:txBody>
        </p:sp>
        <p:sp>
          <p:nvSpPr>
            <p:cNvPr id="6" name="Text 4"/>
            <p:cNvSpPr/>
            <p:nvPr/>
          </p:nvSpPr>
          <p:spPr>
            <a:xfrm>
              <a:off x="1143000" y="1905000"/>
              <a:ext cx="2505075" cy="266700"/>
            </a:xfrm>
            <a:prstGeom prst="rect">
              <a:avLst/>
            </a:prstGeom>
            <a:noFill/>
            <a:ln/>
          </p:spPr>
          <p:txBody>
            <a:bodyPr wrap="square" lIns="0" tIns="0" rIns="0" bIns="0" rtlCol="0" anchor="ctr"/>
            <a:lstStyle/>
            <a:p>
              <a:pPr>
                <a:lnSpc>
                  <a:spcPct val="130000"/>
                </a:lnSpc>
              </a:pPr>
              <a:r>
                <a:rPr lang="en-US" sz="1350" dirty="0">
                  <a:solidFill>
                    <a:srgbClr val="6B7280"/>
                  </a:solidFill>
                  <a:latin typeface="Times New Roman" panose="02020603050405020304" pitchFamily="18" charset="0"/>
                  <a:ea typeface="Sorts Mill Goudy" pitchFamily="34" charset="-122"/>
                  <a:cs typeface="Times New Roman" panose="02020603050405020304" pitchFamily="18" charset="0"/>
                </a:rPr>
                <a:t>Introduction and key features</a:t>
              </a:r>
              <a:endParaRPr lang="en-US" sz="1600" dirty="0">
                <a:latin typeface="Times New Roman" panose="02020603050405020304" pitchFamily="18" charset="0"/>
                <a:cs typeface="Times New Roman" panose="02020603050405020304" pitchFamily="18" charset="0"/>
              </a:endParaRPr>
            </a:p>
          </p:txBody>
        </p:sp>
      </p:grpSp>
      <p:grpSp>
        <p:nvGrpSpPr>
          <p:cNvPr id="29" name="组合 28">
            <a:extLst>
              <a:ext uri="{FF2B5EF4-FFF2-40B4-BE49-F238E27FC236}">
                <a16:creationId xmlns:a16="http://schemas.microsoft.com/office/drawing/2014/main" id="{810B3D6E-CF4B-14FD-4FDE-3B8BC5C6FAFC}"/>
              </a:ext>
            </a:extLst>
          </p:cNvPr>
          <p:cNvGrpSpPr/>
          <p:nvPr/>
        </p:nvGrpSpPr>
        <p:grpSpPr>
          <a:xfrm>
            <a:off x="6477000" y="2590800"/>
            <a:ext cx="3286125" cy="685800"/>
            <a:chOff x="6324600" y="1485900"/>
            <a:chExt cx="3286125" cy="685800"/>
          </a:xfrm>
        </p:grpSpPr>
        <p:sp>
          <p:nvSpPr>
            <p:cNvPr id="7" name="Text 5"/>
            <p:cNvSpPr/>
            <p:nvPr/>
          </p:nvSpPr>
          <p:spPr>
            <a:xfrm>
              <a:off x="6324600" y="1485900"/>
              <a:ext cx="781050" cy="381000"/>
            </a:xfrm>
            <a:prstGeom prst="rect">
              <a:avLst/>
            </a:prstGeom>
            <a:noFill/>
            <a:ln/>
          </p:spPr>
          <p:txBody>
            <a:bodyPr wrap="square" lIns="0" tIns="0" rIns="0" bIns="0" rtlCol="0" anchor="ctr"/>
            <a:lstStyle/>
            <a:p>
              <a:pPr>
                <a:lnSpc>
                  <a:spcPct val="90000"/>
                </a:lnSpc>
              </a:pPr>
              <a:r>
                <a:rPr lang="en-US" sz="2700" b="1" dirty="0">
                  <a:solidFill>
                    <a:srgbClr val="8B0000"/>
                  </a:solidFill>
                  <a:latin typeface="Times New Roman" panose="02020603050405020304" pitchFamily="18" charset="0"/>
                  <a:ea typeface="Sorts Mill Goudy" pitchFamily="34" charset="-122"/>
                  <a:cs typeface="Times New Roman" panose="02020603050405020304" pitchFamily="18" charset="0"/>
                </a:rPr>
                <a:t>02</a:t>
              </a:r>
              <a:endParaRPr lang="en-US" sz="1600" dirty="0">
                <a:latin typeface="Times New Roman" panose="02020603050405020304" pitchFamily="18" charset="0"/>
                <a:cs typeface="Times New Roman" panose="02020603050405020304" pitchFamily="18" charset="0"/>
              </a:endParaRPr>
            </a:p>
          </p:txBody>
        </p:sp>
        <p:sp>
          <p:nvSpPr>
            <p:cNvPr id="8" name="Text 6"/>
            <p:cNvSpPr/>
            <p:nvPr/>
          </p:nvSpPr>
          <p:spPr>
            <a:xfrm>
              <a:off x="7086600" y="1562100"/>
              <a:ext cx="2524125" cy="304800"/>
            </a:xfrm>
            <a:prstGeom prst="rect">
              <a:avLst/>
            </a:prstGeom>
            <a:noFill/>
            <a:ln/>
          </p:spPr>
          <p:txBody>
            <a:bodyPr wrap="square" lIns="0" tIns="0" rIns="0" bIns="0" rtlCol="0" anchor="ctr"/>
            <a:lstStyle/>
            <a:p>
              <a:pPr>
                <a:lnSpc>
                  <a:spcPct val="110000"/>
                </a:lnSpc>
              </a:pPr>
              <a:r>
                <a:rPr lang="en-US" altLang="zh-CN" b="1" dirty="0">
                  <a:latin typeface="Times New Roman" panose="02020603050405020304" pitchFamily="18" charset="0"/>
                  <a:cs typeface="Times New Roman" panose="02020603050405020304" pitchFamily="18" charset="0"/>
                </a:rPr>
                <a:t>Backend and Database</a:t>
              </a:r>
              <a:endParaRPr lang="en-US" sz="1600" b="1" dirty="0">
                <a:latin typeface="Times New Roman" panose="02020603050405020304" pitchFamily="18" charset="0"/>
                <a:cs typeface="Times New Roman" panose="02020603050405020304" pitchFamily="18" charset="0"/>
              </a:endParaRPr>
            </a:p>
          </p:txBody>
        </p:sp>
        <p:sp>
          <p:nvSpPr>
            <p:cNvPr id="9" name="Text 7"/>
            <p:cNvSpPr/>
            <p:nvPr/>
          </p:nvSpPr>
          <p:spPr>
            <a:xfrm>
              <a:off x="7086600" y="1905000"/>
              <a:ext cx="2495550" cy="266700"/>
            </a:xfrm>
            <a:prstGeom prst="rect">
              <a:avLst/>
            </a:prstGeom>
            <a:noFill/>
            <a:ln/>
          </p:spPr>
          <p:txBody>
            <a:bodyPr wrap="square" lIns="0" tIns="0" rIns="0" bIns="0" rtlCol="0" anchor="ctr"/>
            <a:lstStyle/>
            <a:p>
              <a:pPr>
                <a:lnSpc>
                  <a:spcPct val="130000"/>
                </a:lnSpc>
              </a:pPr>
              <a:r>
                <a:rPr lang="en-US" sz="1350" dirty="0">
                  <a:solidFill>
                    <a:srgbClr val="6B7280"/>
                  </a:solidFill>
                  <a:latin typeface="Times New Roman" panose="02020603050405020304" pitchFamily="18" charset="0"/>
                  <a:ea typeface="Sorts Mill Goudy" pitchFamily="34" charset="-122"/>
                  <a:cs typeface="Times New Roman" panose="02020603050405020304" pitchFamily="18" charset="0"/>
                </a:rPr>
                <a:t>Chat logic implementation and data management mechanism</a:t>
              </a:r>
              <a:endParaRPr lang="en-US" sz="1600" dirty="0">
                <a:latin typeface="Times New Roman" panose="02020603050405020304" pitchFamily="18" charset="0"/>
                <a:cs typeface="Times New Roman" panose="02020603050405020304" pitchFamily="18" charset="0"/>
              </a:endParaRPr>
            </a:p>
          </p:txBody>
        </p:sp>
      </p:grpSp>
      <p:grpSp>
        <p:nvGrpSpPr>
          <p:cNvPr id="30" name="组合 29">
            <a:extLst>
              <a:ext uri="{FF2B5EF4-FFF2-40B4-BE49-F238E27FC236}">
                <a16:creationId xmlns:a16="http://schemas.microsoft.com/office/drawing/2014/main" id="{FF982482-16B0-D8E5-9CEB-CADC987CB31B}"/>
              </a:ext>
            </a:extLst>
          </p:cNvPr>
          <p:cNvGrpSpPr/>
          <p:nvPr/>
        </p:nvGrpSpPr>
        <p:grpSpPr>
          <a:xfrm>
            <a:off x="352425" y="4305301"/>
            <a:ext cx="3733800" cy="685800"/>
            <a:chOff x="381000" y="2790825"/>
            <a:chExt cx="3733800" cy="685800"/>
          </a:xfrm>
        </p:grpSpPr>
        <p:sp>
          <p:nvSpPr>
            <p:cNvPr id="10" name="Text 8"/>
            <p:cNvSpPr/>
            <p:nvPr/>
          </p:nvSpPr>
          <p:spPr>
            <a:xfrm>
              <a:off x="381000" y="2790825"/>
              <a:ext cx="781050" cy="381000"/>
            </a:xfrm>
            <a:prstGeom prst="rect">
              <a:avLst/>
            </a:prstGeom>
            <a:noFill/>
            <a:ln/>
          </p:spPr>
          <p:txBody>
            <a:bodyPr wrap="square" lIns="0" tIns="0" rIns="0" bIns="0" rtlCol="0" anchor="ctr"/>
            <a:lstStyle/>
            <a:p>
              <a:pPr>
                <a:lnSpc>
                  <a:spcPct val="90000"/>
                </a:lnSpc>
              </a:pPr>
              <a:r>
                <a:rPr lang="en-US" sz="2700" b="1" dirty="0">
                  <a:solidFill>
                    <a:srgbClr val="8B0000"/>
                  </a:solidFill>
                  <a:latin typeface="Times New Roman" panose="02020603050405020304" pitchFamily="18" charset="0"/>
                  <a:ea typeface="Sorts Mill Goudy" pitchFamily="34" charset="-122"/>
                  <a:cs typeface="Times New Roman" panose="02020603050405020304" pitchFamily="18" charset="0"/>
                </a:rPr>
                <a:t>03</a:t>
              </a:r>
              <a:endParaRPr lang="en-US" sz="1600" dirty="0">
                <a:latin typeface="Times New Roman" panose="02020603050405020304" pitchFamily="18" charset="0"/>
                <a:cs typeface="Times New Roman" panose="02020603050405020304" pitchFamily="18" charset="0"/>
              </a:endParaRPr>
            </a:p>
          </p:txBody>
        </p:sp>
        <p:sp>
          <p:nvSpPr>
            <p:cNvPr id="11" name="Text 9"/>
            <p:cNvSpPr/>
            <p:nvPr/>
          </p:nvSpPr>
          <p:spPr>
            <a:xfrm>
              <a:off x="1143000" y="2867025"/>
              <a:ext cx="2971800" cy="304800"/>
            </a:xfrm>
            <a:prstGeom prst="rect">
              <a:avLst/>
            </a:prstGeom>
            <a:noFill/>
            <a:ln/>
          </p:spPr>
          <p:txBody>
            <a:bodyPr wrap="square" lIns="0" tIns="0" rIns="0" bIns="0" rtlCol="0" anchor="ctr"/>
            <a:lstStyle/>
            <a:p>
              <a:pPr>
                <a:lnSpc>
                  <a:spcPct val="110000"/>
                </a:lnSpc>
              </a:pPr>
              <a:r>
                <a:rPr lang="en-US" altLang="zh-CN" b="1" dirty="0">
                  <a:latin typeface="Times New Roman" panose="02020603050405020304" pitchFamily="18" charset="0"/>
                  <a:cs typeface="Times New Roman" panose="02020603050405020304" pitchFamily="18" charset="0"/>
                </a:rPr>
                <a:t>DevOps and CI/CD Workflow</a:t>
              </a:r>
              <a:endParaRPr lang="en-US" sz="1600" b="1" dirty="0">
                <a:latin typeface="Times New Roman" panose="02020603050405020304" pitchFamily="18" charset="0"/>
                <a:cs typeface="Times New Roman" panose="02020603050405020304" pitchFamily="18" charset="0"/>
              </a:endParaRPr>
            </a:p>
          </p:txBody>
        </p:sp>
        <p:sp>
          <p:nvSpPr>
            <p:cNvPr id="12" name="Text 10"/>
            <p:cNvSpPr/>
            <p:nvPr/>
          </p:nvSpPr>
          <p:spPr>
            <a:xfrm>
              <a:off x="1143000" y="3209925"/>
              <a:ext cx="2943225" cy="266700"/>
            </a:xfrm>
            <a:prstGeom prst="rect">
              <a:avLst/>
            </a:prstGeom>
            <a:noFill/>
            <a:ln/>
          </p:spPr>
          <p:txBody>
            <a:bodyPr wrap="square" lIns="0" tIns="0" rIns="0" bIns="0" rtlCol="0" anchor="ctr"/>
            <a:lstStyle/>
            <a:p>
              <a:pPr>
                <a:lnSpc>
                  <a:spcPct val="130000"/>
                </a:lnSpc>
              </a:pPr>
              <a:r>
                <a:rPr lang="en-US" sz="1350" dirty="0">
                  <a:solidFill>
                    <a:srgbClr val="6B7280"/>
                  </a:solidFill>
                  <a:latin typeface="Times New Roman" panose="02020603050405020304" pitchFamily="18" charset="0"/>
                  <a:ea typeface="Sorts Mill Goudy" pitchFamily="34" charset="-122"/>
                  <a:cs typeface="Times New Roman" panose="02020603050405020304" pitchFamily="18" charset="0"/>
                </a:rPr>
                <a:t>Continuous integration and automated deployment implementation</a:t>
              </a:r>
              <a:endParaRPr lang="en-US" sz="1600" dirty="0">
                <a:latin typeface="Times New Roman" panose="02020603050405020304" pitchFamily="18" charset="0"/>
                <a:cs typeface="Times New Roman" panose="02020603050405020304" pitchFamily="18" charset="0"/>
              </a:endParaRPr>
            </a:p>
          </p:txBody>
        </p:sp>
      </p:grpSp>
      <p:grpSp>
        <p:nvGrpSpPr>
          <p:cNvPr id="31" name="组合 30">
            <a:extLst>
              <a:ext uri="{FF2B5EF4-FFF2-40B4-BE49-F238E27FC236}">
                <a16:creationId xmlns:a16="http://schemas.microsoft.com/office/drawing/2014/main" id="{09CA7339-8602-5FD5-2C34-676445E51DAC}"/>
              </a:ext>
            </a:extLst>
          </p:cNvPr>
          <p:cNvGrpSpPr/>
          <p:nvPr/>
        </p:nvGrpSpPr>
        <p:grpSpPr>
          <a:xfrm>
            <a:off x="6477000" y="4305301"/>
            <a:ext cx="4163290" cy="723900"/>
            <a:chOff x="6324600" y="2790825"/>
            <a:chExt cx="4163290" cy="723900"/>
          </a:xfrm>
        </p:grpSpPr>
        <p:sp>
          <p:nvSpPr>
            <p:cNvPr id="13" name="Text 11"/>
            <p:cNvSpPr/>
            <p:nvPr/>
          </p:nvSpPr>
          <p:spPr>
            <a:xfrm>
              <a:off x="6324600" y="2790825"/>
              <a:ext cx="781050" cy="381000"/>
            </a:xfrm>
            <a:prstGeom prst="rect">
              <a:avLst/>
            </a:prstGeom>
            <a:noFill/>
            <a:ln/>
          </p:spPr>
          <p:txBody>
            <a:bodyPr wrap="square" lIns="0" tIns="0" rIns="0" bIns="0" rtlCol="0" anchor="ctr"/>
            <a:lstStyle/>
            <a:p>
              <a:pPr>
                <a:lnSpc>
                  <a:spcPct val="90000"/>
                </a:lnSpc>
              </a:pPr>
              <a:r>
                <a:rPr lang="en-US" sz="2700" b="1" dirty="0">
                  <a:solidFill>
                    <a:srgbClr val="8B0000"/>
                  </a:solidFill>
                  <a:latin typeface="Times New Roman" panose="02020603050405020304" pitchFamily="18" charset="0"/>
                  <a:ea typeface="Sorts Mill Goudy" pitchFamily="34" charset="-122"/>
                  <a:cs typeface="Times New Roman" panose="02020603050405020304" pitchFamily="18" charset="0"/>
                </a:rPr>
                <a:t>04</a:t>
              </a:r>
              <a:endParaRPr lang="en-US" sz="1600" dirty="0">
                <a:latin typeface="Times New Roman" panose="02020603050405020304" pitchFamily="18" charset="0"/>
                <a:cs typeface="Times New Roman" panose="02020603050405020304" pitchFamily="18" charset="0"/>
              </a:endParaRPr>
            </a:p>
          </p:txBody>
        </p:sp>
        <p:sp>
          <p:nvSpPr>
            <p:cNvPr id="14" name="Text 12"/>
            <p:cNvSpPr/>
            <p:nvPr/>
          </p:nvSpPr>
          <p:spPr>
            <a:xfrm>
              <a:off x="7086599" y="2867025"/>
              <a:ext cx="3401291" cy="304800"/>
            </a:xfrm>
            <a:prstGeom prst="rect">
              <a:avLst/>
            </a:prstGeom>
            <a:noFill/>
            <a:ln/>
          </p:spPr>
          <p:txBody>
            <a:bodyPr wrap="square" lIns="0" tIns="0" rIns="0" bIns="0" rtlCol="0" anchor="ctr"/>
            <a:lstStyle/>
            <a:p>
              <a:pPr>
                <a:lnSpc>
                  <a:spcPct val="110000"/>
                </a:lnSpc>
              </a:pPr>
              <a:r>
                <a:rPr lang="en-US" altLang="zh-CN" b="1" dirty="0">
                  <a:latin typeface="Times New Roman" panose="02020603050405020304" pitchFamily="18" charset="0"/>
                  <a:cs typeface="Times New Roman" panose="02020603050405020304" pitchFamily="18" charset="0"/>
                </a:rPr>
                <a:t>Container and Cloud Deployment</a:t>
              </a:r>
              <a:endParaRPr lang="en-US" sz="1600" b="1" dirty="0">
                <a:latin typeface="Times New Roman" panose="02020603050405020304" pitchFamily="18" charset="0"/>
                <a:cs typeface="Times New Roman" panose="02020603050405020304" pitchFamily="18" charset="0"/>
              </a:endParaRPr>
            </a:p>
          </p:txBody>
        </p:sp>
        <p:sp>
          <p:nvSpPr>
            <p:cNvPr id="15" name="Text 13"/>
            <p:cNvSpPr/>
            <p:nvPr/>
          </p:nvSpPr>
          <p:spPr>
            <a:xfrm>
              <a:off x="7086600" y="3209925"/>
              <a:ext cx="3401290" cy="304800"/>
            </a:xfrm>
            <a:prstGeom prst="rect">
              <a:avLst/>
            </a:prstGeom>
            <a:noFill/>
            <a:ln/>
          </p:spPr>
          <p:txBody>
            <a:bodyPr wrap="square" lIns="0" tIns="0" rIns="0" bIns="0" rtlCol="0" anchor="ctr"/>
            <a:lstStyle/>
            <a:p>
              <a:pPr>
                <a:lnSpc>
                  <a:spcPct val="130000"/>
                </a:lnSpc>
              </a:pPr>
              <a:r>
                <a:rPr lang="en-US" sz="1350" dirty="0">
                  <a:solidFill>
                    <a:srgbClr val="6B7280"/>
                  </a:solidFill>
                  <a:latin typeface="Times New Roman" panose="02020603050405020304" pitchFamily="18" charset="0"/>
                  <a:ea typeface="Sorts Mill Goudy" pitchFamily="34" charset="-122"/>
                  <a:cs typeface="Times New Roman" panose="02020603050405020304" pitchFamily="18" charset="0"/>
                </a:rPr>
                <a:t>Docker application packaging and cloud-based runtime environment</a:t>
              </a:r>
              <a:endParaRPr lang="en-US" sz="1600" dirty="0">
                <a:latin typeface="Times New Roman" panose="02020603050405020304" pitchFamily="18" charset="0"/>
                <a:cs typeface="Times New Roman" panose="02020603050405020304" pitchFamily="18" charset="0"/>
              </a:endParaRPr>
            </a:p>
          </p:txBody>
        </p:sp>
      </p:gr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81000" y="380999"/>
            <a:ext cx="11515725" cy="449323"/>
          </a:xfrm>
          <a:prstGeom prst="rect">
            <a:avLst/>
          </a:prstGeom>
          <a:noFill/>
          <a:ln/>
        </p:spPr>
        <p:txBody>
          <a:bodyPr wrap="square" lIns="0" tIns="0" rIns="0" bIns="0" rtlCol="0" anchor="ctr"/>
          <a:lstStyle/>
          <a:p>
            <a:pPr algn="just">
              <a:lnSpc>
                <a:spcPct val="130000"/>
              </a:lnSpc>
            </a:pPr>
            <a:r>
              <a:rPr lang="en-US" sz="2400" b="1" kern="0" spc="68" dirty="0">
                <a:solidFill>
                  <a:srgbClr val="8B0000"/>
                </a:solidFill>
                <a:latin typeface="Times New Roman" panose="02020603050405020304" pitchFamily="18" charset="0"/>
                <a:ea typeface="Sorts Mill Goudy" pitchFamily="34" charset="-122"/>
                <a:cs typeface="Times New Roman" panose="02020603050405020304" pitchFamily="18" charset="0"/>
              </a:rPr>
              <a:t>01 / PROJECT OVERVIEW</a:t>
            </a:r>
            <a:endParaRPr lang="en-US" sz="2400" dirty="0">
              <a:latin typeface="Times New Roman" panose="02020603050405020304" pitchFamily="18" charset="0"/>
              <a:cs typeface="Times New Roman" panose="02020603050405020304" pitchFamily="18" charset="0"/>
            </a:endParaRPr>
          </a:p>
        </p:txBody>
      </p:sp>
      <p:grpSp>
        <p:nvGrpSpPr>
          <p:cNvPr id="17" name="组合 16">
            <a:extLst>
              <a:ext uri="{FF2B5EF4-FFF2-40B4-BE49-F238E27FC236}">
                <a16:creationId xmlns:a16="http://schemas.microsoft.com/office/drawing/2014/main" id="{2A1D197C-9A9D-826A-3FD4-124196ECD343}"/>
              </a:ext>
            </a:extLst>
          </p:cNvPr>
          <p:cNvGrpSpPr/>
          <p:nvPr/>
        </p:nvGrpSpPr>
        <p:grpSpPr>
          <a:xfrm>
            <a:off x="242887" y="952500"/>
            <a:ext cx="6667500" cy="304800"/>
            <a:chOff x="381000" y="2528888"/>
            <a:chExt cx="6667500" cy="304800"/>
          </a:xfrm>
        </p:grpSpPr>
        <p:sp>
          <p:nvSpPr>
            <p:cNvPr id="4" name="Shape 2"/>
            <p:cNvSpPr/>
            <p:nvPr/>
          </p:nvSpPr>
          <p:spPr>
            <a:xfrm>
              <a:off x="381000" y="2566988"/>
              <a:ext cx="285750" cy="228600"/>
            </a:xfrm>
            <a:custGeom>
              <a:avLst/>
              <a:gdLst/>
              <a:ahLst/>
              <a:cxnLst/>
              <a:rect l="l" t="t" r="r" b="b"/>
              <a:pathLst>
                <a:path w="285750" h="228600">
                  <a:moveTo>
                    <a:pt x="157163" y="0"/>
                  </a:moveTo>
                  <a:cubicBezTo>
                    <a:pt x="157163" y="-7903"/>
                    <a:pt x="150778" y="-14287"/>
                    <a:pt x="142875" y="-14287"/>
                  </a:cubicBezTo>
                  <a:cubicBezTo>
                    <a:pt x="134972" y="-14287"/>
                    <a:pt x="128588" y="-7903"/>
                    <a:pt x="128588" y="0"/>
                  </a:cubicBezTo>
                  <a:lnTo>
                    <a:pt x="128588" y="28575"/>
                  </a:lnTo>
                  <a:lnTo>
                    <a:pt x="85725" y="28575"/>
                  </a:lnTo>
                  <a:cubicBezTo>
                    <a:pt x="62061" y="28575"/>
                    <a:pt x="42863" y="47774"/>
                    <a:pt x="42863" y="71438"/>
                  </a:cubicBezTo>
                  <a:lnTo>
                    <a:pt x="42863" y="171450"/>
                  </a:lnTo>
                  <a:cubicBezTo>
                    <a:pt x="42863" y="195114"/>
                    <a:pt x="62061" y="214313"/>
                    <a:pt x="85725" y="214313"/>
                  </a:cubicBezTo>
                  <a:lnTo>
                    <a:pt x="200025" y="214313"/>
                  </a:lnTo>
                  <a:cubicBezTo>
                    <a:pt x="223689" y="214313"/>
                    <a:pt x="242888" y="195114"/>
                    <a:pt x="242888" y="171450"/>
                  </a:cubicBezTo>
                  <a:lnTo>
                    <a:pt x="242888" y="71438"/>
                  </a:lnTo>
                  <a:cubicBezTo>
                    <a:pt x="242888" y="47774"/>
                    <a:pt x="223689" y="28575"/>
                    <a:pt x="200025" y="28575"/>
                  </a:cubicBezTo>
                  <a:lnTo>
                    <a:pt x="157163" y="28575"/>
                  </a:lnTo>
                  <a:lnTo>
                    <a:pt x="157163" y="0"/>
                  </a:lnTo>
                  <a:close/>
                  <a:moveTo>
                    <a:pt x="71438" y="164306"/>
                  </a:moveTo>
                  <a:cubicBezTo>
                    <a:pt x="71438" y="158368"/>
                    <a:pt x="76215" y="153591"/>
                    <a:pt x="82153" y="153591"/>
                  </a:cubicBezTo>
                  <a:lnTo>
                    <a:pt x="96441" y="153591"/>
                  </a:lnTo>
                  <a:cubicBezTo>
                    <a:pt x="102379" y="153591"/>
                    <a:pt x="107156" y="158368"/>
                    <a:pt x="107156" y="164306"/>
                  </a:cubicBezTo>
                  <a:cubicBezTo>
                    <a:pt x="107156" y="170244"/>
                    <a:pt x="102379" y="175022"/>
                    <a:pt x="96441" y="175022"/>
                  </a:cubicBezTo>
                  <a:lnTo>
                    <a:pt x="82153" y="175022"/>
                  </a:lnTo>
                  <a:cubicBezTo>
                    <a:pt x="76215" y="175022"/>
                    <a:pt x="71438" y="170244"/>
                    <a:pt x="71438" y="164306"/>
                  </a:cubicBezTo>
                  <a:close/>
                  <a:moveTo>
                    <a:pt x="125016" y="164306"/>
                  </a:moveTo>
                  <a:cubicBezTo>
                    <a:pt x="125016" y="158368"/>
                    <a:pt x="129793" y="153591"/>
                    <a:pt x="135731" y="153591"/>
                  </a:cubicBezTo>
                  <a:lnTo>
                    <a:pt x="150019" y="153591"/>
                  </a:lnTo>
                  <a:cubicBezTo>
                    <a:pt x="155957" y="153591"/>
                    <a:pt x="160734" y="158368"/>
                    <a:pt x="160734" y="164306"/>
                  </a:cubicBezTo>
                  <a:cubicBezTo>
                    <a:pt x="160734" y="170244"/>
                    <a:pt x="155957" y="175022"/>
                    <a:pt x="150019" y="175022"/>
                  </a:cubicBezTo>
                  <a:lnTo>
                    <a:pt x="135731" y="175022"/>
                  </a:lnTo>
                  <a:cubicBezTo>
                    <a:pt x="129793" y="175022"/>
                    <a:pt x="125016" y="170244"/>
                    <a:pt x="125016" y="164306"/>
                  </a:cubicBezTo>
                  <a:close/>
                  <a:moveTo>
                    <a:pt x="178594" y="164306"/>
                  </a:moveTo>
                  <a:cubicBezTo>
                    <a:pt x="178594" y="158368"/>
                    <a:pt x="183371" y="153591"/>
                    <a:pt x="189309" y="153591"/>
                  </a:cubicBezTo>
                  <a:lnTo>
                    <a:pt x="203597" y="153591"/>
                  </a:lnTo>
                  <a:cubicBezTo>
                    <a:pt x="209535" y="153591"/>
                    <a:pt x="214313" y="158368"/>
                    <a:pt x="214313" y="164306"/>
                  </a:cubicBezTo>
                  <a:cubicBezTo>
                    <a:pt x="214313" y="170244"/>
                    <a:pt x="209535" y="175022"/>
                    <a:pt x="203597" y="175022"/>
                  </a:cubicBezTo>
                  <a:lnTo>
                    <a:pt x="189309" y="175022"/>
                  </a:lnTo>
                  <a:cubicBezTo>
                    <a:pt x="183371" y="175022"/>
                    <a:pt x="178594" y="170244"/>
                    <a:pt x="178594" y="164306"/>
                  </a:cubicBezTo>
                  <a:close/>
                  <a:moveTo>
                    <a:pt x="100013" y="78581"/>
                  </a:moveTo>
                  <a:cubicBezTo>
                    <a:pt x="111841" y="78581"/>
                    <a:pt x="121444" y="88184"/>
                    <a:pt x="121444" y="100013"/>
                  </a:cubicBezTo>
                  <a:cubicBezTo>
                    <a:pt x="121444" y="111841"/>
                    <a:pt x="111841" y="121444"/>
                    <a:pt x="100013" y="121444"/>
                  </a:cubicBezTo>
                  <a:cubicBezTo>
                    <a:pt x="88184" y="121444"/>
                    <a:pt x="78581" y="111841"/>
                    <a:pt x="78581" y="100013"/>
                  </a:cubicBezTo>
                  <a:cubicBezTo>
                    <a:pt x="78581" y="88184"/>
                    <a:pt x="88184" y="78581"/>
                    <a:pt x="100013" y="78581"/>
                  </a:cubicBezTo>
                  <a:close/>
                  <a:moveTo>
                    <a:pt x="164306" y="100013"/>
                  </a:moveTo>
                  <a:cubicBezTo>
                    <a:pt x="164306" y="88184"/>
                    <a:pt x="173909" y="78581"/>
                    <a:pt x="185738" y="78581"/>
                  </a:cubicBezTo>
                  <a:cubicBezTo>
                    <a:pt x="197566" y="78581"/>
                    <a:pt x="207169" y="88184"/>
                    <a:pt x="207169" y="100013"/>
                  </a:cubicBezTo>
                  <a:cubicBezTo>
                    <a:pt x="207169" y="111841"/>
                    <a:pt x="197566" y="121444"/>
                    <a:pt x="185738" y="121444"/>
                  </a:cubicBezTo>
                  <a:cubicBezTo>
                    <a:pt x="173909" y="121444"/>
                    <a:pt x="164306" y="111841"/>
                    <a:pt x="164306" y="100013"/>
                  </a:cubicBezTo>
                  <a:close/>
                  <a:moveTo>
                    <a:pt x="28575" y="100013"/>
                  </a:moveTo>
                  <a:cubicBezTo>
                    <a:pt x="28575" y="92110"/>
                    <a:pt x="22190" y="85725"/>
                    <a:pt x="14288" y="85725"/>
                  </a:cubicBezTo>
                  <a:cubicBezTo>
                    <a:pt x="6385" y="85725"/>
                    <a:pt x="0" y="92110"/>
                    <a:pt x="0" y="100013"/>
                  </a:cubicBezTo>
                  <a:lnTo>
                    <a:pt x="0" y="142875"/>
                  </a:lnTo>
                  <a:cubicBezTo>
                    <a:pt x="0" y="150778"/>
                    <a:pt x="6385" y="157163"/>
                    <a:pt x="14288" y="157163"/>
                  </a:cubicBezTo>
                  <a:cubicBezTo>
                    <a:pt x="22190" y="157163"/>
                    <a:pt x="28575" y="150778"/>
                    <a:pt x="28575" y="142875"/>
                  </a:cubicBezTo>
                  <a:lnTo>
                    <a:pt x="28575" y="100013"/>
                  </a:lnTo>
                  <a:close/>
                  <a:moveTo>
                    <a:pt x="271463" y="85725"/>
                  </a:moveTo>
                  <a:cubicBezTo>
                    <a:pt x="263560" y="85725"/>
                    <a:pt x="257175" y="92110"/>
                    <a:pt x="257175" y="100013"/>
                  </a:cubicBezTo>
                  <a:lnTo>
                    <a:pt x="257175" y="142875"/>
                  </a:lnTo>
                  <a:cubicBezTo>
                    <a:pt x="257175" y="150778"/>
                    <a:pt x="263560" y="157163"/>
                    <a:pt x="271463" y="157163"/>
                  </a:cubicBezTo>
                  <a:cubicBezTo>
                    <a:pt x="279365" y="157163"/>
                    <a:pt x="285750" y="150778"/>
                    <a:pt x="285750" y="142875"/>
                  </a:cubicBezTo>
                  <a:lnTo>
                    <a:pt x="285750" y="100013"/>
                  </a:lnTo>
                  <a:cubicBezTo>
                    <a:pt x="285750" y="92110"/>
                    <a:pt x="279365" y="85725"/>
                    <a:pt x="271463" y="85725"/>
                  </a:cubicBezTo>
                  <a:close/>
                </a:path>
              </a:pathLst>
            </a:custGeom>
            <a:solidFill>
              <a:srgbClr val="8B0000"/>
            </a:solidFill>
            <a:ln/>
          </p:spPr>
        </p:sp>
        <p:sp>
          <p:nvSpPr>
            <p:cNvPr id="5" name="Text 3"/>
            <p:cNvSpPr/>
            <p:nvPr/>
          </p:nvSpPr>
          <p:spPr>
            <a:xfrm>
              <a:off x="666750" y="2528888"/>
              <a:ext cx="6381750" cy="304800"/>
            </a:xfrm>
            <a:prstGeom prst="rect">
              <a:avLst/>
            </a:prstGeom>
            <a:noFill/>
            <a:ln/>
          </p:spPr>
          <p:txBody>
            <a:bodyPr wrap="square" lIns="0" tIns="0" rIns="0" bIns="0" rtlCol="0" anchor="ctr"/>
            <a:lstStyle/>
            <a:p>
              <a:pPr algn="just">
                <a:lnSpc>
                  <a:spcPct val="110000"/>
                </a:lnSpc>
              </a:pPr>
              <a:r>
                <a:rPr lang="en-US" sz="1800" b="1" dirty="0">
                  <a:solidFill>
                    <a:srgbClr val="1F2937"/>
                  </a:solidFill>
                  <a:latin typeface="Times New Roman" panose="02020603050405020304" pitchFamily="18" charset="0"/>
                  <a:ea typeface="Sorts Mill Goudy" pitchFamily="34" charset="-122"/>
                  <a:cs typeface="Times New Roman" panose="02020603050405020304" pitchFamily="18" charset="0"/>
                </a:rPr>
                <a:t>Introduction</a:t>
              </a:r>
              <a:endParaRPr lang="en-US" sz="1600" dirty="0">
                <a:latin typeface="Times New Roman" panose="02020603050405020304" pitchFamily="18" charset="0"/>
                <a:cs typeface="Times New Roman" panose="02020603050405020304" pitchFamily="18" charset="0"/>
              </a:endParaRPr>
            </a:p>
          </p:txBody>
        </p:sp>
      </p:grpSp>
      <p:sp>
        <p:nvSpPr>
          <p:cNvPr id="6" name="Text 4"/>
          <p:cNvSpPr/>
          <p:nvPr/>
        </p:nvSpPr>
        <p:spPr>
          <a:xfrm>
            <a:off x="261937" y="1257301"/>
            <a:ext cx="6648450" cy="2606734"/>
          </a:xfrm>
          <a:prstGeom prst="rect">
            <a:avLst/>
          </a:prstGeom>
          <a:noFill/>
          <a:ln/>
        </p:spPr>
        <p:txBody>
          <a:bodyPr wrap="square" lIns="0" tIns="0" rIns="0" bIns="0" rtlCol="0" anchor="ctr"/>
          <a:lstStyle/>
          <a:p>
            <a:pPr algn="just">
              <a:lnSpc>
                <a:spcPct val="140000"/>
              </a:lnSpc>
            </a:pPr>
            <a:r>
              <a:rPr lang="en-US" sz="1500" dirty="0">
                <a:solidFill>
                  <a:srgbClr val="1F2937"/>
                </a:solidFill>
                <a:latin typeface="Times New Roman" panose="02020603050405020304" pitchFamily="18" charset="0"/>
                <a:ea typeface="Sorts Mill Goudy" pitchFamily="34" charset="-122"/>
                <a:cs typeface="Times New Roman" panose="02020603050405020304" pitchFamily="18" charset="0"/>
              </a:rPr>
              <a:t>This project developed a Telegram chatbot based on the cloud platform, which is positioned as an intelligent learning assistant. By integrating the API of the large language model, it realizes intelligent question answering and learning support functions. </a:t>
            </a:r>
          </a:p>
          <a:p>
            <a:pPr algn="just">
              <a:lnSpc>
                <a:spcPct val="140000"/>
              </a:lnSpc>
            </a:pPr>
            <a:r>
              <a:rPr lang="en-US" sz="1500" dirty="0">
                <a:solidFill>
                  <a:srgbClr val="1F2937"/>
                </a:solidFill>
                <a:latin typeface="Times New Roman" panose="02020603050405020304" pitchFamily="18" charset="0"/>
                <a:ea typeface="Sorts Mill Goudy" pitchFamily="34" charset="-122"/>
                <a:cs typeface="Times New Roman" panose="02020603050405020304" pitchFamily="18" charset="0"/>
              </a:rPr>
              <a:t>The system processes user requests through the Python backend and invokes the LLM to generate responses. At the same time, the system introduces the CI/CD automation process and deploys it in the cloud environment, integrating log recording for monitoring and cost control.</a:t>
            </a:r>
            <a:endParaRPr lang="en-US" sz="1600" dirty="0">
              <a:latin typeface="Times New Roman" panose="02020603050405020304" pitchFamily="18" charset="0"/>
              <a:cs typeface="Times New Roman" panose="02020603050405020304" pitchFamily="18" charset="0"/>
            </a:endParaRPr>
          </a:p>
        </p:txBody>
      </p:sp>
      <p:grpSp>
        <p:nvGrpSpPr>
          <p:cNvPr id="18" name="组合 17">
            <a:extLst>
              <a:ext uri="{FF2B5EF4-FFF2-40B4-BE49-F238E27FC236}">
                <a16:creationId xmlns:a16="http://schemas.microsoft.com/office/drawing/2014/main" id="{23B16A11-A875-2E61-9799-4384C2CD1E75}"/>
              </a:ext>
            </a:extLst>
          </p:cNvPr>
          <p:cNvGrpSpPr/>
          <p:nvPr/>
        </p:nvGrpSpPr>
        <p:grpSpPr>
          <a:xfrm>
            <a:off x="240506" y="3910013"/>
            <a:ext cx="6653212" cy="304800"/>
            <a:chOff x="395288" y="3871913"/>
            <a:chExt cx="6653212" cy="304800"/>
          </a:xfrm>
        </p:grpSpPr>
        <p:sp>
          <p:nvSpPr>
            <p:cNvPr id="7" name="Shape 5"/>
            <p:cNvSpPr/>
            <p:nvPr/>
          </p:nvSpPr>
          <p:spPr>
            <a:xfrm>
              <a:off x="395288" y="3910013"/>
              <a:ext cx="257175" cy="228600"/>
            </a:xfrm>
            <a:custGeom>
              <a:avLst/>
              <a:gdLst/>
              <a:ahLst/>
              <a:cxnLst/>
              <a:rect l="l" t="t" r="r" b="b"/>
              <a:pathLst>
                <a:path w="257175" h="228600">
                  <a:moveTo>
                    <a:pt x="138187" y="-8439"/>
                  </a:moveTo>
                  <a:cubicBezTo>
                    <a:pt x="136356" y="-12010"/>
                    <a:pt x="132651" y="-14287"/>
                    <a:pt x="128632" y="-14287"/>
                  </a:cubicBezTo>
                  <a:cubicBezTo>
                    <a:pt x="124614" y="-14287"/>
                    <a:pt x="120908" y="-12010"/>
                    <a:pt x="119077" y="-8439"/>
                  </a:cubicBezTo>
                  <a:lnTo>
                    <a:pt x="86216" y="55944"/>
                  </a:lnTo>
                  <a:lnTo>
                    <a:pt x="14823" y="67285"/>
                  </a:lnTo>
                  <a:cubicBezTo>
                    <a:pt x="10850" y="67910"/>
                    <a:pt x="7546" y="70723"/>
                    <a:pt x="6295" y="74563"/>
                  </a:cubicBezTo>
                  <a:cubicBezTo>
                    <a:pt x="5045" y="78403"/>
                    <a:pt x="6072" y="82600"/>
                    <a:pt x="8885" y="85457"/>
                  </a:cubicBezTo>
                  <a:lnTo>
                    <a:pt x="59963" y="136580"/>
                  </a:lnTo>
                  <a:lnTo>
                    <a:pt x="48711" y="207972"/>
                  </a:lnTo>
                  <a:cubicBezTo>
                    <a:pt x="48086" y="211946"/>
                    <a:pt x="49738" y="215964"/>
                    <a:pt x="52998" y="218331"/>
                  </a:cubicBezTo>
                  <a:cubicBezTo>
                    <a:pt x="56257" y="220697"/>
                    <a:pt x="60543" y="221054"/>
                    <a:pt x="64160" y="219224"/>
                  </a:cubicBezTo>
                  <a:lnTo>
                    <a:pt x="128632" y="186452"/>
                  </a:lnTo>
                  <a:lnTo>
                    <a:pt x="193060" y="219224"/>
                  </a:lnTo>
                  <a:cubicBezTo>
                    <a:pt x="196632" y="221054"/>
                    <a:pt x="200963" y="220697"/>
                    <a:pt x="204222" y="218331"/>
                  </a:cubicBezTo>
                  <a:cubicBezTo>
                    <a:pt x="207481" y="215964"/>
                    <a:pt x="209133" y="211991"/>
                    <a:pt x="208508" y="207972"/>
                  </a:cubicBezTo>
                  <a:lnTo>
                    <a:pt x="197212" y="136580"/>
                  </a:lnTo>
                  <a:lnTo>
                    <a:pt x="248290" y="85457"/>
                  </a:lnTo>
                  <a:cubicBezTo>
                    <a:pt x="251147" y="82600"/>
                    <a:pt x="252130" y="78403"/>
                    <a:pt x="250880" y="74563"/>
                  </a:cubicBezTo>
                  <a:cubicBezTo>
                    <a:pt x="249629" y="70723"/>
                    <a:pt x="246370" y="67910"/>
                    <a:pt x="242352" y="67285"/>
                  </a:cubicBezTo>
                  <a:lnTo>
                    <a:pt x="171004" y="55944"/>
                  </a:lnTo>
                  <a:lnTo>
                    <a:pt x="138187" y="-8439"/>
                  </a:lnTo>
                  <a:close/>
                </a:path>
              </a:pathLst>
            </a:custGeom>
            <a:solidFill>
              <a:srgbClr val="8B0000"/>
            </a:solidFill>
            <a:ln/>
          </p:spPr>
        </p:sp>
        <p:sp>
          <p:nvSpPr>
            <p:cNvPr id="8" name="Text 6"/>
            <p:cNvSpPr/>
            <p:nvPr/>
          </p:nvSpPr>
          <p:spPr>
            <a:xfrm>
              <a:off x="666750" y="3871913"/>
              <a:ext cx="6381750" cy="304800"/>
            </a:xfrm>
            <a:prstGeom prst="rect">
              <a:avLst/>
            </a:prstGeom>
            <a:noFill/>
            <a:ln/>
          </p:spPr>
          <p:txBody>
            <a:bodyPr wrap="square" lIns="0" tIns="0" rIns="0" bIns="0" rtlCol="0" anchor="ctr"/>
            <a:lstStyle/>
            <a:p>
              <a:pPr algn="just">
                <a:lnSpc>
                  <a:spcPct val="110000"/>
                </a:lnSpc>
              </a:pPr>
              <a:r>
                <a:rPr lang="en-US" sz="1800" b="1" dirty="0">
                  <a:solidFill>
                    <a:srgbClr val="1F2937"/>
                  </a:solidFill>
                  <a:latin typeface="Times New Roman" panose="02020603050405020304" pitchFamily="18" charset="0"/>
                  <a:ea typeface="Sorts Mill Goudy" pitchFamily="34" charset="-122"/>
                  <a:cs typeface="Times New Roman" panose="02020603050405020304" pitchFamily="18" charset="0"/>
                </a:rPr>
                <a:t>Key Features</a:t>
              </a:r>
              <a:endParaRPr lang="en-US" sz="1600" dirty="0">
                <a:latin typeface="Times New Roman" panose="02020603050405020304" pitchFamily="18" charset="0"/>
                <a:cs typeface="Times New Roman" panose="02020603050405020304" pitchFamily="18" charset="0"/>
              </a:endParaRPr>
            </a:p>
          </p:txBody>
        </p:sp>
      </p:grpSp>
      <p:sp>
        <p:nvSpPr>
          <p:cNvPr id="10" name="Text 8"/>
          <p:cNvSpPr/>
          <p:nvPr/>
        </p:nvSpPr>
        <p:spPr>
          <a:xfrm>
            <a:off x="242887" y="4291013"/>
            <a:ext cx="6648450" cy="445425"/>
          </a:xfrm>
          <a:prstGeom prst="rect">
            <a:avLst/>
          </a:prstGeom>
          <a:noFill/>
          <a:ln/>
        </p:spPr>
        <p:txBody>
          <a:bodyPr wrap="square" lIns="0" tIns="0" rIns="0" bIns="0" rtlCol="0" anchor="ctr"/>
          <a:lstStyle/>
          <a:p>
            <a:pPr algn="just">
              <a:lnSpc>
                <a:spcPct val="120000"/>
              </a:lnSpc>
            </a:pPr>
            <a:r>
              <a:rPr lang="en-US" sz="1500" b="1" dirty="0">
                <a:latin typeface="Times New Roman" panose="02020603050405020304" pitchFamily="18" charset="0"/>
                <a:cs typeface="Times New Roman" panose="02020603050405020304" pitchFamily="18" charset="0"/>
              </a:rPr>
              <a:t>Intelligent Question Answering:</a:t>
            </a:r>
            <a:r>
              <a:rPr lang="en-US" sz="1500" dirty="0">
                <a:latin typeface="Times New Roman" panose="02020603050405020304" pitchFamily="18" charset="0"/>
                <a:cs typeface="Times New Roman" panose="02020603050405020304" pitchFamily="18" charset="0"/>
              </a:rPr>
              <a:t> Supports natural language interaction and generates responses in real time based on LLM.</a:t>
            </a:r>
          </a:p>
        </p:txBody>
      </p:sp>
      <p:sp>
        <p:nvSpPr>
          <p:cNvPr id="12" name="Text 10"/>
          <p:cNvSpPr/>
          <p:nvPr/>
        </p:nvSpPr>
        <p:spPr>
          <a:xfrm>
            <a:off x="240506" y="4950835"/>
            <a:ext cx="6653212" cy="266700"/>
          </a:xfrm>
          <a:prstGeom prst="rect">
            <a:avLst/>
          </a:prstGeom>
          <a:noFill/>
          <a:ln/>
        </p:spPr>
        <p:txBody>
          <a:bodyPr wrap="square" lIns="0" tIns="0" rIns="0" bIns="0" rtlCol="0" anchor="ctr"/>
          <a:lstStyle/>
          <a:p>
            <a:pPr algn="just">
              <a:lnSpc>
                <a:spcPct val="120000"/>
              </a:lnSpc>
            </a:pPr>
            <a:r>
              <a:rPr lang="en-US" sz="1600" b="1" dirty="0">
                <a:latin typeface="Times New Roman" panose="02020603050405020304" pitchFamily="18" charset="0"/>
                <a:cs typeface="Times New Roman" panose="02020603050405020304" pitchFamily="18" charset="0"/>
              </a:rPr>
              <a:t>Interest Matching: </a:t>
            </a:r>
            <a:r>
              <a:rPr lang="en-US" sz="1600" dirty="0">
                <a:latin typeface="Times New Roman" panose="02020603050405020304" pitchFamily="18" charset="0"/>
                <a:cs typeface="Times New Roman" panose="02020603050405020304" pitchFamily="18" charset="0"/>
              </a:rPr>
              <a:t>Identify users' learning interests and match them with users who have similar interests.</a:t>
            </a:r>
          </a:p>
        </p:txBody>
      </p:sp>
      <p:sp>
        <p:nvSpPr>
          <p:cNvPr id="14" name="Text 12"/>
          <p:cNvSpPr/>
          <p:nvPr/>
        </p:nvSpPr>
        <p:spPr>
          <a:xfrm>
            <a:off x="240506" y="5358908"/>
            <a:ext cx="6629400" cy="575744"/>
          </a:xfrm>
          <a:prstGeom prst="rect">
            <a:avLst/>
          </a:prstGeom>
          <a:noFill/>
          <a:ln/>
        </p:spPr>
        <p:txBody>
          <a:bodyPr wrap="square" lIns="0" tIns="0" rIns="0" bIns="0" rtlCol="0" anchor="ctr"/>
          <a:lstStyle/>
          <a:p>
            <a:pPr algn="just">
              <a:lnSpc>
                <a:spcPct val="120000"/>
              </a:lnSpc>
            </a:pPr>
            <a:r>
              <a:rPr lang="en-US" sz="1500" b="1" dirty="0">
                <a:solidFill>
                  <a:srgbClr val="1F2937"/>
                </a:solidFill>
                <a:latin typeface="Times New Roman" panose="02020603050405020304" pitchFamily="18" charset="0"/>
                <a:ea typeface="Sorts Mill Goudy" pitchFamily="34" charset="-122"/>
                <a:cs typeface="Times New Roman" panose="02020603050405020304" pitchFamily="18" charset="0"/>
              </a:rPr>
              <a:t>Event Recommendation: </a:t>
            </a:r>
            <a:r>
              <a:rPr lang="en-US" sz="1500" dirty="0">
                <a:solidFill>
                  <a:srgbClr val="1F2937"/>
                </a:solidFill>
                <a:latin typeface="Times New Roman" panose="02020603050405020304" pitchFamily="18" charset="0"/>
                <a:ea typeface="Sorts Mill Goudy" pitchFamily="34" charset="-122"/>
                <a:cs typeface="Times New Roman" panose="02020603050405020304" pitchFamily="18" charset="0"/>
              </a:rPr>
              <a:t>Recommend relevant activities based on users' learning interests.</a:t>
            </a:r>
            <a:endParaRPr lang="en-US" sz="1600" dirty="0">
              <a:latin typeface="Times New Roman" panose="02020603050405020304" pitchFamily="18" charset="0"/>
              <a:cs typeface="Times New Roman" panose="02020603050405020304" pitchFamily="18" charset="0"/>
            </a:endParaRPr>
          </a:p>
        </p:txBody>
      </p:sp>
      <p:pic>
        <p:nvPicPr>
          <p:cNvPr id="16" name="图片 15">
            <a:extLst>
              <a:ext uri="{FF2B5EF4-FFF2-40B4-BE49-F238E27FC236}">
                <a16:creationId xmlns:a16="http://schemas.microsoft.com/office/drawing/2014/main" id="{600B5DC3-63D0-75C6-9790-99E4DC122A5C}"/>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48500" y="1397695"/>
            <a:ext cx="5067421" cy="3377565"/>
          </a:xfrm>
          <a:prstGeom prst="rect">
            <a:avLst/>
          </a:prstGeom>
          <a:noFill/>
          <a:ln>
            <a:noFill/>
          </a:ln>
        </p:spPr>
      </p:pic>
      <p:sp>
        <p:nvSpPr>
          <p:cNvPr id="21" name="文本框 20">
            <a:extLst>
              <a:ext uri="{FF2B5EF4-FFF2-40B4-BE49-F238E27FC236}">
                <a16:creationId xmlns:a16="http://schemas.microsoft.com/office/drawing/2014/main" id="{1EAA3050-3B51-4560-F818-6CCAB223B6F4}"/>
              </a:ext>
            </a:extLst>
          </p:cNvPr>
          <p:cNvSpPr txBox="1"/>
          <p:nvPr/>
        </p:nvSpPr>
        <p:spPr>
          <a:xfrm>
            <a:off x="175851" y="5905500"/>
            <a:ext cx="6096000" cy="323165"/>
          </a:xfrm>
          <a:prstGeom prst="rect">
            <a:avLst/>
          </a:prstGeom>
          <a:noFill/>
        </p:spPr>
        <p:txBody>
          <a:bodyPr wrap="square">
            <a:spAutoFit/>
          </a:bodyPr>
          <a:lstStyle/>
          <a:p>
            <a:pPr algn="just"/>
            <a:r>
              <a:rPr lang="zh-CN" altLang="en-US" sz="1500" b="1" dirty="0">
                <a:latin typeface="Times New Roman" panose="02020603050405020304" pitchFamily="18" charset="0"/>
                <a:cs typeface="Times New Roman" panose="02020603050405020304" pitchFamily="18" charset="0"/>
              </a:rPr>
              <a:t>Log and Monitoring: </a:t>
            </a:r>
            <a:r>
              <a:rPr lang="zh-CN" altLang="en-US" sz="1500" dirty="0">
                <a:latin typeface="Times New Roman" panose="02020603050405020304" pitchFamily="18" charset="0"/>
                <a:cs typeface="Times New Roman" panose="02020603050405020304" pitchFamily="18" charset="0"/>
              </a:rPr>
              <a:t>Record chat data for debugging purposes</a:t>
            </a:r>
          </a:p>
        </p:txBody>
      </p:sp>
      <p:sp>
        <p:nvSpPr>
          <p:cNvPr id="22" name="文本框 21">
            <a:extLst>
              <a:ext uri="{FF2B5EF4-FFF2-40B4-BE49-F238E27FC236}">
                <a16:creationId xmlns:a16="http://schemas.microsoft.com/office/drawing/2014/main" id="{8CB12BBC-E500-9BC5-AA61-AA2E89CFEC12}"/>
              </a:ext>
            </a:extLst>
          </p:cNvPr>
          <p:cNvSpPr txBox="1"/>
          <p:nvPr/>
        </p:nvSpPr>
        <p:spPr>
          <a:xfrm>
            <a:off x="8977228" y="4950835"/>
            <a:ext cx="1209964" cy="307777"/>
          </a:xfrm>
          <a:prstGeom prst="rect">
            <a:avLst/>
          </a:prstGeom>
          <a:noFill/>
        </p:spPr>
        <p:txBody>
          <a:bodyPr wrap="square" rtlCol="0">
            <a:spAutoFit/>
          </a:bodyPr>
          <a:lstStyle/>
          <a:p>
            <a:pPr algn="just"/>
            <a:r>
              <a:rPr lang="en-US" altLang="zh-CN" sz="1400" i="1" dirty="0">
                <a:latin typeface="Times New Roman" panose="02020603050405020304" pitchFamily="18" charset="0"/>
                <a:cs typeface="Times New Roman" panose="02020603050405020304" pitchFamily="18" charset="0"/>
              </a:rPr>
              <a:t>Bot Workflow</a:t>
            </a:r>
            <a:endParaRPr lang="zh-CN" altLang="en-US" sz="1400" i="1" dirty="0">
              <a:latin typeface="Times New Roman" panose="02020603050405020304" pitchFamily="18" charset="0"/>
              <a:cs typeface="Times New Roman" panose="02020603050405020304" pitchFamily="18" charset="0"/>
            </a:endParaRPr>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438150" y="1097022"/>
            <a:ext cx="11658600" cy="407928"/>
          </a:xfrm>
          <a:prstGeom prst="rect">
            <a:avLst/>
          </a:prstGeom>
          <a:noFill/>
          <a:ln/>
        </p:spPr>
        <p:txBody>
          <a:bodyPr wrap="square" lIns="0" tIns="0" rIns="0" bIns="0" rtlCol="0" anchor="ctr"/>
          <a:lstStyle/>
          <a:p>
            <a:pPr>
              <a:lnSpc>
                <a:spcPct val="80000"/>
              </a:lnSpc>
            </a:pPr>
            <a:r>
              <a:rPr lang="en-US" sz="2000" b="1" dirty="0">
                <a:solidFill>
                  <a:srgbClr val="1F2937"/>
                </a:solidFill>
                <a:latin typeface="Times New Roman" panose="02020603050405020304" pitchFamily="18" charset="0"/>
                <a:ea typeface="Sorts Mill Goudy" pitchFamily="34" charset="-122"/>
                <a:cs typeface="Times New Roman" panose="02020603050405020304" pitchFamily="18" charset="0"/>
              </a:rPr>
              <a:t>Technical Stack</a:t>
            </a:r>
            <a:endParaRPr lang="en-US" sz="2000" dirty="0">
              <a:latin typeface="Times New Roman" panose="02020603050405020304" pitchFamily="18" charset="0"/>
              <a:cs typeface="Times New Roman" panose="02020603050405020304" pitchFamily="18" charset="0"/>
            </a:endParaRPr>
          </a:p>
        </p:txBody>
      </p:sp>
      <p:sp>
        <p:nvSpPr>
          <p:cNvPr id="25" name="Text 0">
            <a:extLst>
              <a:ext uri="{FF2B5EF4-FFF2-40B4-BE49-F238E27FC236}">
                <a16:creationId xmlns:a16="http://schemas.microsoft.com/office/drawing/2014/main" id="{3D5817EE-7681-6B69-87B8-663837BA63C6}"/>
              </a:ext>
            </a:extLst>
          </p:cNvPr>
          <p:cNvSpPr/>
          <p:nvPr/>
        </p:nvSpPr>
        <p:spPr>
          <a:xfrm>
            <a:off x="381000" y="380999"/>
            <a:ext cx="11515725" cy="449323"/>
          </a:xfrm>
          <a:prstGeom prst="rect">
            <a:avLst/>
          </a:prstGeom>
          <a:noFill/>
          <a:ln/>
        </p:spPr>
        <p:txBody>
          <a:bodyPr wrap="square" lIns="0" tIns="0" rIns="0" bIns="0" rtlCol="0" anchor="ctr"/>
          <a:lstStyle/>
          <a:p>
            <a:pPr algn="just">
              <a:lnSpc>
                <a:spcPct val="130000"/>
              </a:lnSpc>
            </a:pPr>
            <a:r>
              <a:rPr lang="en-US" sz="2400" b="1" kern="0" spc="68" dirty="0">
                <a:solidFill>
                  <a:srgbClr val="8B0000"/>
                </a:solidFill>
                <a:latin typeface="Times New Roman" panose="02020603050405020304" pitchFamily="18" charset="0"/>
                <a:ea typeface="Sorts Mill Goudy" pitchFamily="34" charset="-122"/>
                <a:cs typeface="Times New Roman" panose="02020603050405020304" pitchFamily="18" charset="0"/>
              </a:rPr>
              <a:t>01 / PROJECT OVERVIEW</a:t>
            </a:r>
            <a:endParaRPr lang="en-US" sz="2400" dirty="0">
              <a:latin typeface="Times New Roman" panose="02020603050405020304" pitchFamily="18" charset="0"/>
              <a:cs typeface="Times New Roman" panose="02020603050405020304" pitchFamily="18" charset="0"/>
            </a:endParaRPr>
          </a:p>
        </p:txBody>
      </p:sp>
      <p:pic>
        <p:nvPicPr>
          <p:cNvPr id="32" name="图片 31">
            <a:extLst>
              <a:ext uri="{FF2B5EF4-FFF2-40B4-BE49-F238E27FC236}">
                <a16:creationId xmlns:a16="http://schemas.microsoft.com/office/drawing/2014/main" id="{593B93C2-045D-98AF-BA9E-0D0F9E11941F}"/>
              </a:ext>
            </a:extLst>
          </p:cNvPr>
          <p:cNvPicPr>
            <a:picLocks noChangeAspect="1"/>
          </p:cNvPicPr>
          <p:nvPr/>
        </p:nvPicPr>
        <p:blipFill>
          <a:blip r:embed="rId3"/>
          <a:stretch>
            <a:fillRect/>
          </a:stretch>
        </p:blipFill>
        <p:spPr>
          <a:xfrm>
            <a:off x="644762" y="5558100"/>
            <a:ext cx="237600" cy="237600"/>
          </a:xfrm>
          <a:prstGeom prst="rect">
            <a:avLst/>
          </a:prstGeom>
        </p:spPr>
      </p:pic>
      <p:grpSp>
        <p:nvGrpSpPr>
          <p:cNvPr id="40" name="组合 39">
            <a:extLst>
              <a:ext uri="{FF2B5EF4-FFF2-40B4-BE49-F238E27FC236}">
                <a16:creationId xmlns:a16="http://schemas.microsoft.com/office/drawing/2014/main" id="{B5F60F18-1D3C-AE25-EAAC-4CE461B43663}"/>
              </a:ext>
            </a:extLst>
          </p:cNvPr>
          <p:cNvGrpSpPr/>
          <p:nvPr/>
        </p:nvGrpSpPr>
        <p:grpSpPr>
          <a:xfrm>
            <a:off x="438150" y="1695450"/>
            <a:ext cx="6248400" cy="4457700"/>
            <a:chOff x="438150" y="1695450"/>
            <a:chExt cx="6248400" cy="4457700"/>
          </a:xfrm>
        </p:grpSpPr>
        <p:grpSp>
          <p:nvGrpSpPr>
            <p:cNvPr id="26" name="组合 25">
              <a:extLst>
                <a:ext uri="{FF2B5EF4-FFF2-40B4-BE49-F238E27FC236}">
                  <a16:creationId xmlns:a16="http://schemas.microsoft.com/office/drawing/2014/main" id="{B484A3F6-F7EF-305E-675F-A156978BE381}"/>
                </a:ext>
              </a:extLst>
            </p:cNvPr>
            <p:cNvGrpSpPr/>
            <p:nvPr/>
          </p:nvGrpSpPr>
          <p:grpSpPr>
            <a:xfrm>
              <a:off x="438150" y="1695450"/>
              <a:ext cx="6248400" cy="3657600"/>
              <a:chOff x="400050" y="2076450"/>
              <a:chExt cx="6248400" cy="3657600"/>
            </a:xfrm>
          </p:grpSpPr>
          <p:sp>
            <p:nvSpPr>
              <p:cNvPr id="4" name="Shape 2"/>
              <p:cNvSpPr/>
              <p:nvPr/>
            </p:nvSpPr>
            <p:spPr>
              <a:xfrm>
                <a:off x="400050" y="2076450"/>
                <a:ext cx="38100" cy="609600"/>
              </a:xfrm>
              <a:custGeom>
                <a:avLst/>
                <a:gdLst/>
                <a:ahLst/>
                <a:cxnLst/>
                <a:rect l="l" t="t" r="r" b="b"/>
                <a:pathLst>
                  <a:path w="38100" h="609600">
                    <a:moveTo>
                      <a:pt x="0" y="0"/>
                    </a:moveTo>
                    <a:lnTo>
                      <a:pt x="38100" y="0"/>
                    </a:lnTo>
                    <a:lnTo>
                      <a:pt x="38100" y="609600"/>
                    </a:lnTo>
                    <a:lnTo>
                      <a:pt x="0" y="609600"/>
                    </a:lnTo>
                    <a:lnTo>
                      <a:pt x="0" y="0"/>
                    </a:lnTo>
                    <a:close/>
                  </a:path>
                </a:pathLst>
              </a:custGeom>
              <a:solidFill>
                <a:srgbClr val="8B0000"/>
              </a:solidFill>
              <a:ln/>
            </p:spPr>
          </p:sp>
          <p:sp>
            <p:nvSpPr>
              <p:cNvPr id="5" name="Shape 3"/>
              <p:cNvSpPr/>
              <p:nvPr/>
            </p:nvSpPr>
            <p:spPr>
              <a:xfrm>
                <a:off x="645319" y="2114550"/>
                <a:ext cx="166688" cy="190500"/>
              </a:xfrm>
              <a:custGeom>
                <a:avLst/>
                <a:gdLst/>
                <a:ahLst/>
                <a:cxnLst/>
                <a:rect l="l" t="t" r="r" b="b"/>
                <a:pathLst>
                  <a:path w="166688" h="190500">
                    <a:moveTo>
                      <a:pt x="163637" y="74600"/>
                    </a:moveTo>
                    <a:cubicBezTo>
                      <a:pt x="160772" y="63103"/>
                      <a:pt x="155339" y="54434"/>
                      <a:pt x="143768" y="54434"/>
                    </a:cubicBezTo>
                    <a:lnTo>
                      <a:pt x="128848" y="54434"/>
                    </a:lnTo>
                    <a:lnTo>
                      <a:pt x="128848" y="72070"/>
                    </a:lnTo>
                    <a:cubicBezTo>
                      <a:pt x="128848" y="85762"/>
                      <a:pt x="117239" y="97296"/>
                      <a:pt x="103994" y="97296"/>
                    </a:cubicBezTo>
                    <a:lnTo>
                      <a:pt x="64257" y="97296"/>
                    </a:lnTo>
                    <a:cubicBezTo>
                      <a:pt x="53392" y="97296"/>
                      <a:pt x="44388" y="106598"/>
                      <a:pt x="44388" y="117500"/>
                    </a:cubicBezTo>
                    <a:lnTo>
                      <a:pt x="44388" y="155377"/>
                    </a:lnTo>
                    <a:cubicBezTo>
                      <a:pt x="44388" y="166167"/>
                      <a:pt x="53764" y="172492"/>
                      <a:pt x="64257" y="175580"/>
                    </a:cubicBezTo>
                    <a:cubicBezTo>
                      <a:pt x="76833" y="179263"/>
                      <a:pt x="88925" y="179933"/>
                      <a:pt x="103994" y="175580"/>
                    </a:cubicBezTo>
                    <a:cubicBezTo>
                      <a:pt x="114002" y="172678"/>
                      <a:pt x="123862" y="166836"/>
                      <a:pt x="123862" y="155377"/>
                    </a:cubicBezTo>
                    <a:lnTo>
                      <a:pt x="123862" y="140233"/>
                    </a:lnTo>
                    <a:lnTo>
                      <a:pt x="84162" y="140233"/>
                    </a:lnTo>
                    <a:lnTo>
                      <a:pt x="84162" y="135173"/>
                    </a:lnTo>
                    <a:lnTo>
                      <a:pt x="143768" y="135173"/>
                    </a:lnTo>
                    <a:cubicBezTo>
                      <a:pt x="155339" y="135173"/>
                      <a:pt x="159618" y="127099"/>
                      <a:pt x="163637" y="115007"/>
                    </a:cubicBezTo>
                    <a:cubicBezTo>
                      <a:pt x="167804" y="102543"/>
                      <a:pt x="167618" y="90562"/>
                      <a:pt x="163637" y="74600"/>
                    </a:cubicBezTo>
                    <a:close/>
                    <a:moveTo>
                      <a:pt x="106487" y="165460"/>
                    </a:moveTo>
                    <a:cubicBezTo>
                      <a:pt x="103655" y="165658"/>
                      <a:pt x="100949" y="164260"/>
                      <a:pt x="99472" y="161836"/>
                    </a:cubicBezTo>
                    <a:cubicBezTo>
                      <a:pt x="97996" y="159411"/>
                      <a:pt x="97996" y="156365"/>
                      <a:pt x="99472" y="153941"/>
                    </a:cubicBezTo>
                    <a:cubicBezTo>
                      <a:pt x="100949" y="151516"/>
                      <a:pt x="103655" y="150118"/>
                      <a:pt x="106487" y="150316"/>
                    </a:cubicBezTo>
                    <a:cubicBezTo>
                      <a:pt x="109318" y="150118"/>
                      <a:pt x="112024" y="151516"/>
                      <a:pt x="113501" y="153941"/>
                    </a:cubicBezTo>
                    <a:cubicBezTo>
                      <a:pt x="114977" y="156365"/>
                      <a:pt x="114977" y="159411"/>
                      <a:pt x="113501" y="161836"/>
                    </a:cubicBezTo>
                    <a:cubicBezTo>
                      <a:pt x="112024" y="164260"/>
                      <a:pt x="109318" y="165658"/>
                      <a:pt x="106487" y="165460"/>
                    </a:cubicBezTo>
                    <a:close/>
                    <a:moveTo>
                      <a:pt x="62433" y="92311"/>
                    </a:moveTo>
                    <a:lnTo>
                      <a:pt x="102171" y="92311"/>
                    </a:lnTo>
                    <a:cubicBezTo>
                      <a:pt x="113221" y="92311"/>
                      <a:pt x="122039" y="83195"/>
                      <a:pt x="122039" y="72107"/>
                    </a:cubicBezTo>
                    <a:lnTo>
                      <a:pt x="122039" y="34193"/>
                    </a:lnTo>
                    <a:cubicBezTo>
                      <a:pt x="122039" y="23403"/>
                      <a:pt x="112961" y="15329"/>
                      <a:pt x="102171" y="13506"/>
                    </a:cubicBezTo>
                    <a:cubicBezTo>
                      <a:pt x="88850" y="11311"/>
                      <a:pt x="74377" y="11423"/>
                      <a:pt x="62433" y="13543"/>
                    </a:cubicBezTo>
                    <a:cubicBezTo>
                      <a:pt x="45616" y="16520"/>
                      <a:pt x="42565" y="22733"/>
                      <a:pt x="42565" y="34230"/>
                    </a:cubicBezTo>
                    <a:lnTo>
                      <a:pt x="42565" y="49374"/>
                    </a:lnTo>
                    <a:lnTo>
                      <a:pt x="82339" y="49374"/>
                    </a:lnTo>
                    <a:lnTo>
                      <a:pt x="82339" y="54434"/>
                    </a:lnTo>
                    <a:lnTo>
                      <a:pt x="27645" y="54434"/>
                    </a:lnTo>
                    <a:cubicBezTo>
                      <a:pt x="16073" y="54434"/>
                      <a:pt x="5953" y="61392"/>
                      <a:pt x="2791" y="74600"/>
                    </a:cubicBezTo>
                    <a:cubicBezTo>
                      <a:pt x="-856" y="89743"/>
                      <a:pt x="-1005" y="99194"/>
                      <a:pt x="2791" y="115007"/>
                    </a:cubicBezTo>
                    <a:cubicBezTo>
                      <a:pt x="5618" y="126764"/>
                      <a:pt x="12353" y="135173"/>
                      <a:pt x="23924" y="135173"/>
                    </a:cubicBezTo>
                    <a:lnTo>
                      <a:pt x="37579" y="135173"/>
                    </a:lnTo>
                    <a:lnTo>
                      <a:pt x="37579" y="117016"/>
                    </a:lnTo>
                    <a:cubicBezTo>
                      <a:pt x="37579" y="103882"/>
                      <a:pt x="48927" y="92311"/>
                      <a:pt x="62433" y="92311"/>
                    </a:cubicBezTo>
                    <a:close/>
                    <a:moveTo>
                      <a:pt x="59978" y="24073"/>
                    </a:moveTo>
                    <a:cubicBezTo>
                      <a:pt x="64167" y="24073"/>
                      <a:pt x="67568" y="27474"/>
                      <a:pt x="67568" y="31663"/>
                    </a:cubicBezTo>
                    <a:cubicBezTo>
                      <a:pt x="67568" y="35852"/>
                      <a:pt x="64167" y="39253"/>
                      <a:pt x="59978" y="39253"/>
                    </a:cubicBezTo>
                    <a:cubicBezTo>
                      <a:pt x="55789" y="39253"/>
                      <a:pt x="52387" y="35852"/>
                      <a:pt x="52387" y="31663"/>
                    </a:cubicBezTo>
                    <a:cubicBezTo>
                      <a:pt x="52387" y="27474"/>
                      <a:pt x="55789" y="24073"/>
                      <a:pt x="59978" y="24073"/>
                    </a:cubicBezTo>
                    <a:close/>
                  </a:path>
                </a:pathLst>
              </a:custGeom>
              <a:solidFill>
                <a:srgbClr val="8B0000"/>
              </a:solidFill>
              <a:ln/>
            </p:spPr>
          </p:sp>
          <p:sp>
            <p:nvSpPr>
              <p:cNvPr id="6" name="Text 4"/>
              <p:cNvSpPr/>
              <p:nvPr/>
            </p:nvSpPr>
            <p:spPr>
              <a:xfrm>
                <a:off x="847725" y="2076450"/>
                <a:ext cx="5800725" cy="266700"/>
              </a:xfrm>
              <a:prstGeom prst="rect">
                <a:avLst/>
              </a:prstGeom>
              <a:noFill/>
              <a:ln/>
            </p:spPr>
            <p:txBody>
              <a:bodyPr wrap="square" lIns="0" tIns="0" rIns="0" bIns="0" rtlCol="0" anchor="ctr"/>
              <a:lstStyle/>
              <a:p>
                <a:pPr>
                  <a:lnSpc>
                    <a:spcPct val="120000"/>
                  </a:lnSpc>
                </a:pPr>
                <a:r>
                  <a:rPr lang="en-US" sz="1500" b="1" dirty="0">
                    <a:solidFill>
                      <a:srgbClr val="1F2937"/>
                    </a:solidFill>
                    <a:latin typeface="Times New Roman" panose="02020603050405020304" pitchFamily="18" charset="0"/>
                    <a:ea typeface="Sorts Mill Goudy" pitchFamily="34" charset="-122"/>
                    <a:cs typeface="Times New Roman" panose="02020603050405020304" pitchFamily="18" charset="0"/>
                  </a:rPr>
                  <a:t>Python Backend</a:t>
                </a:r>
                <a:endParaRPr lang="en-US" sz="1600" dirty="0">
                  <a:latin typeface="Times New Roman" panose="02020603050405020304" pitchFamily="18" charset="0"/>
                  <a:cs typeface="Times New Roman" panose="02020603050405020304" pitchFamily="18" charset="0"/>
                </a:endParaRPr>
              </a:p>
            </p:txBody>
          </p:sp>
          <p:sp>
            <p:nvSpPr>
              <p:cNvPr id="7" name="Text 5"/>
              <p:cNvSpPr/>
              <p:nvPr/>
            </p:nvSpPr>
            <p:spPr>
              <a:xfrm>
                <a:off x="609600" y="2419350"/>
                <a:ext cx="6029325" cy="266700"/>
              </a:xfrm>
              <a:prstGeom prst="rect">
                <a:avLst/>
              </a:prstGeom>
              <a:noFill/>
              <a:ln/>
            </p:spPr>
            <p:txBody>
              <a:bodyPr wrap="square" lIns="0" tIns="0" rIns="0" bIns="0" rtlCol="0" anchor="ctr"/>
              <a:lstStyle/>
              <a:p>
                <a:pPr>
                  <a:lnSpc>
                    <a:spcPct val="130000"/>
                  </a:lnSpc>
                </a:pPr>
                <a:r>
                  <a:rPr lang="en-US" sz="1350" dirty="0">
                    <a:solidFill>
                      <a:srgbClr val="6B7280"/>
                    </a:solidFill>
                    <a:latin typeface="Times New Roman" panose="02020603050405020304" pitchFamily="18" charset="0"/>
                    <a:ea typeface="Sorts Mill Goudy" pitchFamily="34" charset="-122"/>
                    <a:cs typeface="Times New Roman" panose="02020603050405020304" pitchFamily="18" charset="0"/>
                  </a:rPr>
                  <a:t>Processes user requests and manages business logic</a:t>
                </a:r>
                <a:endParaRPr lang="en-US" sz="1600" dirty="0">
                  <a:latin typeface="Times New Roman" panose="02020603050405020304" pitchFamily="18" charset="0"/>
                  <a:cs typeface="Times New Roman" panose="02020603050405020304" pitchFamily="18" charset="0"/>
                </a:endParaRPr>
              </a:p>
            </p:txBody>
          </p:sp>
          <p:sp>
            <p:nvSpPr>
              <p:cNvPr id="8" name="Shape 6"/>
              <p:cNvSpPr/>
              <p:nvPr/>
            </p:nvSpPr>
            <p:spPr>
              <a:xfrm>
                <a:off x="400050" y="2838450"/>
                <a:ext cx="38100" cy="609600"/>
              </a:xfrm>
              <a:custGeom>
                <a:avLst/>
                <a:gdLst/>
                <a:ahLst/>
                <a:cxnLst/>
                <a:rect l="l" t="t" r="r" b="b"/>
                <a:pathLst>
                  <a:path w="38100" h="609600">
                    <a:moveTo>
                      <a:pt x="0" y="0"/>
                    </a:moveTo>
                    <a:lnTo>
                      <a:pt x="38100" y="0"/>
                    </a:lnTo>
                    <a:lnTo>
                      <a:pt x="38100" y="609600"/>
                    </a:lnTo>
                    <a:lnTo>
                      <a:pt x="0" y="609600"/>
                    </a:lnTo>
                    <a:lnTo>
                      <a:pt x="0" y="0"/>
                    </a:lnTo>
                    <a:close/>
                  </a:path>
                </a:pathLst>
              </a:custGeom>
              <a:solidFill>
                <a:srgbClr val="8B0000"/>
              </a:solidFill>
              <a:ln/>
            </p:spPr>
          </p:sp>
          <p:sp>
            <p:nvSpPr>
              <p:cNvPr id="9" name="Shape 7"/>
              <p:cNvSpPr/>
              <p:nvPr/>
            </p:nvSpPr>
            <p:spPr>
              <a:xfrm>
                <a:off x="633413" y="2876550"/>
                <a:ext cx="190500" cy="190500"/>
              </a:xfrm>
              <a:custGeom>
                <a:avLst/>
                <a:gdLst/>
                <a:ahLst/>
                <a:cxnLst/>
                <a:rect l="l" t="t" r="r" b="b"/>
                <a:pathLst>
                  <a:path w="190500" h="190500">
                    <a:moveTo>
                      <a:pt x="44648" y="20836"/>
                    </a:moveTo>
                    <a:cubicBezTo>
                      <a:pt x="44648" y="9339"/>
                      <a:pt x="53987" y="0"/>
                      <a:pt x="65484" y="0"/>
                    </a:cubicBezTo>
                    <a:lnTo>
                      <a:pt x="74414" y="0"/>
                    </a:lnTo>
                    <a:cubicBezTo>
                      <a:pt x="81000" y="0"/>
                      <a:pt x="86320" y="5321"/>
                      <a:pt x="86320" y="11906"/>
                    </a:cubicBezTo>
                    <a:lnTo>
                      <a:pt x="86320" y="178594"/>
                    </a:lnTo>
                    <a:cubicBezTo>
                      <a:pt x="86320" y="185179"/>
                      <a:pt x="81000" y="190500"/>
                      <a:pt x="74414" y="190500"/>
                    </a:cubicBezTo>
                    <a:lnTo>
                      <a:pt x="62508" y="190500"/>
                    </a:lnTo>
                    <a:cubicBezTo>
                      <a:pt x="51420" y="190500"/>
                      <a:pt x="42081" y="182910"/>
                      <a:pt x="39439" y="172641"/>
                    </a:cubicBezTo>
                    <a:cubicBezTo>
                      <a:pt x="39179" y="172641"/>
                      <a:pt x="38956" y="172641"/>
                      <a:pt x="38695" y="172641"/>
                    </a:cubicBezTo>
                    <a:cubicBezTo>
                      <a:pt x="22250" y="172641"/>
                      <a:pt x="8930" y="159321"/>
                      <a:pt x="8930" y="142875"/>
                    </a:cubicBezTo>
                    <a:cubicBezTo>
                      <a:pt x="8930" y="136178"/>
                      <a:pt x="11162" y="130001"/>
                      <a:pt x="14883" y="125016"/>
                    </a:cubicBezTo>
                    <a:cubicBezTo>
                      <a:pt x="7665" y="119583"/>
                      <a:pt x="2977" y="110951"/>
                      <a:pt x="2977" y="101203"/>
                    </a:cubicBezTo>
                    <a:cubicBezTo>
                      <a:pt x="2977" y="89706"/>
                      <a:pt x="9525" y="79697"/>
                      <a:pt x="19050" y="74749"/>
                    </a:cubicBezTo>
                    <a:cubicBezTo>
                      <a:pt x="16408" y="70284"/>
                      <a:pt x="14883" y="65075"/>
                      <a:pt x="14883" y="59531"/>
                    </a:cubicBezTo>
                    <a:cubicBezTo>
                      <a:pt x="14883" y="43086"/>
                      <a:pt x="28203" y="29766"/>
                      <a:pt x="44648" y="29766"/>
                    </a:cubicBezTo>
                    <a:lnTo>
                      <a:pt x="44648" y="20836"/>
                    </a:lnTo>
                    <a:close/>
                    <a:moveTo>
                      <a:pt x="145852" y="20836"/>
                    </a:moveTo>
                    <a:lnTo>
                      <a:pt x="145852" y="29766"/>
                    </a:lnTo>
                    <a:cubicBezTo>
                      <a:pt x="162297" y="29766"/>
                      <a:pt x="175617" y="43086"/>
                      <a:pt x="175617" y="59531"/>
                    </a:cubicBezTo>
                    <a:cubicBezTo>
                      <a:pt x="175617" y="65112"/>
                      <a:pt x="174092" y="70321"/>
                      <a:pt x="171450" y="74749"/>
                    </a:cubicBezTo>
                    <a:cubicBezTo>
                      <a:pt x="181012" y="79697"/>
                      <a:pt x="187523" y="89669"/>
                      <a:pt x="187523" y="101203"/>
                    </a:cubicBezTo>
                    <a:cubicBezTo>
                      <a:pt x="187523" y="110951"/>
                      <a:pt x="182835" y="119583"/>
                      <a:pt x="175617" y="125016"/>
                    </a:cubicBezTo>
                    <a:cubicBezTo>
                      <a:pt x="179338" y="130001"/>
                      <a:pt x="181570" y="136178"/>
                      <a:pt x="181570" y="142875"/>
                    </a:cubicBezTo>
                    <a:cubicBezTo>
                      <a:pt x="181570" y="159321"/>
                      <a:pt x="168250" y="172641"/>
                      <a:pt x="151805" y="172641"/>
                    </a:cubicBezTo>
                    <a:cubicBezTo>
                      <a:pt x="151544" y="172641"/>
                      <a:pt x="151321" y="172641"/>
                      <a:pt x="151061" y="172641"/>
                    </a:cubicBezTo>
                    <a:cubicBezTo>
                      <a:pt x="148419" y="182910"/>
                      <a:pt x="139080" y="190500"/>
                      <a:pt x="127992" y="190500"/>
                    </a:cubicBezTo>
                    <a:lnTo>
                      <a:pt x="116086" y="190500"/>
                    </a:lnTo>
                    <a:cubicBezTo>
                      <a:pt x="109500" y="190500"/>
                      <a:pt x="104180" y="185179"/>
                      <a:pt x="104180" y="178594"/>
                    </a:cubicBezTo>
                    <a:lnTo>
                      <a:pt x="104180" y="11906"/>
                    </a:lnTo>
                    <a:cubicBezTo>
                      <a:pt x="104180" y="5321"/>
                      <a:pt x="109500" y="0"/>
                      <a:pt x="116086" y="0"/>
                    </a:cubicBezTo>
                    <a:lnTo>
                      <a:pt x="125016" y="0"/>
                    </a:lnTo>
                    <a:cubicBezTo>
                      <a:pt x="136513" y="0"/>
                      <a:pt x="145852" y="9339"/>
                      <a:pt x="145852" y="20836"/>
                    </a:cubicBezTo>
                    <a:close/>
                  </a:path>
                </a:pathLst>
              </a:custGeom>
              <a:solidFill>
                <a:srgbClr val="8B0000"/>
              </a:solidFill>
              <a:ln/>
            </p:spPr>
          </p:sp>
          <p:sp>
            <p:nvSpPr>
              <p:cNvPr id="10" name="Text 8"/>
              <p:cNvSpPr/>
              <p:nvPr/>
            </p:nvSpPr>
            <p:spPr>
              <a:xfrm>
                <a:off x="847725" y="2838450"/>
                <a:ext cx="5800725" cy="266700"/>
              </a:xfrm>
              <a:prstGeom prst="rect">
                <a:avLst/>
              </a:prstGeom>
              <a:noFill/>
              <a:ln/>
            </p:spPr>
            <p:txBody>
              <a:bodyPr wrap="square" lIns="0" tIns="0" rIns="0" bIns="0" rtlCol="0" anchor="ctr"/>
              <a:lstStyle/>
              <a:p>
                <a:pPr>
                  <a:lnSpc>
                    <a:spcPct val="120000"/>
                  </a:lnSpc>
                </a:pPr>
                <a:r>
                  <a:rPr lang="en-US" sz="1500" b="1" dirty="0">
                    <a:solidFill>
                      <a:srgbClr val="1F2937"/>
                    </a:solidFill>
                    <a:latin typeface="Times New Roman" panose="02020603050405020304" pitchFamily="18" charset="0"/>
                    <a:ea typeface="Sorts Mill Goudy" pitchFamily="34" charset="-122"/>
                    <a:cs typeface="Times New Roman" panose="02020603050405020304" pitchFamily="18" charset="0"/>
                  </a:rPr>
                  <a:t>LLM API Integration</a:t>
                </a:r>
                <a:endParaRPr lang="en-US" sz="1600" dirty="0">
                  <a:latin typeface="Times New Roman" panose="02020603050405020304" pitchFamily="18" charset="0"/>
                  <a:cs typeface="Times New Roman" panose="02020603050405020304" pitchFamily="18" charset="0"/>
                </a:endParaRPr>
              </a:p>
            </p:txBody>
          </p:sp>
          <p:sp>
            <p:nvSpPr>
              <p:cNvPr id="11" name="Text 9"/>
              <p:cNvSpPr/>
              <p:nvPr/>
            </p:nvSpPr>
            <p:spPr>
              <a:xfrm>
                <a:off x="609600" y="3181350"/>
                <a:ext cx="6029325" cy="266700"/>
              </a:xfrm>
              <a:prstGeom prst="rect">
                <a:avLst/>
              </a:prstGeom>
              <a:noFill/>
              <a:ln/>
            </p:spPr>
            <p:txBody>
              <a:bodyPr wrap="square" lIns="0" tIns="0" rIns="0" bIns="0" rtlCol="0" anchor="ctr"/>
              <a:lstStyle/>
              <a:p>
                <a:pPr>
                  <a:lnSpc>
                    <a:spcPct val="130000"/>
                  </a:lnSpc>
                </a:pPr>
                <a:r>
                  <a:rPr lang="en-US" sz="1350" dirty="0">
                    <a:solidFill>
                      <a:srgbClr val="6B7280"/>
                    </a:solidFill>
                    <a:latin typeface="Times New Roman" panose="02020603050405020304" pitchFamily="18" charset="0"/>
                    <a:ea typeface="Sorts Mill Goudy" pitchFamily="34" charset="-122"/>
                    <a:cs typeface="Times New Roman" panose="02020603050405020304" pitchFamily="18" charset="0"/>
                  </a:rPr>
                  <a:t>HKBU LLM API for intelligent response generation</a:t>
                </a:r>
                <a:endParaRPr lang="en-US" sz="1600" dirty="0">
                  <a:latin typeface="Times New Roman" panose="02020603050405020304" pitchFamily="18" charset="0"/>
                  <a:cs typeface="Times New Roman" panose="02020603050405020304" pitchFamily="18" charset="0"/>
                </a:endParaRPr>
              </a:p>
            </p:txBody>
          </p:sp>
          <p:sp>
            <p:nvSpPr>
              <p:cNvPr id="12" name="Shape 10"/>
              <p:cNvSpPr/>
              <p:nvPr/>
            </p:nvSpPr>
            <p:spPr>
              <a:xfrm>
                <a:off x="400050" y="3600450"/>
                <a:ext cx="38100" cy="609600"/>
              </a:xfrm>
              <a:custGeom>
                <a:avLst/>
                <a:gdLst/>
                <a:ahLst/>
                <a:cxnLst/>
                <a:rect l="l" t="t" r="r" b="b"/>
                <a:pathLst>
                  <a:path w="38100" h="609600">
                    <a:moveTo>
                      <a:pt x="0" y="0"/>
                    </a:moveTo>
                    <a:lnTo>
                      <a:pt x="38100" y="0"/>
                    </a:lnTo>
                    <a:lnTo>
                      <a:pt x="38100" y="609600"/>
                    </a:lnTo>
                    <a:lnTo>
                      <a:pt x="0" y="609600"/>
                    </a:lnTo>
                    <a:lnTo>
                      <a:pt x="0" y="0"/>
                    </a:lnTo>
                    <a:close/>
                  </a:path>
                </a:pathLst>
              </a:custGeom>
              <a:solidFill>
                <a:srgbClr val="8B0000"/>
              </a:solidFill>
              <a:ln/>
            </p:spPr>
          </p:sp>
          <p:sp>
            <p:nvSpPr>
              <p:cNvPr id="13" name="Shape 11"/>
              <p:cNvSpPr/>
              <p:nvPr/>
            </p:nvSpPr>
            <p:spPr>
              <a:xfrm>
                <a:off x="645319" y="3638550"/>
                <a:ext cx="166688" cy="190500"/>
              </a:xfrm>
              <a:custGeom>
                <a:avLst/>
                <a:gdLst/>
                <a:ahLst/>
                <a:cxnLst/>
                <a:rect l="l" t="t" r="r" b="b"/>
                <a:pathLst>
                  <a:path w="166688" h="190500">
                    <a:moveTo>
                      <a:pt x="166688" y="76572"/>
                    </a:moveTo>
                    <a:cubicBezTo>
                      <a:pt x="161181" y="80218"/>
                      <a:pt x="154856" y="83158"/>
                      <a:pt x="148270" y="85502"/>
                    </a:cubicBezTo>
                    <a:cubicBezTo>
                      <a:pt x="130783" y="91753"/>
                      <a:pt x="107826" y="95250"/>
                      <a:pt x="83344" y="95250"/>
                    </a:cubicBezTo>
                    <a:cubicBezTo>
                      <a:pt x="58862" y="95250"/>
                      <a:pt x="35868" y="91715"/>
                      <a:pt x="18417" y="85502"/>
                    </a:cubicBezTo>
                    <a:cubicBezTo>
                      <a:pt x="11869" y="83158"/>
                      <a:pt x="5507" y="80218"/>
                      <a:pt x="0" y="76572"/>
                    </a:cubicBezTo>
                    <a:lnTo>
                      <a:pt x="0" y="107156"/>
                    </a:lnTo>
                    <a:cubicBezTo>
                      <a:pt x="0" y="123602"/>
                      <a:pt x="37319" y="136922"/>
                      <a:pt x="83344" y="136922"/>
                    </a:cubicBezTo>
                    <a:cubicBezTo>
                      <a:pt x="129369" y="136922"/>
                      <a:pt x="166688" y="123602"/>
                      <a:pt x="166688" y="107156"/>
                    </a:cubicBezTo>
                    <a:lnTo>
                      <a:pt x="166688" y="76572"/>
                    </a:lnTo>
                    <a:close/>
                    <a:moveTo>
                      <a:pt x="166688" y="47625"/>
                    </a:moveTo>
                    <a:lnTo>
                      <a:pt x="166688" y="29766"/>
                    </a:lnTo>
                    <a:cubicBezTo>
                      <a:pt x="166688" y="13320"/>
                      <a:pt x="129369" y="0"/>
                      <a:pt x="83344" y="0"/>
                    </a:cubicBezTo>
                    <a:cubicBezTo>
                      <a:pt x="37319" y="0"/>
                      <a:pt x="0" y="13320"/>
                      <a:pt x="0" y="29766"/>
                    </a:cubicBezTo>
                    <a:lnTo>
                      <a:pt x="0" y="47625"/>
                    </a:lnTo>
                    <a:cubicBezTo>
                      <a:pt x="0" y="64071"/>
                      <a:pt x="37319" y="77391"/>
                      <a:pt x="83344" y="77391"/>
                    </a:cubicBezTo>
                    <a:cubicBezTo>
                      <a:pt x="129369" y="77391"/>
                      <a:pt x="166688" y="64071"/>
                      <a:pt x="166688" y="47625"/>
                    </a:cubicBezTo>
                    <a:close/>
                    <a:moveTo>
                      <a:pt x="148270" y="145033"/>
                    </a:moveTo>
                    <a:cubicBezTo>
                      <a:pt x="130820" y="151247"/>
                      <a:pt x="107863" y="154781"/>
                      <a:pt x="83344" y="154781"/>
                    </a:cubicBezTo>
                    <a:cubicBezTo>
                      <a:pt x="58824" y="154781"/>
                      <a:pt x="35868" y="151247"/>
                      <a:pt x="18417" y="145033"/>
                    </a:cubicBezTo>
                    <a:cubicBezTo>
                      <a:pt x="11869" y="142689"/>
                      <a:pt x="5507" y="139750"/>
                      <a:pt x="0" y="136103"/>
                    </a:cubicBezTo>
                    <a:lnTo>
                      <a:pt x="0" y="160734"/>
                    </a:lnTo>
                    <a:cubicBezTo>
                      <a:pt x="0" y="177180"/>
                      <a:pt x="37319" y="190500"/>
                      <a:pt x="83344" y="190500"/>
                    </a:cubicBezTo>
                    <a:cubicBezTo>
                      <a:pt x="129369" y="190500"/>
                      <a:pt x="166688" y="177180"/>
                      <a:pt x="166688" y="160734"/>
                    </a:cubicBezTo>
                    <a:lnTo>
                      <a:pt x="166688" y="136103"/>
                    </a:lnTo>
                    <a:cubicBezTo>
                      <a:pt x="161181" y="139750"/>
                      <a:pt x="154856" y="142689"/>
                      <a:pt x="148270" y="145033"/>
                    </a:cubicBezTo>
                    <a:close/>
                  </a:path>
                </a:pathLst>
              </a:custGeom>
              <a:solidFill>
                <a:srgbClr val="8B0000"/>
              </a:solidFill>
              <a:ln/>
            </p:spPr>
          </p:sp>
          <p:sp>
            <p:nvSpPr>
              <p:cNvPr id="14" name="Text 12"/>
              <p:cNvSpPr/>
              <p:nvPr/>
            </p:nvSpPr>
            <p:spPr>
              <a:xfrm>
                <a:off x="847725" y="3600450"/>
                <a:ext cx="5800725" cy="266700"/>
              </a:xfrm>
              <a:prstGeom prst="rect">
                <a:avLst/>
              </a:prstGeom>
              <a:noFill/>
              <a:ln/>
            </p:spPr>
            <p:txBody>
              <a:bodyPr wrap="square" lIns="0" tIns="0" rIns="0" bIns="0" rtlCol="0" anchor="ctr"/>
              <a:lstStyle/>
              <a:p>
                <a:pPr>
                  <a:lnSpc>
                    <a:spcPct val="120000"/>
                  </a:lnSpc>
                </a:pPr>
                <a:r>
                  <a:rPr lang="en-US" sz="1500" b="1" dirty="0">
                    <a:solidFill>
                      <a:srgbClr val="1F2937"/>
                    </a:solidFill>
                    <a:latin typeface="Times New Roman" panose="02020603050405020304" pitchFamily="18" charset="0"/>
                    <a:ea typeface="Sorts Mill Goudy" pitchFamily="34" charset="-122"/>
                    <a:cs typeface="Times New Roman" panose="02020603050405020304" pitchFamily="18" charset="0"/>
                  </a:rPr>
                  <a:t>MongoDB Atlas</a:t>
                </a:r>
                <a:endParaRPr lang="en-US" sz="1600" dirty="0">
                  <a:latin typeface="Times New Roman" panose="02020603050405020304" pitchFamily="18" charset="0"/>
                  <a:cs typeface="Times New Roman" panose="02020603050405020304" pitchFamily="18" charset="0"/>
                </a:endParaRPr>
              </a:p>
            </p:txBody>
          </p:sp>
          <p:sp>
            <p:nvSpPr>
              <p:cNvPr id="15" name="Text 13"/>
              <p:cNvSpPr/>
              <p:nvPr/>
            </p:nvSpPr>
            <p:spPr>
              <a:xfrm>
                <a:off x="609600" y="3943350"/>
                <a:ext cx="6029325" cy="266700"/>
              </a:xfrm>
              <a:prstGeom prst="rect">
                <a:avLst/>
              </a:prstGeom>
              <a:noFill/>
              <a:ln/>
            </p:spPr>
            <p:txBody>
              <a:bodyPr wrap="square" lIns="0" tIns="0" rIns="0" bIns="0" rtlCol="0" anchor="ctr"/>
              <a:lstStyle/>
              <a:p>
                <a:pPr>
                  <a:lnSpc>
                    <a:spcPct val="130000"/>
                  </a:lnSpc>
                </a:pPr>
                <a:r>
                  <a:rPr lang="en-US" sz="1350" dirty="0">
                    <a:solidFill>
                      <a:srgbClr val="6B7280"/>
                    </a:solidFill>
                    <a:latin typeface="Times New Roman" panose="02020603050405020304" pitchFamily="18" charset="0"/>
                    <a:ea typeface="Sorts Mill Goudy" pitchFamily="34" charset="-122"/>
                    <a:cs typeface="Times New Roman" panose="02020603050405020304" pitchFamily="18" charset="0"/>
                  </a:rPr>
                  <a:t>Cloud database for interaction logs and user data</a:t>
                </a:r>
                <a:endParaRPr lang="en-US" sz="1600" dirty="0">
                  <a:latin typeface="Times New Roman" panose="02020603050405020304" pitchFamily="18" charset="0"/>
                  <a:cs typeface="Times New Roman" panose="02020603050405020304" pitchFamily="18" charset="0"/>
                </a:endParaRPr>
              </a:p>
            </p:txBody>
          </p:sp>
          <p:sp>
            <p:nvSpPr>
              <p:cNvPr id="16" name="Shape 14"/>
              <p:cNvSpPr/>
              <p:nvPr/>
            </p:nvSpPr>
            <p:spPr>
              <a:xfrm>
                <a:off x="400050" y="4362450"/>
                <a:ext cx="38100" cy="609600"/>
              </a:xfrm>
              <a:custGeom>
                <a:avLst/>
                <a:gdLst/>
                <a:ahLst/>
                <a:cxnLst/>
                <a:rect l="l" t="t" r="r" b="b"/>
                <a:pathLst>
                  <a:path w="38100" h="609600">
                    <a:moveTo>
                      <a:pt x="0" y="0"/>
                    </a:moveTo>
                    <a:lnTo>
                      <a:pt x="38100" y="0"/>
                    </a:lnTo>
                    <a:lnTo>
                      <a:pt x="38100" y="609600"/>
                    </a:lnTo>
                    <a:lnTo>
                      <a:pt x="0" y="609600"/>
                    </a:lnTo>
                    <a:lnTo>
                      <a:pt x="0" y="0"/>
                    </a:lnTo>
                    <a:close/>
                  </a:path>
                </a:pathLst>
              </a:custGeom>
              <a:solidFill>
                <a:srgbClr val="8B0000"/>
              </a:solidFill>
              <a:ln/>
            </p:spPr>
          </p:sp>
          <p:sp>
            <p:nvSpPr>
              <p:cNvPr id="17" name="Shape 15"/>
              <p:cNvSpPr/>
              <p:nvPr/>
            </p:nvSpPr>
            <p:spPr>
              <a:xfrm>
                <a:off x="609600" y="4400550"/>
                <a:ext cx="238125" cy="190500"/>
              </a:xfrm>
              <a:custGeom>
                <a:avLst/>
                <a:gdLst/>
                <a:ahLst/>
                <a:cxnLst/>
                <a:rect l="l" t="t" r="r" b="b"/>
                <a:pathLst>
                  <a:path w="238125" h="190500">
                    <a:moveTo>
                      <a:pt x="130187" y="87920"/>
                    </a:moveTo>
                    <a:lnTo>
                      <a:pt x="105594" y="87920"/>
                    </a:lnTo>
                    <a:lnTo>
                      <a:pt x="105594" y="65819"/>
                    </a:lnTo>
                    <a:lnTo>
                      <a:pt x="130187" y="65819"/>
                    </a:lnTo>
                    <a:lnTo>
                      <a:pt x="130187" y="87920"/>
                    </a:lnTo>
                    <a:close/>
                    <a:moveTo>
                      <a:pt x="130187" y="11906"/>
                    </a:moveTo>
                    <a:lnTo>
                      <a:pt x="105594" y="11906"/>
                    </a:lnTo>
                    <a:lnTo>
                      <a:pt x="105594" y="34491"/>
                    </a:lnTo>
                    <a:lnTo>
                      <a:pt x="130187" y="34491"/>
                    </a:lnTo>
                    <a:lnTo>
                      <a:pt x="130187" y="11906"/>
                    </a:lnTo>
                    <a:close/>
                    <a:moveTo>
                      <a:pt x="159283" y="65782"/>
                    </a:moveTo>
                    <a:lnTo>
                      <a:pt x="134689" y="65782"/>
                    </a:lnTo>
                    <a:lnTo>
                      <a:pt x="134689" y="87883"/>
                    </a:lnTo>
                    <a:lnTo>
                      <a:pt x="159283" y="87883"/>
                    </a:lnTo>
                    <a:lnTo>
                      <a:pt x="159283" y="65782"/>
                    </a:lnTo>
                    <a:close/>
                    <a:moveTo>
                      <a:pt x="101129" y="38956"/>
                    </a:moveTo>
                    <a:lnTo>
                      <a:pt x="76535" y="38956"/>
                    </a:lnTo>
                    <a:lnTo>
                      <a:pt x="76535" y="61317"/>
                    </a:lnTo>
                    <a:lnTo>
                      <a:pt x="101129" y="61317"/>
                    </a:lnTo>
                    <a:lnTo>
                      <a:pt x="101129" y="38956"/>
                    </a:lnTo>
                    <a:close/>
                    <a:moveTo>
                      <a:pt x="130187" y="38956"/>
                    </a:moveTo>
                    <a:lnTo>
                      <a:pt x="105594" y="38956"/>
                    </a:lnTo>
                    <a:lnTo>
                      <a:pt x="105594" y="61317"/>
                    </a:lnTo>
                    <a:lnTo>
                      <a:pt x="130187" y="61317"/>
                    </a:lnTo>
                    <a:lnTo>
                      <a:pt x="130187" y="38956"/>
                    </a:lnTo>
                    <a:close/>
                    <a:moveTo>
                      <a:pt x="233176" y="76163"/>
                    </a:moveTo>
                    <a:cubicBezTo>
                      <a:pt x="227819" y="72554"/>
                      <a:pt x="215466" y="71251"/>
                      <a:pt x="205978" y="73037"/>
                    </a:cubicBezTo>
                    <a:cubicBezTo>
                      <a:pt x="204750" y="64108"/>
                      <a:pt x="199765" y="56331"/>
                      <a:pt x="190686" y="49337"/>
                    </a:cubicBezTo>
                    <a:lnTo>
                      <a:pt x="185477" y="45876"/>
                    </a:lnTo>
                    <a:lnTo>
                      <a:pt x="182017" y="51085"/>
                    </a:lnTo>
                    <a:cubicBezTo>
                      <a:pt x="175171" y="61429"/>
                      <a:pt x="173310" y="78470"/>
                      <a:pt x="180640" y="89706"/>
                    </a:cubicBezTo>
                    <a:cubicBezTo>
                      <a:pt x="177403" y="91455"/>
                      <a:pt x="171041" y="93836"/>
                      <a:pt x="162632" y="93687"/>
                    </a:cubicBezTo>
                    <a:lnTo>
                      <a:pt x="893" y="93687"/>
                    </a:lnTo>
                    <a:cubicBezTo>
                      <a:pt x="-2344" y="112588"/>
                      <a:pt x="3051" y="137145"/>
                      <a:pt x="17264" y="154000"/>
                    </a:cubicBezTo>
                    <a:cubicBezTo>
                      <a:pt x="31068" y="170334"/>
                      <a:pt x="51755" y="178631"/>
                      <a:pt x="78804" y="178631"/>
                    </a:cubicBezTo>
                    <a:cubicBezTo>
                      <a:pt x="137368" y="178631"/>
                      <a:pt x="180715" y="151656"/>
                      <a:pt x="200992" y="102654"/>
                    </a:cubicBezTo>
                    <a:cubicBezTo>
                      <a:pt x="208955" y="102803"/>
                      <a:pt x="226144" y="102691"/>
                      <a:pt x="234962" y="85837"/>
                    </a:cubicBezTo>
                    <a:cubicBezTo>
                      <a:pt x="235521" y="84906"/>
                      <a:pt x="237418" y="80925"/>
                      <a:pt x="238125" y="79474"/>
                    </a:cubicBezTo>
                    <a:lnTo>
                      <a:pt x="233176" y="76163"/>
                    </a:lnTo>
                    <a:close/>
                    <a:moveTo>
                      <a:pt x="43011" y="65782"/>
                    </a:moveTo>
                    <a:lnTo>
                      <a:pt x="18455" y="65782"/>
                    </a:lnTo>
                    <a:lnTo>
                      <a:pt x="18455" y="87883"/>
                    </a:lnTo>
                    <a:lnTo>
                      <a:pt x="43049" y="87883"/>
                    </a:lnTo>
                    <a:lnTo>
                      <a:pt x="43049" y="65782"/>
                    </a:lnTo>
                    <a:lnTo>
                      <a:pt x="43011" y="65782"/>
                    </a:lnTo>
                    <a:close/>
                    <a:moveTo>
                      <a:pt x="72070" y="65782"/>
                    </a:moveTo>
                    <a:lnTo>
                      <a:pt x="47476" y="65782"/>
                    </a:lnTo>
                    <a:lnTo>
                      <a:pt x="47476" y="87883"/>
                    </a:lnTo>
                    <a:lnTo>
                      <a:pt x="72070" y="87883"/>
                    </a:lnTo>
                    <a:lnTo>
                      <a:pt x="72070" y="65782"/>
                    </a:lnTo>
                    <a:close/>
                    <a:moveTo>
                      <a:pt x="101129" y="65782"/>
                    </a:moveTo>
                    <a:lnTo>
                      <a:pt x="76535" y="65782"/>
                    </a:lnTo>
                    <a:lnTo>
                      <a:pt x="76535" y="87883"/>
                    </a:lnTo>
                    <a:lnTo>
                      <a:pt x="101129" y="87883"/>
                    </a:lnTo>
                    <a:lnTo>
                      <a:pt x="101129" y="65782"/>
                    </a:lnTo>
                    <a:close/>
                    <a:moveTo>
                      <a:pt x="72070" y="38956"/>
                    </a:moveTo>
                    <a:lnTo>
                      <a:pt x="47476" y="38956"/>
                    </a:lnTo>
                    <a:lnTo>
                      <a:pt x="47476" y="61317"/>
                    </a:lnTo>
                    <a:lnTo>
                      <a:pt x="72070" y="61317"/>
                    </a:lnTo>
                    <a:lnTo>
                      <a:pt x="72070" y="38956"/>
                    </a:lnTo>
                    <a:close/>
                  </a:path>
                </a:pathLst>
              </a:custGeom>
              <a:solidFill>
                <a:srgbClr val="8B0000"/>
              </a:solidFill>
              <a:ln/>
            </p:spPr>
          </p:sp>
          <p:sp>
            <p:nvSpPr>
              <p:cNvPr id="18" name="Text 16"/>
              <p:cNvSpPr/>
              <p:nvPr/>
            </p:nvSpPr>
            <p:spPr>
              <a:xfrm>
                <a:off x="847725" y="4362450"/>
                <a:ext cx="5800725" cy="266700"/>
              </a:xfrm>
              <a:prstGeom prst="rect">
                <a:avLst/>
              </a:prstGeom>
              <a:noFill/>
              <a:ln/>
            </p:spPr>
            <p:txBody>
              <a:bodyPr wrap="square" lIns="0" tIns="0" rIns="0" bIns="0" rtlCol="0" anchor="ctr"/>
              <a:lstStyle/>
              <a:p>
                <a:pPr>
                  <a:lnSpc>
                    <a:spcPct val="120000"/>
                  </a:lnSpc>
                </a:pPr>
                <a:r>
                  <a:rPr lang="en-US" sz="1500" b="1" dirty="0">
                    <a:solidFill>
                      <a:srgbClr val="1F2937"/>
                    </a:solidFill>
                    <a:latin typeface="Times New Roman" panose="02020603050405020304" pitchFamily="18" charset="0"/>
                    <a:ea typeface="Sorts Mill Goudy" pitchFamily="34" charset="-122"/>
                    <a:cs typeface="Times New Roman" panose="02020603050405020304" pitchFamily="18" charset="0"/>
                  </a:rPr>
                  <a:t>Docker Containerization</a:t>
                </a:r>
                <a:endParaRPr lang="en-US" sz="1600" dirty="0">
                  <a:latin typeface="Times New Roman" panose="02020603050405020304" pitchFamily="18" charset="0"/>
                  <a:cs typeface="Times New Roman" panose="02020603050405020304" pitchFamily="18" charset="0"/>
                </a:endParaRPr>
              </a:p>
            </p:txBody>
          </p:sp>
          <p:sp>
            <p:nvSpPr>
              <p:cNvPr id="19" name="Text 17"/>
              <p:cNvSpPr/>
              <p:nvPr/>
            </p:nvSpPr>
            <p:spPr>
              <a:xfrm>
                <a:off x="609600" y="4705350"/>
                <a:ext cx="6029325" cy="266700"/>
              </a:xfrm>
              <a:prstGeom prst="rect">
                <a:avLst/>
              </a:prstGeom>
              <a:noFill/>
              <a:ln/>
            </p:spPr>
            <p:txBody>
              <a:bodyPr wrap="square" lIns="0" tIns="0" rIns="0" bIns="0" rtlCol="0" anchor="ctr"/>
              <a:lstStyle/>
              <a:p>
                <a:pPr>
                  <a:lnSpc>
                    <a:spcPct val="130000"/>
                  </a:lnSpc>
                </a:pPr>
                <a:r>
                  <a:rPr lang="en-US" sz="1350" dirty="0">
                    <a:solidFill>
                      <a:srgbClr val="6B7280"/>
                    </a:solidFill>
                    <a:latin typeface="Times New Roman" panose="02020603050405020304" pitchFamily="18" charset="0"/>
                    <a:ea typeface="Sorts Mill Goudy" pitchFamily="34" charset="-122"/>
                    <a:cs typeface="Times New Roman" panose="02020603050405020304" pitchFamily="18" charset="0"/>
                  </a:rPr>
                  <a:t>Ensures portability and scalability</a:t>
                </a:r>
                <a:endParaRPr lang="en-US" sz="1600" dirty="0">
                  <a:latin typeface="Times New Roman" panose="02020603050405020304" pitchFamily="18" charset="0"/>
                  <a:cs typeface="Times New Roman" panose="02020603050405020304" pitchFamily="18" charset="0"/>
                </a:endParaRPr>
              </a:p>
            </p:txBody>
          </p:sp>
          <p:sp>
            <p:nvSpPr>
              <p:cNvPr id="20" name="Shape 18"/>
              <p:cNvSpPr/>
              <p:nvPr/>
            </p:nvSpPr>
            <p:spPr>
              <a:xfrm>
                <a:off x="400050" y="5124450"/>
                <a:ext cx="38100" cy="609600"/>
              </a:xfrm>
              <a:custGeom>
                <a:avLst/>
                <a:gdLst/>
                <a:ahLst/>
                <a:cxnLst/>
                <a:rect l="l" t="t" r="r" b="b"/>
                <a:pathLst>
                  <a:path w="38100" h="609600">
                    <a:moveTo>
                      <a:pt x="0" y="0"/>
                    </a:moveTo>
                    <a:lnTo>
                      <a:pt x="38100" y="0"/>
                    </a:lnTo>
                    <a:lnTo>
                      <a:pt x="38100" y="609600"/>
                    </a:lnTo>
                    <a:lnTo>
                      <a:pt x="0" y="609600"/>
                    </a:lnTo>
                    <a:lnTo>
                      <a:pt x="0" y="0"/>
                    </a:lnTo>
                    <a:close/>
                  </a:path>
                </a:pathLst>
              </a:custGeom>
              <a:solidFill>
                <a:srgbClr val="8B0000"/>
              </a:solidFill>
              <a:ln/>
            </p:spPr>
          </p:sp>
          <p:sp>
            <p:nvSpPr>
              <p:cNvPr id="21" name="Shape 19"/>
              <p:cNvSpPr/>
              <p:nvPr/>
            </p:nvSpPr>
            <p:spPr>
              <a:xfrm>
                <a:off x="609600" y="5162550"/>
                <a:ext cx="238125" cy="190500"/>
              </a:xfrm>
              <a:custGeom>
                <a:avLst/>
                <a:gdLst/>
                <a:ahLst/>
                <a:cxnLst/>
                <a:rect l="l" t="t" r="r" b="b"/>
                <a:pathLst>
                  <a:path w="238125" h="190500">
                    <a:moveTo>
                      <a:pt x="67121" y="75530"/>
                    </a:moveTo>
                    <a:cubicBezTo>
                      <a:pt x="66861" y="83939"/>
                      <a:pt x="71065" y="87697"/>
                      <a:pt x="71177" y="90041"/>
                    </a:cubicBezTo>
                    <a:cubicBezTo>
                      <a:pt x="71140" y="90525"/>
                      <a:pt x="70954" y="90971"/>
                      <a:pt x="70693" y="91380"/>
                    </a:cubicBezTo>
                    <a:cubicBezTo>
                      <a:pt x="70433" y="91790"/>
                      <a:pt x="70061" y="92125"/>
                      <a:pt x="69652" y="92348"/>
                    </a:cubicBezTo>
                    <a:lnTo>
                      <a:pt x="64889" y="95696"/>
                    </a:lnTo>
                    <a:cubicBezTo>
                      <a:pt x="64257" y="96143"/>
                      <a:pt x="63550" y="96366"/>
                      <a:pt x="62805" y="96403"/>
                    </a:cubicBezTo>
                    <a:cubicBezTo>
                      <a:pt x="62657" y="96403"/>
                      <a:pt x="59754" y="97073"/>
                      <a:pt x="55178" y="86878"/>
                    </a:cubicBezTo>
                    <a:cubicBezTo>
                      <a:pt x="52387" y="90376"/>
                      <a:pt x="48853" y="93166"/>
                      <a:pt x="44797" y="95064"/>
                    </a:cubicBezTo>
                    <a:cubicBezTo>
                      <a:pt x="40742" y="96962"/>
                      <a:pt x="36351" y="97929"/>
                      <a:pt x="31886" y="97854"/>
                    </a:cubicBezTo>
                    <a:cubicBezTo>
                      <a:pt x="25822" y="98189"/>
                      <a:pt x="9413" y="94431"/>
                      <a:pt x="10269" y="76944"/>
                    </a:cubicBezTo>
                    <a:cubicBezTo>
                      <a:pt x="9674" y="62694"/>
                      <a:pt x="22957" y="53839"/>
                      <a:pt x="36649" y="54620"/>
                    </a:cubicBezTo>
                    <a:cubicBezTo>
                      <a:pt x="39291" y="54620"/>
                      <a:pt x="44686" y="54769"/>
                      <a:pt x="54136" y="56964"/>
                    </a:cubicBezTo>
                    <a:lnTo>
                      <a:pt x="54136" y="51160"/>
                    </a:lnTo>
                    <a:cubicBezTo>
                      <a:pt x="55141" y="41300"/>
                      <a:pt x="48667" y="33672"/>
                      <a:pt x="37467" y="34826"/>
                    </a:cubicBezTo>
                    <a:cubicBezTo>
                      <a:pt x="36575" y="34826"/>
                      <a:pt x="30249" y="34640"/>
                      <a:pt x="20427" y="38584"/>
                    </a:cubicBezTo>
                    <a:cubicBezTo>
                      <a:pt x="17673" y="39849"/>
                      <a:pt x="17338" y="39625"/>
                      <a:pt x="16408" y="39625"/>
                    </a:cubicBezTo>
                    <a:cubicBezTo>
                      <a:pt x="13655" y="39625"/>
                      <a:pt x="14771" y="31626"/>
                      <a:pt x="15329" y="30621"/>
                    </a:cubicBezTo>
                    <a:cubicBezTo>
                      <a:pt x="17264" y="28240"/>
                      <a:pt x="28687" y="23775"/>
                      <a:pt x="39849" y="23850"/>
                    </a:cubicBezTo>
                    <a:cubicBezTo>
                      <a:pt x="47327" y="23180"/>
                      <a:pt x="54769" y="25487"/>
                      <a:pt x="60573" y="30287"/>
                    </a:cubicBezTo>
                    <a:cubicBezTo>
                      <a:pt x="62917" y="32928"/>
                      <a:pt x="64740" y="36016"/>
                      <a:pt x="65856" y="39365"/>
                    </a:cubicBezTo>
                    <a:cubicBezTo>
                      <a:pt x="66973" y="42714"/>
                      <a:pt x="67419" y="46248"/>
                      <a:pt x="67159" y="49783"/>
                    </a:cubicBezTo>
                    <a:lnTo>
                      <a:pt x="67159" y="75567"/>
                    </a:lnTo>
                    <a:close/>
                    <a:moveTo>
                      <a:pt x="34975" y="87585"/>
                    </a:moveTo>
                    <a:cubicBezTo>
                      <a:pt x="47030" y="87399"/>
                      <a:pt x="52164" y="80144"/>
                      <a:pt x="53318" y="76237"/>
                    </a:cubicBezTo>
                    <a:cubicBezTo>
                      <a:pt x="54248" y="72479"/>
                      <a:pt x="54099" y="70135"/>
                      <a:pt x="54099" y="66042"/>
                    </a:cubicBezTo>
                    <a:cubicBezTo>
                      <a:pt x="50490" y="65187"/>
                      <a:pt x="45318" y="64219"/>
                      <a:pt x="39365" y="64219"/>
                    </a:cubicBezTo>
                    <a:cubicBezTo>
                      <a:pt x="33710" y="63810"/>
                      <a:pt x="23440" y="66303"/>
                      <a:pt x="23850" y="76237"/>
                    </a:cubicBezTo>
                    <a:cubicBezTo>
                      <a:pt x="23403" y="82488"/>
                      <a:pt x="27980" y="87920"/>
                      <a:pt x="35012" y="87585"/>
                    </a:cubicBezTo>
                    <a:close/>
                    <a:moveTo>
                      <a:pt x="98561" y="96180"/>
                    </a:moveTo>
                    <a:cubicBezTo>
                      <a:pt x="95622" y="96441"/>
                      <a:pt x="94283" y="94357"/>
                      <a:pt x="93836" y="92311"/>
                    </a:cubicBezTo>
                    <a:lnTo>
                      <a:pt x="75307" y="31031"/>
                    </a:lnTo>
                    <a:cubicBezTo>
                      <a:pt x="74935" y="29989"/>
                      <a:pt x="74712" y="28947"/>
                      <a:pt x="74600" y="27831"/>
                    </a:cubicBezTo>
                    <a:cubicBezTo>
                      <a:pt x="74526" y="27384"/>
                      <a:pt x="74637" y="26938"/>
                      <a:pt x="74898" y="26566"/>
                    </a:cubicBezTo>
                    <a:cubicBezTo>
                      <a:pt x="75158" y="26194"/>
                      <a:pt x="75567" y="25971"/>
                      <a:pt x="76014" y="25896"/>
                    </a:cubicBezTo>
                    <a:cubicBezTo>
                      <a:pt x="76088" y="25896"/>
                      <a:pt x="75233" y="25896"/>
                      <a:pt x="84274" y="25896"/>
                    </a:cubicBezTo>
                    <a:cubicBezTo>
                      <a:pt x="87548" y="25561"/>
                      <a:pt x="88590" y="28129"/>
                      <a:pt x="88962" y="29766"/>
                    </a:cubicBezTo>
                    <a:lnTo>
                      <a:pt x="102282" y="82153"/>
                    </a:lnTo>
                    <a:lnTo>
                      <a:pt x="114635" y="29766"/>
                    </a:lnTo>
                    <a:cubicBezTo>
                      <a:pt x="114821" y="28575"/>
                      <a:pt x="115714" y="25636"/>
                      <a:pt x="119397" y="25971"/>
                    </a:cubicBezTo>
                    <a:lnTo>
                      <a:pt x="125797" y="25971"/>
                    </a:lnTo>
                    <a:cubicBezTo>
                      <a:pt x="126616" y="25896"/>
                      <a:pt x="129927" y="25784"/>
                      <a:pt x="130522" y="29840"/>
                    </a:cubicBezTo>
                    <a:lnTo>
                      <a:pt x="142912" y="82860"/>
                    </a:lnTo>
                    <a:lnTo>
                      <a:pt x="156642" y="29803"/>
                    </a:lnTo>
                    <a:cubicBezTo>
                      <a:pt x="156828" y="28984"/>
                      <a:pt x="157646" y="25561"/>
                      <a:pt x="161367" y="25933"/>
                    </a:cubicBezTo>
                    <a:lnTo>
                      <a:pt x="168697" y="25933"/>
                    </a:lnTo>
                    <a:cubicBezTo>
                      <a:pt x="169032" y="25896"/>
                      <a:pt x="171004" y="25636"/>
                      <a:pt x="170669" y="29133"/>
                    </a:cubicBezTo>
                    <a:cubicBezTo>
                      <a:pt x="170520" y="29803"/>
                      <a:pt x="171934" y="25152"/>
                      <a:pt x="151023" y="92348"/>
                    </a:cubicBezTo>
                    <a:cubicBezTo>
                      <a:pt x="150614" y="94394"/>
                      <a:pt x="149237" y="96478"/>
                      <a:pt x="146298" y="96217"/>
                    </a:cubicBezTo>
                    <a:lnTo>
                      <a:pt x="139340" y="96217"/>
                    </a:lnTo>
                    <a:cubicBezTo>
                      <a:pt x="135285" y="96664"/>
                      <a:pt x="134689" y="92608"/>
                      <a:pt x="134615" y="92236"/>
                    </a:cubicBezTo>
                    <a:lnTo>
                      <a:pt x="122262" y="41225"/>
                    </a:lnTo>
                    <a:lnTo>
                      <a:pt x="110058" y="92199"/>
                    </a:lnTo>
                    <a:cubicBezTo>
                      <a:pt x="109984" y="92608"/>
                      <a:pt x="109426" y="96627"/>
                      <a:pt x="105333" y="96180"/>
                    </a:cubicBezTo>
                    <a:lnTo>
                      <a:pt x="98524" y="96180"/>
                    </a:lnTo>
                    <a:lnTo>
                      <a:pt x="98524" y="96180"/>
                    </a:lnTo>
                    <a:close/>
                    <a:moveTo>
                      <a:pt x="200323" y="98264"/>
                    </a:moveTo>
                    <a:cubicBezTo>
                      <a:pt x="198127" y="98264"/>
                      <a:pt x="187709" y="98152"/>
                      <a:pt x="178966" y="93687"/>
                    </a:cubicBezTo>
                    <a:cubicBezTo>
                      <a:pt x="178110" y="93315"/>
                      <a:pt x="177366" y="92720"/>
                      <a:pt x="176845" y="91901"/>
                    </a:cubicBezTo>
                    <a:cubicBezTo>
                      <a:pt x="176324" y="91083"/>
                      <a:pt x="176064" y="90190"/>
                      <a:pt x="176064" y="89260"/>
                    </a:cubicBezTo>
                    <a:lnTo>
                      <a:pt x="176064" y="85279"/>
                    </a:lnTo>
                    <a:cubicBezTo>
                      <a:pt x="176064" y="82116"/>
                      <a:pt x="178371" y="82711"/>
                      <a:pt x="179338" y="83083"/>
                    </a:cubicBezTo>
                    <a:cubicBezTo>
                      <a:pt x="183059" y="84609"/>
                      <a:pt x="185477" y="85725"/>
                      <a:pt x="190054" y="86655"/>
                    </a:cubicBezTo>
                    <a:cubicBezTo>
                      <a:pt x="203708" y="89446"/>
                      <a:pt x="209699" y="85799"/>
                      <a:pt x="211150" y="84981"/>
                    </a:cubicBezTo>
                    <a:cubicBezTo>
                      <a:pt x="216061" y="82079"/>
                      <a:pt x="216433" y="75419"/>
                      <a:pt x="213122" y="71996"/>
                    </a:cubicBezTo>
                    <a:cubicBezTo>
                      <a:pt x="209215" y="68721"/>
                      <a:pt x="207355" y="68610"/>
                      <a:pt x="193365" y="64182"/>
                    </a:cubicBezTo>
                    <a:cubicBezTo>
                      <a:pt x="191653" y="63698"/>
                      <a:pt x="177105" y="59122"/>
                      <a:pt x="177068" y="44686"/>
                    </a:cubicBezTo>
                    <a:cubicBezTo>
                      <a:pt x="176845" y="34193"/>
                      <a:pt x="186370" y="23775"/>
                      <a:pt x="202927" y="23850"/>
                    </a:cubicBezTo>
                    <a:cubicBezTo>
                      <a:pt x="207652" y="23850"/>
                      <a:pt x="220191" y="25375"/>
                      <a:pt x="223614" y="29654"/>
                    </a:cubicBezTo>
                    <a:cubicBezTo>
                      <a:pt x="224135" y="30435"/>
                      <a:pt x="224358" y="31366"/>
                      <a:pt x="224321" y="32258"/>
                    </a:cubicBezTo>
                    <a:lnTo>
                      <a:pt x="224321" y="36016"/>
                    </a:lnTo>
                    <a:cubicBezTo>
                      <a:pt x="224321" y="37654"/>
                      <a:pt x="223726" y="38509"/>
                      <a:pt x="222498" y="38509"/>
                    </a:cubicBezTo>
                    <a:cubicBezTo>
                      <a:pt x="219633" y="38174"/>
                      <a:pt x="214536" y="34342"/>
                      <a:pt x="204192" y="34491"/>
                    </a:cubicBezTo>
                    <a:cubicBezTo>
                      <a:pt x="201625" y="34342"/>
                      <a:pt x="189347" y="34826"/>
                      <a:pt x="189905" y="43793"/>
                    </a:cubicBezTo>
                    <a:cubicBezTo>
                      <a:pt x="189756" y="50862"/>
                      <a:pt x="199802" y="53504"/>
                      <a:pt x="200955" y="53801"/>
                    </a:cubicBezTo>
                    <a:cubicBezTo>
                      <a:pt x="214536" y="57894"/>
                      <a:pt x="219038" y="58564"/>
                      <a:pt x="224433" y="64815"/>
                    </a:cubicBezTo>
                    <a:cubicBezTo>
                      <a:pt x="230795" y="73075"/>
                      <a:pt x="227372" y="82786"/>
                      <a:pt x="226033" y="85427"/>
                    </a:cubicBezTo>
                    <a:cubicBezTo>
                      <a:pt x="218926" y="99380"/>
                      <a:pt x="200583" y="98227"/>
                      <a:pt x="200248" y="98227"/>
                    </a:cubicBezTo>
                    <a:close/>
                    <a:moveTo>
                      <a:pt x="215280" y="137294"/>
                    </a:moveTo>
                    <a:cubicBezTo>
                      <a:pt x="189235" y="156530"/>
                      <a:pt x="151395" y="166762"/>
                      <a:pt x="119100" y="166762"/>
                    </a:cubicBezTo>
                    <a:cubicBezTo>
                      <a:pt x="75530" y="167060"/>
                      <a:pt x="33412" y="151023"/>
                      <a:pt x="1042" y="121853"/>
                    </a:cubicBezTo>
                    <a:cubicBezTo>
                      <a:pt x="-1377" y="119658"/>
                      <a:pt x="744" y="116644"/>
                      <a:pt x="3721" y="118318"/>
                    </a:cubicBezTo>
                    <a:cubicBezTo>
                      <a:pt x="39625" y="138857"/>
                      <a:pt x="80256" y="149647"/>
                      <a:pt x="121630" y="149609"/>
                    </a:cubicBezTo>
                    <a:cubicBezTo>
                      <a:pt x="152512" y="149461"/>
                      <a:pt x="183059" y="143173"/>
                      <a:pt x="211522" y="131192"/>
                    </a:cubicBezTo>
                    <a:cubicBezTo>
                      <a:pt x="215912" y="129332"/>
                      <a:pt x="219633" y="134094"/>
                      <a:pt x="215280" y="137294"/>
                    </a:cubicBezTo>
                    <a:close/>
                    <a:moveTo>
                      <a:pt x="226144" y="124904"/>
                    </a:moveTo>
                    <a:cubicBezTo>
                      <a:pt x="222796" y="120625"/>
                      <a:pt x="204081" y="122895"/>
                      <a:pt x="195709" y="123899"/>
                    </a:cubicBezTo>
                    <a:cubicBezTo>
                      <a:pt x="193179" y="124197"/>
                      <a:pt x="192770" y="122002"/>
                      <a:pt x="195039" y="120365"/>
                    </a:cubicBezTo>
                    <a:cubicBezTo>
                      <a:pt x="209959" y="109872"/>
                      <a:pt x="234442" y="112886"/>
                      <a:pt x="237232" y="116421"/>
                    </a:cubicBezTo>
                    <a:cubicBezTo>
                      <a:pt x="240023" y="119955"/>
                      <a:pt x="236451" y="144475"/>
                      <a:pt x="222498" y="156195"/>
                    </a:cubicBezTo>
                    <a:cubicBezTo>
                      <a:pt x="220340" y="158018"/>
                      <a:pt x="218294" y="157051"/>
                      <a:pt x="219261" y="154670"/>
                    </a:cubicBezTo>
                    <a:cubicBezTo>
                      <a:pt x="222386" y="146745"/>
                      <a:pt x="229456" y="129183"/>
                      <a:pt x="226107" y="124904"/>
                    </a:cubicBezTo>
                    <a:close/>
                  </a:path>
                </a:pathLst>
              </a:custGeom>
              <a:solidFill>
                <a:srgbClr val="8B0000"/>
              </a:solidFill>
              <a:ln/>
            </p:spPr>
          </p:sp>
          <p:sp>
            <p:nvSpPr>
              <p:cNvPr id="22" name="Text 20"/>
              <p:cNvSpPr/>
              <p:nvPr/>
            </p:nvSpPr>
            <p:spPr>
              <a:xfrm>
                <a:off x="847725" y="5124450"/>
                <a:ext cx="5800725" cy="266700"/>
              </a:xfrm>
              <a:prstGeom prst="rect">
                <a:avLst/>
              </a:prstGeom>
              <a:noFill/>
              <a:ln/>
            </p:spPr>
            <p:txBody>
              <a:bodyPr wrap="square" lIns="0" tIns="0" rIns="0" bIns="0" rtlCol="0" anchor="ctr"/>
              <a:lstStyle/>
              <a:p>
                <a:pPr>
                  <a:lnSpc>
                    <a:spcPct val="120000"/>
                  </a:lnSpc>
                </a:pPr>
                <a:r>
                  <a:rPr lang="en-US" sz="1500" b="1" dirty="0">
                    <a:solidFill>
                      <a:srgbClr val="1F2937"/>
                    </a:solidFill>
                    <a:latin typeface="Times New Roman" panose="02020603050405020304" pitchFamily="18" charset="0"/>
                    <a:ea typeface="Sorts Mill Goudy" pitchFamily="34" charset="-122"/>
                    <a:cs typeface="Times New Roman" panose="02020603050405020304" pitchFamily="18" charset="0"/>
                  </a:rPr>
                  <a:t>AWS EC2 Hosting</a:t>
                </a:r>
                <a:endParaRPr lang="en-US" sz="1600" dirty="0">
                  <a:latin typeface="Times New Roman" panose="02020603050405020304" pitchFamily="18" charset="0"/>
                  <a:cs typeface="Times New Roman" panose="02020603050405020304" pitchFamily="18" charset="0"/>
                </a:endParaRPr>
              </a:p>
            </p:txBody>
          </p:sp>
          <p:sp>
            <p:nvSpPr>
              <p:cNvPr id="23" name="Text 21"/>
              <p:cNvSpPr/>
              <p:nvPr/>
            </p:nvSpPr>
            <p:spPr>
              <a:xfrm>
                <a:off x="609600" y="5467350"/>
                <a:ext cx="6029325" cy="266700"/>
              </a:xfrm>
              <a:prstGeom prst="rect">
                <a:avLst/>
              </a:prstGeom>
              <a:noFill/>
              <a:ln/>
            </p:spPr>
            <p:txBody>
              <a:bodyPr wrap="square" lIns="0" tIns="0" rIns="0" bIns="0" rtlCol="0" anchor="ctr"/>
              <a:lstStyle/>
              <a:p>
                <a:pPr>
                  <a:lnSpc>
                    <a:spcPct val="130000"/>
                  </a:lnSpc>
                </a:pPr>
                <a:r>
                  <a:rPr lang="en-US" sz="1350" dirty="0">
                    <a:solidFill>
                      <a:srgbClr val="6B7280"/>
                    </a:solidFill>
                    <a:latin typeface="Times New Roman" panose="02020603050405020304" pitchFamily="18" charset="0"/>
                    <a:ea typeface="Sorts Mill Goudy" pitchFamily="34" charset="-122"/>
                    <a:cs typeface="Times New Roman" panose="02020603050405020304" pitchFamily="18" charset="0"/>
                  </a:rPr>
                  <a:t>Cloud platform for deployment and operation</a:t>
                </a:r>
                <a:endParaRPr lang="en-US" sz="1600" dirty="0">
                  <a:latin typeface="Times New Roman" panose="02020603050405020304" pitchFamily="18" charset="0"/>
                  <a:cs typeface="Times New Roman" panose="02020603050405020304" pitchFamily="18" charset="0"/>
                </a:endParaRPr>
              </a:p>
            </p:txBody>
          </p:sp>
        </p:grpSp>
        <p:grpSp>
          <p:nvGrpSpPr>
            <p:cNvPr id="37" name="组合 36">
              <a:extLst>
                <a:ext uri="{FF2B5EF4-FFF2-40B4-BE49-F238E27FC236}">
                  <a16:creationId xmlns:a16="http://schemas.microsoft.com/office/drawing/2014/main" id="{6E445D92-4633-A3B5-9D13-842688B1A6C7}"/>
                </a:ext>
              </a:extLst>
            </p:cNvPr>
            <p:cNvGrpSpPr/>
            <p:nvPr/>
          </p:nvGrpSpPr>
          <p:grpSpPr>
            <a:xfrm>
              <a:off x="438150" y="5543550"/>
              <a:ext cx="6248400" cy="609600"/>
              <a:chOff x="590550" y="4895850"/>
              <a:chExt cx="6248400" cy="609600"/>
            </a:xfrm>
          </p:grpSpPr>
          <p:sp>
            <p:nvSpPr>
              <p:cNvPr id="33" name="Shape 18">
                <a:extLst>
                  <a:ext uri="{FF2B5EF4-FFF2-40B4-BE49-F238E27FC236}">
                    <a16:creationId xmlns:a16="http://schemas.microsoft.com/office/drawing/2014/main" id="{C338EC45-2B0D-57A4-682F-CF99EA783268}"/>
                  </a:ext>
                </a:extLst>
              </p:cNvPr>
              <p:cNvSpPr/>
              <p:nvPr/>
            </p:nvSpPr>
            <p:spPr>
              <a:xfrm>
                <a:off x="590550" y="4895850"/>
                <a:ext cx="38100" cy="609600"/>
              </a:xfrm>
              <a:custGeom>
                <a:avLst/>
                <a:gdLst/>
                <a:ahLst/>
                <a:cxnLst/>
                <a:rect l="l" t="t" r="r" b="b"/>
                <a:pathLst>
                  <a:path w="38100" h="609600">
                    <a:moveTo>
                      <a:pt x="0" y="0"/>
                    </a:moveTo>
                    <a:lnTo>
                      <a:pt x="38100" y="0"/>
                    </a:lnTo>
                    <a:lnTo>
                      <a:pt x="38100" y="609600"/>
                    </a:lnTo>
                    <a:lnTo>
                      <a:pt x="0" y="609600"/>
                    </a:lnTo>
                    <a:lnTo>
                      <a:pt x="0" y="0"/>
                    </a:lnTo>
                    <a:close/>
                  </a:path>
                </a:pathLst>
              </a:custGeom>
              <a:solidFill>
                <a:srgbClr val="8B0000"/>
              </a:solidFill>
              <a:ln/>
            </p:spPr>
          </p:sp>
          <p:sp>
            <p:nvSpPr>
              <p:cNvPr id="35" name="Text 20">
                <a:extLst>
                  <a:ext uri="{FF2B5EF4-FFF2-40B4-BE49-F238E27FC236}">
                    <a16:creationId xmlns:a16="http://schemas.microsoft.com/office/drawing/2014/main" id="{9D736ED4-7C01-C0AE-C1F8-F487C8B683C0}"/>
                  </a:ext>
                </a:extLst>
              </p:cNvPr>
              <p:cNvSpPr/>
              <p:nvPr/>
            </p:nvSpPr>
            <p:spPr>
              <a:xfrm>
                <a:off x="1038225" y="4895850"/>
                <a:ext cx="5800725" cy="266700"/>
              </a:xfrm>
              <a:prstGeom prst="rect">
                <a:avLst/>
              </a:prstGeom>
              <a:noFill/>
              <a:ln/>
            </p:spPr>
            <p:txBody>
              <a:bodyPr wrap="square" lIns="0" tIns="0" rIns="0" bIns="0" rtlCol="0" anchor="ctr"/>
              <a:lstStyle/>
              <a:p>
                <a:pPr>
                  <a:lnSpc>
                    <a:spcPct val="120000"/>
                  </a:lnSpc>
                </a:pPr>
                <a:r>
                  <a:rPr lang="en-US" sz="1500" b="1" dirty="0">
                    <a:solidFill>
                      <a:srgbClr val="1F2937"/>
                    </a:solidFill>
                    <a:latin typeface="Times New Roman" panose="02020603050405020304" pitchFamily="18" charset="0"/>
                    <a:ea typeface="Sorts Mill Goudy" pitchFamily="34" charset="-122"/>
                    <a:cs typeface="Times New Roman" panose="02020603050405020304" pitchFamily="18" charset="0"/>
                  </a:rPr>
                  <a:t>GitHub CI/CD</a:t>
                </a:r>
                <a:endParaRPr lang="en-US" sz="1600" dirty="0">
                  <a:latin typeface="Times New Roman" panose="02020603050405020304" pitchFamily="18" charset="0"/>
                  <a:cs typeface="Times New Roman" panose="02020603050405020304" pitchFamily="18" charset="0"/>
                </a:endParaRPr>
              </a:p>
            </p:txBody>
          </p:sp>
          <p:sp>
            <p:nvSpPr>
              <p:cNvPr id="36" name="Text 21">
                <a:extLst>
                  <a:ext uri="{FF2B5EF4-FFF2-40B4-BE49-F238E27FC236}">
                    <a16:creationId xmlns:a16="http://schemas.microsoft.com/office/drawing/2014/main" id="{5DEF37B8-6F41-D34D-7360-75029CBB92F9}"/>
                  </a:ext>
                </a:extLst>
              </p:cNvPr>
              <p:cNvSpPr/>
              <p:nvPr/>
            </p:nvSpPr>
            <p:spPr>
              <a:xfrm>
                <a:off x="800100" y="5238750"/>
                <a:ext cx="6029325" cy="266700"/>
              </a:xfrm>
              <a:prstGeom prst="rect">
                <a:avLst/>
              </a:prstGeom>
              <a:noFill/>
              <a:ln/>
            </p:spPr>
            <p:txBody>
              <a:bodyPr wrap="square" lIns="0" tIns="0" rIns="0" bIns="0" rtlCol="0" anchor="ctr"/>
              <a:lstStyle/>
              <a:p>
                <a:pPr>
                  <a:lnSpc>
                    <a:spcPct val="130000"/>
                  </a:lnSpc>
                </a:pPr>
                <a:r>
                  <a:rPr lang="en-US" sz="1350" dirty="0">
                    <a:solidFill>
                      <a:srgbClr val="6B7280"/>
                    </a:solidFill>
                    <a:latin typeface="Times New Roman" panose="02020603050405020304" pitchFamily="18" charset="0"/>
                    <a:ea typeface="Sorts Mill Goudy" pitchFamily="34" charset="-122"/>
                    <a:cs typeface="Times New Roman" panose="02020603050405020304" pitchFamily="18" charset="0"/>
                  </a:rPr>
                  <a:t>Continuous integration and automatic deployment of the code</a:t>
                </a:r>
                <a:endParaRPr lang="en-US" sz="1600" dirty="0">
                  <a:latin typeface="Times New Roman" panose="02020603050405020304" pitchFamily="18" charset="0"/>
                  <a:cs typeface="Times New Roman" panose="02020603050405020304" pitchFamily="18" charset="0"/>
                </a:endParaRPr>
              </a:p>
            </p:txBody>
          </p:sp>
        </p:grpSp>
      </p:grpSp>
      <p:pic>
        <p:nvPicPr>
          <p:cNvPr id="39" name="Image 0" descr="https://kimi-web-img.moonshot.cn/img/wp.sfdcdigital.com/16455ed2a6cfb5d1bca3c091efdc6ddd58964e5f.png">
            <a:extLst>
              <a:ext uri="{FF2B5EF4-FFF2-40B4-BE49-F238E27FC236}">
                <a16:creationId xmlns:a16="http://schemas.microsoft.com/office/drawing/2014/main" id="{BCDDDAAD-4ACF-7E30-0BF5-335B4F7A1158}"/>
              </a:ext>
            </a:extLst>
          </p:cNvPr>
          <p:cNvPicPr>
            <a:picLocks noChangeAspect="1"/>
          </p:cNvPicPr>
          <p:nvPr/>
        </p:nvPicPr>
        <p:blipFill>
          <a:blip r:embed="rId4"/>
          <a:srcRect t="15" b="15"/>
          <a:stretch/>
        </p:blipFill>
        <p:spPr>
          <a:xfrm>
            <a:off x="6848474" y="1866900"/>
            <a:ext cx="4572000" cy="2571750"/>
          </a:xfrm>
          <a:prstGeom prst="roundRect">
            <a:avLst>
              <a:gd name="adj" fmla="val 2963"/>
            </a:avLst>
          </a:prstGeom>
        </p:spPr>
      </p:pic>
      <p:sp>
        <p:nvSpPr>
          <p:cNvPr id="41" name="Text 5">
            <a:extLst>
              <a:ext uri="{FF2B5EF4-FFF2-40B4-BE49-F238E27FC236}">
                <a16:creationId xmlns:a16="http://schemas.microsoft.com/office/drawing/2014/main" id="{AC99E134-702F-BFCA-E763-69A664D9DB4F}"/>
              </a:ext>
            </a:extLst>
          </p:cNvPr>
          <p:cNvSpPr/>
          <p:nvPr/>
        </p:nvSpPr>
        <p:spPr>
          <a:xfrm>
            <a:off x="6677025" y="4933950"/>
            <a:ext cx="4829175" cy="266700"/>
          </a:xfrm>
          <a:prstGeom prst="rect">
            <a:avLst/>
          </a:prstGeom>
          <a:noFill/>
          <a:ln/>
        </p:spPr>
        <p:txBody>
          <a:bodyPr wrap="square" lIns="0" tIns="0" rIns="0" bIns="0" rtlCol="0" anchor="ctr"/>
          <a:lstStyle/>
          <a:p>
            <a:pPr algn="ctr">
              <a:lnSpc>
                <a:spcPct val="120000"/>
              </a:lnSpc>
            </a:pPr>
            <a:r>
              <a:rPr lang="en-US" sz="1500" b="1" dirty="0">
                <a:solidFill>
                  <a:srgbClr val="1F2937"/>
                </a:solidFill>
                <a:latin typeface="Times New Roman" panose="02020603050405020304" pitchFamily="18" charset="0"/>
                <a:ea typeface="Sorts Mill Goudy" pitchFamily="34" charset="-122"/>
                <a:cs typeface="Times New Roman" panose="02020603050405020304" pitchFamily="18" charset="0"/>
              </a:rPr>
              <a:t>Bot ID:</a:t>
            </a:r>
            <a:r>
              <a:rPr lang="en-US" sz="1500" dirty="0">
                <a:solidFill>
                  <a:srgbClr val="1F2937"/>
                </a:solidFill>
                <a:latin typeface="Times New Roman" panose="02020603050405020304" pitchFamily="18" charset="0"/>
                <a:ea typeface="Sorts Mill Goudy" pitchFamily="34" charset="-122"/>
                <a:cs typeface="Times New Roman" panose="02020603050405020304" pitchFamily="18" charset="0"/>
              </a:rPr>
              <a:t> @Group_AK_bot</a:t>
            </a:r>
            <a:endParaRPr lang="en-US" sz="1600" dirty="0">
              <a:latin typeface="Times New Roman" panose="02020603050405020304" pitchFamily="18" charset="0"/>
              <a:cs typeface="Times New Roman" panose="02020603050405020304" pitchFamily="18" charset="0"/>
            </a:endParaRPr>
          </a:p>
        </p:txBody>
      </p:sp>
      <p:sp>
        <p:nvSpPr>
          <p:cNvPr id="43" name="Text 4">
            <a:extLst>
              <a:ext uri="{FF2B5EF4-FFF2-40B4-BE49-F238E27FC236}">
                <a16:creationId xmlns:a16="http://schemas.microsoft.com/office/drawing/2014/main" id="{75DAA7A2-69C0-B683-4B51-946E7B64A549}"/>
              </a:ext>
            </a:extLst>
          </p:cNvPr>
          <p:cNvSpPr/>
          <p:nvPr/>
        </p:nvSpPr>
        <p:spPr>
          <a:xfrm>
            <a:off x="6407943" y="4533900"/>
            <a:ext cx="5453062" cy="285750"/>
          </a:xfrm>
          <a:prstGeom prst="rect">
            <a:avLst/>
          </a:prstGeom>
          <a:noFill/>
          <a:ln/>
        </p:spPr>
        <p:txBody>
          <a:bodyPr wrap="square" lIns="0" tIns="0" rIns="0" bIns="0" rtlCol="0" anchor="ctr"/>
          <a:lstStyle/>
          <a:p>
            <a:pPr algn="ctr">
              <a:lnSpc>
                <a:spcPct val="120000"/>
              </a:lnSpc>
            </a:pPr>
            <a:r>
              <a:rPr lang="en-US" sz="1500" b="1" dirty="0">
                <a:solidFill>
                  <a:srgbClr val="1F2937"/>
                </a:solidFill>
                <a:latin typeface="Times New Roman" panose="02020603050405020304" pitchFamily="18" charset="0"/>
                <a:ea typeface="Sorts Mill Goudy" pitchFamily="34" charset="-122"/>
                <a:cs typeface="Times New Roman" panose="02020603050405020304" pitchFamily="18" charset="0"/>
              </a:rPr>
              <a:t>Project Repository:</a:t>
            </a:r>
            <a:r>
              <a:rPr lang="en-US" sz="1500" dirty="0">
                <a:solidFill>
                  <a:srgbClr val="1F2937"/>
                </a:solidFill>
                <a:latin typeface="Times New Roman" panose="02020603050405020304" pitchFamily="18" charset="0"/>
                <a:ea typeface="Sorts Mill Goudy" pitchFamily="34" charset="-122"/>
                <a:cs typeface="Times New Roman" panose="02020603050405020304" pitchFamily="18" charset="0"/>
              </a:rPr>
              <a:t> </a:t>
            </a:r>
            <a:r>
              <a:rPr lang="en-US" altLang="zh-CN" sz="1600" dirty="0">
                <a:latin typeface="Times New Roman" panose="02020603050405020304" pitchFamily="18" charset="0"/>
                <a:cs typeface="Times New Roman" panose="02020603050405020304" pitchFamily="18" charset="0"/>
                <a:hlinkClick r:id="rId5"/>
              </a:rPr>
              <a:t>https://github.com/pary666/comp7940-group</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28C6476-10E0-978D-5B45-F077F0247A5E}"/>
            </a:ext>
          </a:extLst>
        </p:cNvPr>
        <p:cNvGrpSpPr/>
        <p:nvPr/>
      </p:nvGrpSpPr>
      <p:grpSpPr>
        <a:xfrm>
          <a:off x="0" y="0"/>
          <a:ext cx="0" cy="0"/>
          <a:chOff x="0" y="0"/>
          <a:chExt cx="0" cy="0"/>
        </a:xfrm>
      </p:grpSpPr>
      <p:sp>
        <p:nvSpPr>
          <p:cNvPr id="9" name="Text 0">
            <a:extLst>
              <a:ext uri="{FF2B5EF4-FFF2-40B4-BE49-F238E27FC236}">
                <a16:creationId xmlns:a16="http://schemas.microsoft.com/office/drawing/2014/main" id="{921CC2C4-995E-9803-4900-72C869658BDA}"/>
              </a:ext>
            </a:extLst>
          </p:cNvPr>
          <p:cNvSpPr/>
          <p:nvPr/>
        </p:nvSpPr>
        <p:spPr>
          <a:xfrm>
            <a:off x="381000" y="380999"/>
            <a:ext cx="11515725" cy="449323"/>
          </a:xfrm>
          <a:prstGeom prst="rect">
            <a:avLst/>
          </a:prstGeom>
          <a:noFill/>
          <a:ln/>
        </p:spPr>
        <p:txBody>
          <a:bodyPr wrap="square" lIns="0" tIns="0" rIns="0" bIns="0" rtlCol="0" anchor="ctr"/>
          <a:lstStyle/>
          <a:p>
            <a:pPr algn="just">
              <a:lnSpc>
                <a:spcPct val="130000"/>
              </a:lnSpc>
            </a:pPr>
            <a:r>
              <a:rPr lang="en-US" sz="2400" b="1" kern="0" spc="68" dirty="0">
                <a:solidFill>
                  <a:srgbClr val="8B0000"/>
                </a:solidFill>
                <a:latin typeface="Times New Roman" panose="02020603050405020304" pitchFamily="18" charset="0"/>
                <a:ea typeface="Sorts Mill Goudy" pitchFamily="34" charset="-122"/>
                <a:cs typeface="Times New Roman" panose="02020603050405020304" pitchFamily="18" charset="0"/>
              </a:rPr>
              <a:t>02 / Backend and Database</a:t>
            </a:r>
            <a:endParaRPr lang="en-US" sz="2400" dirty="0">
              <a:latin typeface="Times New Roman" panose="02020603050405020304" pitchFamily="18" charset="0"/>
              <a:cs typeface="Times New Roman" panose="02020603050405020304" pitchFamily="18" charset="0"/>
            </a:endParaRPr>
          </a:p>
        </p:txBody>
      </p:sp>
      <p:sp>
        <p:nvSpPr>
          <p:cNvPr id="13" name="文本框 12">
            <a:extLst>
              <a:ext uri="{FF2B5EF4-FFF2-40B4-BE49-F238E27FC236}">
                <a16:creationId xmlns:a16="http://schemas.microsoft.com/office/drawing/2014/main" id="{FF5D0EEE-28F7-B2CE-097D-763818B6E349}"/>
              </a:ext>
            </a:extLst>
          </p:cNvPr>
          <p:cNvSpPr txBox="1"/>
          <p:nvPr/>
        </p:nvSpPr>
        <p:spPr>
          <a:xfrm>
            <a:off x="9820883" y="-14750"/>
            <a:ext cx="2371117" cy="395749"/>
          </a:xfrm>
          <a:prstGeom prst="rect">
            <a:avLst/>
          </a:prstGeom>
          <a:noFill/>
        </p:spPr>
        <p:txBody>
          <a:bodyPr wrap="square">
            <a:spAutoFit/>
          </a:bodyPr>
          <a:lstStyle/>
          <a:p>
            <a:pPr algn="ctr">
              <a:lnSpc>
                <a:spcPct val="120000"/>
              </a:lnSpc>
            </a:pPr>
            <a:r>
              <a:rPr lang="en-US" altLang="zh-CN" sz="1800" i="1" dirty="0">
                <a:solidFill>
                  <a:schemeClr val="bg1">
                    <a:lumMod val="50000"/>
                  </a:schemeClr>
                </a:solidFill>
                <a:latin typeface="Times New Roman" panose="02020603050405020304" pitchFamily="18" charset="0"/>
                <a:ea typeface="Sorts Mill Goudy" pitchFamily="34" charset="-122"/>
                <a:cs typeface="Times New Roman" panose="02020603050405020304" pitchFamily="18" charset="0"/>
              </a:rPr>
              <a:t>Luo Chenjin-25450476  </a:t>
            </a:r>
          </a:p>
        </p:txBody>
      </p:sp>
      <p:sp>
        <p:nvSpPr>
          <p:cNvPr id="3" name="文本框 2">
            <a:extLst>
              <a:ext uri="{FF2B5EF4-FFF2-40B4-BE49-F238E27FC236}">
                <a16:creationId xmlns:a16="http://schemas.microsoft.com/office/drawing/2014/main" id="{CC2B9DD4-9C59-E602-A182-E33289DD7087}"/>
              </a:ext>
            </a:extLst>
          </p:cNvPr>
          <p:cNvSpPr txBox="1"/>
          <p:nvPr/>
        </p:nvSpPr>
        <p:spPr>
          <a:xfrm>
            <a:off x="381000" y="1026016"/>
            <a:ext cx="5008123" cy="400110"/>
          </a:xfrm>
          <a:prstGeom prst="rect">
            <a:avLst/>
          </a:prstGeom>
          <a:noFill/>
        </p:spPr>
        <p:txBody>
          <a:bodyPr wrap="square">
            <a:spAutoFit/>
          </a:bodyPr>
          <a:lstStyle/>
          <a:p>
            <a:r>
              <a:rPr lang="zh-CN" altLang="en-US" sz="2000" b="1" dirty="0">
                <a:latin typeface="Times New Roman" panose="02020603050405020304" pitchFamily="18" charset="0"/>
                <a:cs typeface="Times New Roman" panose="02020603050405020304" pitchFamily="18" charset="0"/>
              </a:rPr>
              <a:t>Backend </a:t>
            </a:r>
            <a:r>
              <a:rPr lang="en-US" altLang="zh-CN" sz="2000" b="1" dirty="0">
                <a:latin typeface="Times New Roman" panose="02020603050405020304" pitchFamily="18" charset="0"/>
                <a:cs typeface="Times New Roman" panose="02020603050405020304" pitchFamily="18" charset="0"/>
              </a:rPr>
              <a:t>D</a:t>
            </a:r>
            <a:r>
              <a:rPr lang="zh-CN" altLang="en-US" sz="2000" b="1" dirty="0">
                <a:latin typeface="Times New Roman" panose="02020603050405020304" pitchFamily="18" charset="0"/>
                <a:cs typeface="Times New Roman" panose="02020603050405020304" pitchFamily="18" charset="0"/>
              </a:rPr>
              <a:t>esign</a:t>
            </a:r>
            <a:r>
              <a:rPr lang="en-US" altLang="zh-CN" sz="2000" dirty="0">
                <a:latin typeface="Times New Roman" panose="02020603050405020304" pitchFamily="18" charset="0"/>
                <a:cs typeface="Times New Roman" panose="02020603050405020304" pitchFamily="18" charset="0"/>
              </a:rPr>
              <a:t>(chatbot.py + ChatGPT.py)</a:t>
            </a:r>
            <a:endParaRPr lang="zh-CN" altLang="en-US" sz="2000" dirty="0">
              <a:latin typeface="Times New Roman" panose="02020603050405020304" pitchFamily="18" charset="0"/>
              <a:cs typeface="Times New Roman" panose="02020603050405020304" pitchFamily="18" charset="0"/>
            </a:endParaRPr>
          </a:p>
        </p:txBody>
      </p:sp>
      <p:sp>
        <p:nvSpPr>
          <p:cNvPr id="7" name="文本框 6">
            <a:extLst>
              <a:ext uri="{FF2B5EF4-FFF2-40B4-BE49-F238E27FC236}">
                <a16:creationId xmlns:a16="http://schemas.microsoft.com/office/drawing/2014/main" id="{4AA4ACFC-F060-6DB1-5E34-4BA9D8117BD0}"/>
              </a:ext>
            </a:extLst>
          </p:cNvPr>
          <p:cNvSpPr txBox="1"/>
          <p:nvPr/>
        </p:nvSpPr>
        <p:spPr>
          <a:xfrm>
            <a:off x="100357" y="1451003"/>
            <a:ext cx="7471251" cy="923330"/>
          </a:xfrm>
          <a:prstGeom prst="rect">
            <a:avLst/>
          </a:prstGeom>
          <a:noFill/>
        </p:spPr>
        <p:txBody>
          <a:bodyPr wrap="square">
            <a:spAutoFit/>
          </a:bodyPr>
          <a:lstStyle/>
          <a:p>
            <a:pPr algn="just"/>
            <a:r>
              <a:rPr lang="zh-CN" altLang="en-US" dirty="0">
                <a:latin typeface="Times New Roman" panose="02020603050405020304" pitchFamily="18" charset="0"/>
                <a:cs typeface="Times New Roman" panose="02020603050405020304" pitchFamily="18" charset="0"/>
              </a:rPr>
              <a:t>The backend of this system is implemented in Python and serves as the core control module of the entire chatbot, responsible for handling user requests and coordinating various functional components. </a:t>
            </a:r>
          </a:p>
        </p:txBody>
      </p:sp>
      <p:sp>
        <p:nvSpPr>
          <p:cNvPr id="11" name="文本框 10">
            <a:extLst>
              <a:ext uri="{FF2B5EF4-FFF2-40B4-BE49-F238E27FC236}">
                <a16:creationId xmlns:a16="http://schemas.microsoft.com/office/drawing/2014/main" id="{69F78B30-9C04-A0F5-7EE0-C760FA7D2E29}"/>
              </a:ext>
            </a:extLst>
          </p:cNvPr>
          <p:cNvSpPr txBox="1"/>
          <p:nvPr/>
        </p:nvSpPr>
        <p:spPr>
          <a:xfrm>
            <a:off x="8778807" y="6136403"/>
            <a:ext cx="2084151" cy="307777"/>
          </a:xfrm>
          <a:prstGeom prst="rect">
            <a:avLst/>
          </a:prstGeom>
          <a:noFill/>
        </p:spPr>
        <p:txBody>
          <a:bodyPr wrap="square">
            <a:spAutoFit/>
          </a:bodyPr>
          <a:lstStyle/>
          <a:p>
            <a:r>
              <a:rPr lang="en-US" altLang="zh-CN" sz="1400" i="1" dirty="0">
                <a:effectLst/>
                <a:latin typeface="Times New Roman" panose="02020603050405020304" pitchFamily="18" charset="0"/>
                <a:ea typeface="等线" panose="02010600030101010101" pitchFamily="2" charset="-122"/>
              </a:rPr>
              <a:t>Bot Chat Log on Telegram</a:t>
            </a:r>
            <a:endParaRPr lang="zh-CN" altLang="en-US" sz="1400" i="1" dirty="0"/>
          </a:p>
        </p:txBody>
      </p:sp>
      <p:sp>
        <p:nvSpPr>
          <p:cNvPr id="17" name="文本框 16">
            <a:extLst>
              <a:ext uri="{FF2B5EF4-FFF2-40B4-BE49-F238E27FC236}">
                <a16:creationId xmlns:a16="http://schemas.microsoft.com/office/drawing/2014/main" id="{1D22F82D-26FB-89FD-287A-94A9A70D3CDA}"/>
              </a:ext>
            </a:extLst>
          </p:cNvPr>
          <p:cNvSpPr txBox="1"/>
          <p:nvPr/>
        </p:nvSpPr>
        <p:spPr>
          <a:xfrm>
            <a:off x="100357" y="2380876"/>
            <a:ext cx="7531236" cy="1477328"/>
          </a:xfrm>
          <a:prstGeom prst="rect">
            <a:avLst/>
          </a:prstGeom>
          <a:noFill/>
        </p:spPr>
        <p:txBody>
          <a:bodyPr wrap="square">
            <a:spAutoFit/>
          </a:bodyPr>
          <a:lstStyle/>
          <a:p>
            <a:pPr algn="just"/>
            <a:r>
              <a:rPr lang="zh-CN" altLang="en-US" dirty="0">
                <a:latin typeface="Times New Roman" panose="02020603050405020304" pitchFamily="18" charset="0"/>
                <a:cs typeface="Times New Roman" panose="02020603050405020304" pitchFamily="18" charset="0"/>
              </a:rPr>
              <a:t>During the processing flow, the backend first parses and evaluates the user input, then constructs the appropriate request content, and calls the </a:t>
            </a:r>
            <a:r>
              <a:rPr lang="zh-CN" altLang="en-US" b="1" dirty="0">
                <a:solidFill>
                  <a:srgbClr val="C00000"/>
                </a:solidFill>
                <a:latin typeface="Times New Roman" panose="02020603050405020304" pitchFamily="18" charset="0"/>
                <a:cs typeface="Times New Roman" panose="02020603050405020304" pitchFamily="18" charset="0"/>
              </a:rPr>
              <a:t>HKBU LLM API </a:t>
            </a:r>
            <a:r>
              <a:rPr lang="zh-CN" altLang="en-US" dirty="0">
                <a:latin typeface="Times New Roman" panose="02020603050405020304" pitchFamily="18" charset="0"/>
                <a:cs typeface="Times New Roman" panose="02020603050405020304" pitchFamily="18" charset="0"/>
              </a:rPr>
              <a:t>to generate the response result. By setting a unified system role and interaction method, the model can provide clear and contextually appropriate responses in the form of a "learning assistant". </a:t>
            </a:r>
          </a:p>
        </p:txBody>
      </p:sp>
      <p:sp>
        <p:nvSpPr>
          <p:cNvPr id="19" name="文本框 18">
            <a:extLst>
              <a:ext uri="{FF2B5EF4-FFF2-40B4-BE49-F238E27FC236}">
                <a16:creationId xmlns:a16="http://schemas.microsoft.com/office/drawing/2014/main" id="{1B04B5DA-03B6-11EC-AAA8-28EAA3C96304}"/>
              </a:ext>
            </a:extLst>
          </p:cNvPr>
          <p:cNvSpPr txBox="1"/>
          <p:nvPr/>
        </p:nvSpPr>
        <p:spPr>
          <a:xfrm>
            <a:off x="109520" y="3847230"/>
            <a:ext cx="7531236" cy="1200329"/>
          </a:xfrm>
          <a:prstGeom prst="rect">
            <a:avLst/>
          </a:prstGeom>
          <a:noFill/>
        </p:spPr>
        <p:txBody>
          <a:bodyPr wrap="square">
            <a:spAutoFit/>
          </a:bodyPr>
          <a:lstStyle/>
          <a:p>
            <a:pPr algn="just"/>
            <a:r>
              <a:rPr lang="zh-CN" altLang="en-US" dirty="0">
                <a:latin typeface="Times New Roman" panose="02020603050405020304" pitchFamily="18" charset="0"/>
                <a:cs typeface="Times New Roman" panose="02020603050405020304" pitchFamily="18" charset="0"/>
              </a:rPr>
              <a:t>Furthermore, the backend also implements various functional modules, including </a:t>
            </a:r>
            <a:r>
              <a:rPr lang="zh-CN" altLang="en-US" b="1" dirty="0">
                <a:solidFill>
                  <a:srgbClr val="C00000"/>
                </a:solidFill>
                <a:latin typeface="Times New Roman" panose="02020603050405020304" pitchFamily="18" charset="0"/>
                <a:cs typeface="Times New Roman" panose="02020603050405020304" pitchFamily="18" charset="0"/>
              </a:rPr>
              <a:t>intelligent question answering</a:t>
            </a:r>
            <a:r>
              <a:rPr lang="zh-CN" altLang="en-US" dirty="0">
                <a:latin typeface="Times New Roman" panose="02020603050405020304" pitchFamily="18" charset="0"/>
                <a:cs typeface="Times New Roman" panose="02020603050405020304" pitchFamily="18" charset="0"/>
              </a:rPr>
              <a:t>, </a:t>
            </a:r>
            <a:r>
              <a:rPr lang="en-US" altLang="zh-CN" b="1" dirty="0">
                <a:solidFill>
                  <a:srgbClr val="C00000"/>
                </a:solidFill>
                <a:latin typeface="Times New Roman" panose="02020603050405020304" pitchFamily="18" charset="0"/>
                <a:cs typeface="Times New Roman" panose="02020603050405020304" pitchFamily="18" charset="0"/>
              </a:rPr>
              <a:t>learning </a:t>
            </a:r>
            <a:r>
              <a:rPr lang="zh-CN" altLang="en-US" b="1" dirty="0">
                <a:solidFill>
                  <a:srgbClr val="C00000"/>
                </a:solidFill>
                <a:latin typeface="Times New Roman" panose="02020603050405020304" pitchFamily="18" charset="0"/>
                <a:cs typeface="Times New Roman" panose="02020603050405020304" pitchFamily="18" charset="0"/>
              </a:rPr>
              <a:t>interest recognition and processing</a:t>
            </a:r>
            <a:r>
              <a:rPr lang="zh-CN" altLang="en-US" dirty="0">
                <a:latin typeface="Times New Roman" panose="02020603050405020304" pitchFamily="18" charset="0"/>
                <a:cs typeface="Times New Roman" panose="02020603050405020304" pitchFamily="18" charset="0"/>
              </a:rPr>
              <a:t>, as well as a </a:t>
            </a:r>
            <a:r>
              <a:rPr lang="en-US" altLang="zh-CN" b="1" dirty="0">
                <a:solidFill>
                  <a:srgbClr val="C00000"/>
                </a:solidFill>
                <a:latin typeface="Times New Roman" panose="02020603050405020304" pitchFamily="18" charset="0"/>
                <a:cs typeface="Times New Roman" panose="02020603050405020304" pitchFamily="18" charset="0"/>
              </a:rPr>
              <a:t>event </a:t>
            </a:r>
            <a:r>
              <a:rPr lang="zh-CN" altLang="en-US" b="1" dirty="0">
                <a:solidFill>
                  <a:srgbClr val="C00000"/>
                </a:solidFill>
                <a:latin typeface="Times New Roman" panose="02020603050405020304" pitchFamily="18" charset="0"/>
                <a:cs typeface="Times New Roman" panose="02020603050405020304" pitchFamily="18" charset="0"/>
              </a:rPr>
              <a:t>recommendation </a:t>
            </a:r>
            <a:r>
              <a:rPr lang="zh-CN" altLang="en-US" dirty="0">
                <a:latin typeface="Times New Roman" panose="02020603050405020304" pitchFamily="18" charset="0"/>
                <a:cs typeface="Times New Roman" panose="02020603050405020304" pitchFamily="18" charset="0"/>
              </a:rPr>
              <a:t>mechanism based on user </a:t>
            </a:r>
            <a:r>
              <a:rPr lang="en-US" altLang="zh-CN" dirty="0">
                <a:latin typeface="Times New Roman" panose="02020603050405020304" pitchFamily="18" charset="0"/>
                <a:cs typeface="Times New Roman" panose="02020603050405020304" pitchFamily="18" charset="0"/>
              </a:rPr>
              <a:t>interest</a:t>
            </a:r>
            <a:r>
              <a:rPr lang="zh-CN" altLang="en-US" dirty="0">
                <a:latin typeface="Times New Roman" panose="02020603050405020304" pitchFamily="18" charset="0"/>
                <a:cs typeface="Times New Roman" panose="02020603050405020304" pitchFamily="18" charset="0"/>
              </a:rPr>
              <a:t>.</a:t>
            </a:r>
          </a:p>
        </p:txBody>
      </p:sp>
      <p:grpSp>
        <p:nvGrpSpPr>
          <p:cNvPr id="35" name="组合 34">
            <a:extLst>
              <a:ext uri="{FF2B5EF4-FFF2-40B4-BE49-F238E27FC236}">
                <a16:creationId xmlns:a16="http://schemas.microsoft.com/office/drawing/2014/main" id="{484E3056-8553-24DF-2D1E-27FB67335C1C}"/>
              </a:ext>
            </a:extLst>
          </p:cNvPr>
          <p:cNvGrpSpPr/>
          <p:nvPr/>
        </p:nvGrpSpPr>
        <p:grpSpPr>
          <a:xfrm>
            <a:off x="1000580" y="5345485"/>
            <a:ext cx="6352057" cy="1465170"/>
            <a:chOff x="380999" y="5081545"/>
            <a:chExt cx="6352057" cy="1465170"/>
          </a:xfrm>
        </p:grpSpPr>
        <p:sp>
          <p:nvSpPr>
            <p:cNvPr id="34" name="矩形: 圆角 33">
              <a:extLst>
                <a:ext uri="{FF2B5EF4-FFF2-40B4-BE49-F238E27FC236}">
                  <a16:creationId xmlns:a16="http://schemas.microsoft.com/office/drawing/2014/main" id="{866AD9EE-10BF-837F-37FF-7BC9C2C8A939}"/>
                </a:ext>
              </a:extLst>
            </p:cNvPr>
            <p:cNvSpPr/>
            <p:nvPr/>
          </p:nvSpPr>
          <p:spPr>
            <a:xfrm>
              <a:off x="380999" y="5081545"/>
              <a:ext cx="6352057" cy="1465170"/>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grpSp>
          <p:nvGrpSpPr>
            <p:cNvPr id="30" name="组合 29">
              <a:extLst>
                <a:ext uri="{FF2B5EF4-FFF2-40B4-BE49-F238E27FC236}">
                  <a16:creationId xmlns:a16="http://schemas.microsoft.com/office/drawing/2014/main" id="{B6DBE99A-8623-AE09-5D09-33558318A24E}"/>
                </a:ext>
              </a:extLst>
            </p:cNvPr>
            <p:cNvGrpSpPr/>
            <p:nvPr/>
          </p:nvGrpSpPr>
          <p:grpSpPr>
            <a:xfrm>
              <a:off x="440984" y="5213883"/>
              <a:ext cx="6292072" cy="1201175"/>
              <a:chOff x="321112" y="5113733"/>
              <a:chExt cx="6292072" cy="1201175"/>
            </a:xfrm>
          </p:grpSpPr>
          <p:grpSp>
            <p:nvGrpSpPr>
              <p:cNvPr id="20" name="组合 19">
                <a:extLst>
                  <a:ext uri="{FF2B5EF4-FFF2-40B4-BE49-F238E27FC236}">
                    <a16:creationId xmlns:a16="http://schemas.microsoft.com/office/drawing/2014/main" id="{3F94F593-F7EF-EA15-E102-F6A4BA817484}"/>
                  </a:ext>
                </a:extLst>
              </p:cNvPr>
              <p:cNvGrpSpPr/>
              <p:nvPr/>
            </p:nvGrpSpPr>
            <p:grpSpPr>
              <a:xfrm>
                <a:off x="440984" y="5155722"/>
                <a:ext cx="6157912" cy="304800"/>
                <a:chOff x="661988" y="1793081"/>
                <a:chExt cx="6157912" cy="304800"/>
              </a:xfrm>
            </p:grpSpPr>
            <p:sp>
              <p:nvSpPr>
                <p:cNvPr id="21" name="Shape 4">
                  <a:extLst>
                    <a:ext uri="{FF2B5EF4-FFF2-40B4-BE49-F238E27FC236}">
                      <a16:creationId xmlns:a16="http://schemas.microsoft.com/office/drawing/2014/main" id="{401F4E9A-E323-7004-1B14-F650E2E46EBA}"/>
                    </a:ext>
                  </a:extLst>
                </p:cNvPr>
                <p:cNvSpPr/>
                <p:nvPr/>
              </p:nvSpPr>
              <p:spPr>
                <a:xfrm>
                  <a:off x="661988" y="1831181"/>
                  <a:ext cx="257175" cy="228600"/>
                </a:xfrm>
                <a:custGeom>
                  <a:avLst/>
                  <a:gdLst/>
                  <a:ahLst/>
                  <a:cxnLst/>
                  <a:rect l="l" t="t" r="r" b="b"/>
                  <a:pathLst>
                    <a:path w="257175" h="228600">
                      <a:moveTo>
                        <a:pt x="171450" y="64294"/>
                      </a:moveTo>
                      <a:cubicBezTo>
                        <a:pt x="171450" y="107692"/>
                        <a:pt x="133052" y="142875"/>
                        <a:pt x="85725" y="142875"/>
                      </a:cubicBezTo>
                      <a:cubicBezTo>
                        <a:pt x="73804" y="142875"/>
                        <a:pt x="62463" y="140643"/>
                        <a:pt x="52149" y="136624"/>
                      </a:cubicBezTo>
                      <a:lnTo>
                        <a:pt x="15716" y="155912"/>
                      </a:lnTo>
                      <a:cubicBezTo>
                        <a:pt x="11564" y="158100"/>
                        <a:pt x="6474" y="157341"/>
                        <a:pt x="3125" y="154037"/>
                      </a:cubicBezTo>
                      <a:cubicBezTo>
                        <a:pt x="-223" y="150733"/>
                        <a:pt x="-982" y="145599"/>
                        <a:pt x="1250" y="141446"/>
                      </a:cubicBezTo>
                      <a:lnTo>
                        <a:pt x="17145" y="111443"/>
                      </a:lnTo>
                      <a:cubicBezTo>
                        <a:pt x="6385" y="98316"/>
                        <a:pt x="0" y="81975"/>
                        <a:pt x="0" y="64294"/>
                      </a:cubicBezTo>
                      <a:cubicBezTo>
                        <a:pt x="0" y="20895"/>
                        <a:pt x="38398" y="-14287"/>
                        <a:pt x="85725" y="-14287"/>
                      </a:cubicBezTo>
                      <a:cubicBezTo>
                        <a:pt x="133052" y="-14287"/>
                        <a:pt x="171450" y="20895"/>
                        <a:pt x="171450" y="64294"/>
                      </a:cubicBezTo>
                      <a:close/>
                      <a:moveTo>
                        <a:pt x="171450" y="228600"/>
                      </a:moveTo>
                      <a:cubicBezTo>
                        <a:pt x="129436" y="228600"/>
                        <a:pt x="94476" y="200873"/>
                        <a:pt x="87154" y="164306"/>
                      </a:cubicBezTo>
                      <a:cubicBezTo>
                        <a:pt x="140732" y="163637"/>
                        <a:pt x="187300" y="125507"/>
                        <a:pt x="192435" y="73804"/>
                      </a:cubicBezTo>
                      <a:cubicBezTo>
                        <a:pt x="229627" y="82376"/>
                        <a:pt x="257175" y="113228"/>
                        <a:pt x="257175" y="150019"/>
                      </a:cubicBezTo>
                      <a:cubicBezTo>
                        <a:pt x="257175" y="167700"/>
                        <a:pt x="250790" y="184041"/>
                        <a:pt x="240030" y="197168"/>
                      </a:cubicBezTo>
                      <a:lnTo>
                        <a:pt x="255925" y="227171"/>
                      </a:lnTo>
                      <a:cubicBezTo>
                        <a:pt x="258113" y="231324"/>
                        <a:pt x="257354" y="236413"/>
                        <a:pt x="254050" y="239762"/>
                      </a:cubicBezTo>
                      <a:cubicBezTo>
                        <a:pt x="250746" y="243111"/>
                        <a:pt x="245611" y="243870"/>
                        <a:pt x="241459" y="241637"/>
                      </a:cubicBezTo>
                      <a:lnTo>
                        <a:pt x="205026" y="222349"/>
                      </a:lnTo>
                      <a:cubicBezTo>
                        <a:pt x="194712" y="226368"/>
                        <a:pt x="183371" y="228600"/>
                        <a:pt x="171450" y="228600"/>
                      </a:cubicBezTo>
                      <a:close/>
                    </a:path>
                  </a:pathLst>
                </a:custGeom>
                <a:solidFill>
                  <a:srgbClr val="8B0000"/>
                </a:solidFill>
                <a:ln/>
              </p:spPr>
            </p:sp>
            <p:sp>
              <p:nvSpPr>
                <p:cNvPr id="22" name="Text 5">
                  <a:extLst>
                    <a:ext uri="{FF2B5EF4-FFF2-40B4-BE49-F238E27FC236}">
                      <a16:creationId xmlns:a16="http://schemas.microsoft.com/office/drawing/2014/main" id="{3DA23FA6-7C1B-7F43-13A1-BE677E6BE64C}"/>
                    </a:ext>
                  </a:extLst>
                </p:cNvPr>
                <p:cNvSpPr/>
                <p:nvPr/>
              </p:nvSpPr>
              <p:spPr>
                <a:xfrm>
                  <a:off x="933450" y="1793081"/>
                  <a:ext cx="5886450" cy="304800"/>
                </a:xfrm>
                <a:prstGeom prst="rect">
                  <a:avLst/>
                </a:prstGeom>
                <a:noFill/>
                <a:ln/>
              </p:spPr>
              <p:txBody>
                <a:bodyPr wrap="square" lIns="0" tIns="0" rIns="0" bIns="0" rtlCol="0" anchor="ctr"/>
                <a:lstStyle/>
                <a:p>
                  <a:pPr>
                    <a:lnSpc>
                      <a:spcPct val="110000"/>
                    </a:lnSpc>
                  </a:pPr>
                  <a:r>
                    <a:rPr lang="en-US" sz="1800" b="1" dirty="0">
                      <a:solidFill>
                        <a:srgbClr val="1F2937"/>
                      </a:solidFill>
                      <a:latin typeface="Times New Roman" panose="02020603050405020304" pitchFamily="18" charset="0"/>
                      <a:ea typeface="Sorts Mill Goudy" pitchFamily="34" charset="-122"/>
                      <a:cs typeface="Times New Roman" panose="02020603050405020304" pitchFamily="18" charset="0"/>
                    </a:rPr>
                    <a:t>Intelligent Conversations</a:t>
                  </a:r>
                  <a:endParaRPr lang="en-US" sz="1600" dirty="0">
                    <a:latin typeface="Times New Roman" panose="02020603050405020304" pitchFamily="18" charset="0"/>
                    <a:cs typeface="Times New Roman" panose="02020603050405020304" pitchFamily="18" charset="0"/>
                  </a:endParaRPr>
                </a:p>
              </p:txBody>
            </p:sp>
          </p:grpSp>
          <p:grpSp>
            <p:nvGrpSpPr>
              <p:cNvPr id="23" name="组合 22">
                <a:extLst>
                  <a:ext uri="{FF2B5EF4-FFF2-40B4-BE49-F238E27FC236}">
                    <a16:creationId xmlns:a16="http://schemas.microsoft.com/office/drawing/2014/main" id="{C603AC2D-FC82-577D-A4F0-3034474C07BC}"/>
                  </a:ext>
                </a:extLst>
              </p:cNvPr>
              <p:cNvGrpSpPr/>
              <p:nvPr/>
            </p:nvGrpSpPr>
            <p:grpSpPr>
              <a:xfrm>
                <a:off x="440984" y="5547771"/>
                <a:ext cx="6172200" cy="304800"/>
                <a:chOff x="647700" y="3455194"/>
                <a:chExt cx="6172200" cy="304800"/>
              </a:xfrm>
            </p:grpSpPr>
            <p:sp>
              <p:nvSpPr>
                <p:cNvPr id="24" name="Shape 9">
                  <a:extLst>
                    <a:ext uri="{FF2B5EF4-FFF2-40B4-BE49-F238E27FC236}">
                      <a16:creationId xmlns:a16="http://schemas.microsoft.com/office/drawing/2014/main" id="{E9C32648-13AA-DE18-56D5-9134E44CD661}"/>
                    </a:ext>
                  </a:extLst>
                </p:cNvPr>
                <p:cNvSpPr/>
                <p:nvPr/>
              </p:nvSpPr>
              <p:spPr>
                <a:xfrm>
                  <a:off x="647700" y="3493294"/>
                  <a:ext cx="285750" cy="228600"/>
                </a:xfrm>
                <a:custGeom>
                  <a:avLst/>
                  <a:gdLst/>
                  <a:ahLst/>
                  <a:cxnLst/>
                  <a:rect l="l" t="t" r="r" b="b"/>
                  <a:pathLst>
                    <a:path w="285750" h="228600">
                      <a:moveTo>
                        <a:pt x="142875" y="7144"/>
                      </a:moveTo>
                      <a:cubicBezTo>
                        <a:pt x="168503" y="7144"/>
                        <a:pt x="189309" y="27950"/>
                        <a:pt x="189309" y="53578"/>
                      </a:cubicBezTo>
                      <a:cubicBezTo>
                        <a:pt x="189309" y="79206"/>
                        <a:pt x="168503" y="100013"/>
                        <a:pt x="142875" y="100013"/>
                      </a:cubicBezTo>
                      <a:cubicBezTo>
                        <a:pt x="117247" y="100013"/>
                        <a:pt x="96441" y="79206"/>
                        <a:pt x="96441" y="53578"/>
                      </a:cubicBezTo>
                      <a:cubicBezTo>
                        <a:pt x="96441" y="27950"/>
                        <a:pt x="117247" y="7144"/>
                        <a:pt x="142875" y="7144"/>
                      </a:cubicBezTo>
                      <a:close/>
                      <a:moveTo>
                        <a:pt x="42863" y="39291"/>
                      </a:moveTo>
                      <a:cubicBezTo>
                        <a:pt x="60605" y="39291"/>
                        <a:pt x="75009" y="53695"/>
                        <a:pt x="75009" y="71438"/>
                      </a:cubicBezTo>
                      <a:cubicBezTo>
                        <a:pt x="75009" y="89180"/>
                        <a:pt x="60605" y="103584"/>
                        <a:pt x="42863" y="103584"/>
                      </a:cubicBezTo>
                      <a:cubicBezTo>
                        <a:pt x="25120" y="103584"/>
                        <a:pt x="10716" y="89180"/>
                        <a:pt x="10716" y="71438"/>
                      </a:cubicBezTo>
                      <a:cubicBezTo>
                        <a:pt x="10716" y="53695"/>
                        <a:pt x="25120" y="39291"/>
                        <a:pt x="42862" y="39291"/>
                      </a:cubicBezTo>
                      <a:close/>
                      <a:moveTo>
                        <a:pt x="0" y="185738"/>
                      </a:moveTo>
                      <a:cubicBezTo>
                        <a:pt x="0" y="154171"/>
                        <a:pt x="25584" y="128588"/>
                        <a:pt x="57150" y="128588"/>
                      </a:cubicBezTo>
                      <a:cubicBezTo>
                        <a:pt x="62865" y="128588"/>
                        <a:pt x="68401" y="129436"/>
                        <a:pt x="73625" y="130999"/>
                      </a:cubicBezTo>
                      <a:cubicBezTo>
                        <a:pt x="58936" y="147429"/>
                        <a:pt x="50006" y="169128"/>
                        <a:pt x="50006" y="192881"/>
                      </a:cubicBezTo>
                      <a:lnTo>
                        <a:pt x="50006" y="200025"/>
                      </a:lnTo>
                      <a:cubicBezTo>
                        <a:pt x="50006" y="205115"/>
                        <a:pt x="51078" y="209937"/>
                        <a:pt x="52998" y="214313"/>
                      </a:cubicBezTo>
                      <a:lnTo>
                        <a:pt x="14288" y="214313"/>
                      </a:lnTo>
                      <a:cubicBezTo>
                        <a:pt x="6385" y="214313"/>
                        <a:pt x="0" y="207928"/>
                        <a:pt x="0" y="200025"/>
                      </a:cubicBezTo>
                      <a:lnTo>
                        <a:pt x="0" y="185738"/>
                      </a:lnTo>
                      <a:close/>
                      <a:moveTo>
                        <a:pt x="232752" y="214313"/>
                      </a:moveTo>
                      <a:cubicBezTo>
                        <a:pt x="234672" y="209937"/>
                        <a:pt x="235744" y="205115"/>
                        <a:pt x="235744" y="200025"/>
                      </a:cubicBezTo>
                      <a:lnTo>
                        <a:pt x="235744" y="192881"/>
                      </a:lnTo>
                      <a:cubicBezTo>
                        <a:pt x="235744" y="169128"/>
                        <a:pt x="226814" y="147429"/>
                        <a:pt x="212125" y="130999"/>
                      </a:cubicBezTo>
                      <a:cubicBezTo>
                        <a:pt x="217349" y="129436"/>
                        <a:pt x="222885" y="128588"/>
                        <a:pt x="228600" y="128588"/>
                      </a:cubicBezTo>
                      <a:cubicBezTo>
                        <a:pt x="260166" y="128588"/>
                        <a:pt x="285750" y="154171"/>
                        <a:pt x="285750" y="185738"/>
                      </a:cubicBezTo>
                      <a:lnTo>
                        <a:pt x="285750" y="200025"/>
                      </a:lnTo>
                      <a:cubicBezTo>
                        <a:pt x="285750" y="207928"/>
                        <a:pt x="279365" y="214313"/>
                        <a:pt x="271463" y="214313"/>
                      </a:cubicBezTo>
                      <a:lnTo>
                        <a:pt x="232752" y="214313"/>
                      </a:lnTo>
                      <a:close/>
                      <a:moveTo>
                        <a:pt x="210741" y="71438"/>
                      </a:moveTo>
                      <a:cubicBezTo>
                        <a:pt x="210741" y="53695"/>
                        <a:pt x="225145" y="39291"/>
                        <a:pt x="242888" y="39291"/>
                      </a:cubicBezTo>
                      <a:cubicBezTo>
                        <a:pt x="260630" y="39291"/>
                        <a:pt x="275034" y="53695"/>
                        <a:pt x="275034" y="71437"/>
                      </a:cubicBezTo>
                      <a:cubicBezTo>
                        <a:pt x="275034" y="89180"/>
                        <a:pt x="260630" y="103584"/>
                        <a:pt x="242888" y="103584"/>
                      </a:cubicBezTo>
                      <a:cubicBezTo>
                        <a:pt x="225145" y="103584"/>
                        <a:pt x="210741" y="89180"/>
                        <a:pt x="210741" y="71438"/>
                      </a:cubicBezTo>
                      <a:close/>
                      <a:moveTo>
                        <a:pt x="71438" y="192881"/>
                      </a:moveTo>
                      <a:cubicBezTo>
                        <a:pt x="71438" y="153412"/>
                        <a:pt x="103406" y="121444"/>
                        <a:pt x="142875" y="121444"/>
                      </a:cubicBezTo>
                      <a:cubicBezTo>
                        <a:pt x="182344" y="121444"/>
                        <a:pt x="214313" y="153412"/>
                        <a:pt x="214313" y="192881"/>
                      </a:cubicBezTo>
                      <a:lnTo>
                        <a:pt x="214313" y="200025"/>
                      </a:lnTo>
                      <a:cubicBezTo>
                        <a:pt x="214313" y="207928"/>
                        <a:pt x="207928" y="214313"/>
                        <a:pt x="200025" y="214313"/>
                      </a:cubicBezTo>
                      <a:lnTo>
                        <a:pt x="85725" y="214313"/>
                      </a:lnTo>
                      <a:cubicBezTo>
                        <a:pt x="77822" y="214313"/>
                        <a:pt x="71438" y="207928"/>
                        <a:pt x="71438" y="200025"/>
                      </a:cubicBezTo>
                      <a:lnTo>
                        <a:pt x="71438" y="192881"/>
                      </a:lnTo>
                      <a:close/>
                    </a:path>
                  </a:pathLst>
                </a:custGeom>
                <a:solidFill>
                  <a:srgbClr val="8B0000"/>
                </a:solidFill>
                <a:ln/>
              </p:spPr>
            </p:sp>
            <p:sp>
              <p:nvSpPr>
                <p:cNvPr id="25" name="Text 10">
                  <a:extLst>
                    <a:ext uri="{FF2B5EF4-FFF2-40B4-BE49-F238E27FC236}">
                      <a16:creationId xmlns:a16="http://schemas.microsoft.com/office/drawing/2014/main" id="{1CFF0F76-D393-3360-EDF2-86095805A807}"/>
                    </a:ext>
                  </a:extLst>
                </p:cNvPr>
                <p:cNvSpPr/>
                <p:nvPr/>
              </p:nvSpPr>
              <p:spPr>
                <a:xfrm>
                  <a:off x="933450" y="3455194"/>
                  <a:ext cx="5886450" cy="304800"/>
                </a:xfrm>
                <a:prstGeom prst="rect">
                  <a:avLst/>
                </a:prstGeom>
                <a:noFill/>
                <a:ln/>
              </p:spPr>
              <p:txBody>
                <a:bodyPr wrap="square" lIns="0" tIns="0" rIns="0" bIns="0" rtlCol="0" anchor="ctr"/>
                <a:lstStyle/>
                <a:p>
                  <a:pPr>
                    <a:lnSpc>
                      <a:spcPct val="110000"/>
                    </a:lnSpc>
                  </a:pPr>
                  <a:r>
                    <a:rPr lang="en-US" sz="1800" b="1" dirty="0">
                      <a:solidFill>
                        <a:srgbClr val="1F2937"/>
                      </a:solidFill>
                      <a:latin typeface="Times New Roman" panose="02020603050405020304" pitchFamily="18" charset="0"/>
                      <a:ea typeface="Sorts Mill Goudy" pitchFamily="34" charset="-122"/>
                      <a:cs typeface="Times New Roman" panose="02020603050405020304" pitchFamily="18" charset="0"/>
                    </a:rPr>
                    <a:t>Interest Input and Matching</a:t>
                  </a:r>
                  <a:endParaRPr lang="en-US" sz="1600" dirty="0">
                    <a:latin typeface="Times New Roman" panose="02020603050405020304" pitchFamily="18" charset="0"/>
                    <a:cs typeface="Times New Roman" panose="02020603050405020304" pitchFamily="18" charset="0"/>
                  </a:endParaRPr>
                </a:p>
              </p:txBody>
            </p:sp>
          </p:grpSp>
          <p:grpSp>
            <p:nvGrpSpPr>
              <p:cNvPr id="26" name="组合 25">
                <a:extLst>
                  <a:ext uri="{FF2B5EF4-FFF2-40B4-BE49-F238E27FC236}">
                    <a16:creationId xmlns:a16="http://schemas.microsoft.com/office/drawing/2014/main" id="{B049E4E1-0251-ADA1-6D08-6743F568243E}"/>
                  </a:ext>
                </a:extLst>
              </p:cNvPr>
              <p:cNvGrpSpPr/>
              <p:nvPr/>
            </p:nvGrpSpPr>
            <p:grpSpPr>
              <a:xfrm>
                <a:off x="440984" y="5977920"/>
                <a:ext cx="6129337" cy="304800"/>
                <a:chOff x="690563" y="5117306"/>
                <a:chExt cx="6129337" cy="304800"/>
              </a:xfrm>
            </p:grpSpPr>
            <p:sp>
              <p:nvSpPr>
                <p:cNvPr id="27" name="Shape 14">
                  <a:extLst>
                    <a:ext uri="{FF2B5EF4-FFF2-40B4-BE49-F238E27FC236}">
                      <a16:creationId xmlns:a16="http://schemas.microsoft.com/office/drawing/2014/main" id="{8BDF2696-FCAA-5370-A294-99DC5341FA9C}"/>
                    </a:ext>
                  </a:extLst>
                </p:cNvPr>
                <p:cNvSpPr/>
                <p:nvPr/>
              </p:nvSpPr>
              <p:spPr>
                <a:xfrm>
                  <a:off x="690563" y="5155406"/>
                  <a:ext cx="200025" cy="228600"/>
                </a:xfrm>
                <a:custGeom>
                  <a:avLst/>
                  <a:gdLst/>
                  <a:ahLst/>
                  <a:cxnLst/>
                  <a:rect l="l" t="t" r="r" b="b"/>
                  <a:pathLst>
                    <a:path w="200025" h="228600">
                      <a:moveTo>
                        <a:pt x="57150" y="0"/>
                      </a:moveTo>
                      <a:cubicBezTo>
                        <a:pt x="65053" y="0"/>
                        <a:pt x="71438" y="6385"/>
                        <a:pt x="71438" y="14288"/>
                      </a:cubicBezTo>
                      <a:lnTo>
                        <a:pt x="71438" y="28575"/>
                      </a:lnTo>
                      <a:lnTo>
                        <a:pt x="128588" y="28575"/>
                      </a:lnTo>
                      <a:lnTo>
                        <a:pt x="128588" y="14288"/>
                      </a:lnTo>
                      <a:cubicBezTo>
                        <a:pt x="128588" y="6385"/>
                        <a:pt x="134972" y="0"/>
                        <a:pt x="142875" y="0"/>
                      </a:cubicBezTo>
                      <a:cubicBezTo>
                        <a:pt x="150778" y="0"/>
                        <a:pt x="157163" y="6385"/>
                        <a:pt x="157163" y="14288"/>
                      </a:cubicBezTo>
                      <a:lnTo>
                        <a:pt x="157163" y="28575"/>
                      </a:lnTo>
                      <a:lnTo>
                        <a:pt x="171450" y="28575"/>
                      </a:lnTo>
                      <a:cubicBezTo>
                        <a:pt x="187211" y="28575"/>
                        <a:pt x="200025" y="41389"/>
                        <a:pt x="200025" y="57150"/>
                      </a:cubicBezTo>
                      <a:lnTo>
                        <a:pt x="200025" y="185738"/>
                      </a:lnTo>
                      <a:cubicBezTo>
                        <a:pt x="200025" y="201498"/>
                        <a:pt x="187211" y="214313"/>
                        <a:pt x="171450" y="214313"/>
                      </a:cubicBezTo>
                      <a:lnTo>
                        <a:pt x="28575" y="214313"/>
                      </a:lnTo>
                      <a:cubicBezTo>
                        <a:pt x="12814" y="214313"/>
                        <a:pt x="0" y="201498"/>
                        <a:pt x="0" y="185738"/>
                      </a:cubicBezTo>
                      <a:lnTo>
                        <a:pt x="0" y="57150"/>
                      </a:lnTo>
                      <a:cubicBezTo>
                        <a:pt x="0" y="41389"/>
                        <a:pt x="12814" y="28575"/>
                        <a:pt x="28575" y="28575"/>
                      </a:cubicBezTo>
                      <a:lnTo>
                        <a:pt x="42863" y="28575"/>
                      </a:lnTo>
                      <a:lnTo>
                        <a:pt x="42863" y="14288"/>
                      </a:lnTo>
                      <a:cubicBezTo>
                        <a:pt x="42863" y="6385"/>
                        <a:pt x="49247" y="0"/>
                        <a:pt x="57150" y="0"/>
                      </a:cubicBezTo>
                      <a:close/>
                      <a:moveTo>
                        <a:pt x="28575" y="107156"/>
                      </a:moveTo>
                      <a:lnTo>
                        <a:pt x="28575" y="121444"/>
                      </a:lnTo>
                      <a:cubicBezTo>
                        <a:pt x="28575" y="125373"/>
                        <a:pt x="31790" y="128588"/>
                        <a:pt x="35719" y="128588"/>
                      </a:cubicBezTo>
                      <a:lnTo>
                        <a:pt x="50006" y="128588"/>
                      </a:lnTo>
                      <a:cubicBezTo>
                        <a:pt x="53935" y="128588"/>
                        <a:pt x="57150" y="125373"/>
                        <a:pt x="57150" y="121444"/>
                      </a:cubicBezTo>
                      <a:lnTo>
                        <a:pt x="57150" y="107156"/>
                      </a:lnTo>
                      <a:cubicBezTo>
                        <a:pt x="57150" y="103227"/>
                        <a:pt x="53935" y="100013"/>
                        <a:pt x="50006" y="100013"/>
                      </a:cubicBezTo>
                      <a:lnTo>
                        <a:pt x="35719" y="100013"/>
                      </a:lnTo>
                      <a:cubicBezTo>
                        <a:pt x="31790" y="100013"/>
                        <a:pt x="28575" y="103227"/>
                        <a:pt x="28575" y="107156"/>
                      </a:cubicBezTo>
                      <a:close/>
                      <a:moveTo>
                        <a:pt x="85725" y="107156"/>
                      </a:moveTo>
                      <a:lnTo>
                        <a:pt x="85725" y="121444"/>
                      </a:lnTo>
                      <a:cubicBezTo>
                        <a:pt x="85725" y="125373"/>
                        <a:pt x="88940" y="128588"/>
                        <a:pt x="92869" y="128588"/>
                      </a:cubicBezTo>
                      <a:lnTo>
                        <a:pt x="107156" y="128588"/>
                      </a:lnTo>
                      <a:cubicBezTo>
                        <a:pt x="111085" y="128588"/>
                        <a:pt x="114300" y="125373"/>
                        <a:pt x="114300" y="121444"/>
                      </a:cubicBezTo>
                      <a:lnTo>
                        <a:pt x="114300" y="107156"/>
                      </a:lnTo>
                      <a:cubicBezTo>
                        <a:pt x="114300" y="103227"/>
                        <a:pt x="111085" y="100013"/>
                        <a:pt x="107156" y="100013"/>
                      </a:cubicBezTo>
                      <a:lnTo>
                        <a:pt x="92869" y="100013"/>
                      </a:lnTo>
                      <a:cubicBezTo>
                        <a:pt x="88940" y="100013"/>
                        <a:pt x="85725" y="103227"/>
                        <a:pt x="85725" y="107156"/>
                      </a:cubicBezTo>
                      <a:close/>
                      <a:moveTo>
                        <a:pt x="150019" y="100013"/>
                      </a:moveTo>
                      <a:cubicBezTo>
                        <a:pt x="146090" y="100013"/>
                        <a:pt x="142875" y="103227"/>
                        <a:pt x="142875" y="107156"/>
                      </a:cubicBezTo>
                      <a:lnTo>
                        <a:pt x="142875" y="121444"/>
                      </a:lnTo>
                      <a:cubicBezTo>
                        <a:pt x="142875" y="125373"/>
                        <a:pt x="146090" y="128588"/>
                        <a:pt x="150019" y="128588"/>
                      </a:cubicBezTo>
                      <a:lnTo>
                        <a:pt x="164306" y="128588"/>
                      </a:lnTo>
                      <a:cubicBezTo>
                        <a:pt x="168235" y="128588"/>
                        <a:pt x="171450" y="125373"/>
                        <a:pt x="171450" y="121444"/>
                      </a:cubicBezTo>
                      <a:lnTo>
                        <a:pt x="171450" y="107156"/>
                      </a:lnTo>
                      <a:cubicBezTo>
                        <a:pt x="171450" y="103227"/>
                        <a:pt x="168235" y="100013"/>
                        <a:pt x="164306" y="100013"/>
                      </a:cubicBezTo>
                      <a:lnTo>
                        <a:pt x="150019" y="100013"/>
                      </a:lnTo>
                      <a:close/>
                      <a:moveTo>
                        <a:pt x="28575" y="164306"/>
                      </a:moveTo>
                      <a:lnTo>
                        <a:pt x="28575" y="178594"/>
                      </a:lnTo>
                      <a:cubicBezTo>
                        <a:pt x="28575" y="182523"/>
                        <a:pt x="31790" y="185738"/>
                        <a:pt x="35719" y="185738"/>
                      </a:cubicBezTo>
                      <a:lnTo>
                        <a:pt x="50006" y="185738"/>
                      </a:lnTo>
                      <a:cubicBezTo>
                        <a:pt x="53935" y="185738"/>
                        <a:pt x="57150" y="182523"/>
                        <a:pt x="57150" y="178594"/>
                      </a:cubicBezTo>
                      <a:lnTo>
                        <a:pt x="57150" y="164306"/>
                      </a:lnTo>
                      <a:cubicBezTo>
                        <a:pt x="57150" y="160377"/>
                        <a:pt x="53935" y="157163"/>
                        <a:pt x="50006" y="157163"/>
                      </a:cubicBezTo>
                      <a:lnTo>
                        <a:pt x="35719" y="157163"/>
                      </a:lnTo>
                      <a:cubicBezTo>
                        <a:pt x="31790" y="157163"/>
                        <a:pt x="28575" y="160377"/>
                        <a:pt x="28575" y="164306"/>
                      </a:cubicBezTo>
                      <a:close/>
                      <a:moveTo>
                        <a:pt x="92869" y="157163"/>
                      </a:moveTo>
                      <a:cubicBezTo>
                        <a:pt x="88940" y="157163"/>
                        <a:pt x="85725" y="160377"/>
                        <a:pt x="85725" y="164306"/>
                      </a:cubicBezTo>
                      <a:lnTo>
                        <a:pt x="85725" y="178594"/>
                      </a:lnTo>
                      <a:cubicBezTo>
                        <a:pt x="85725" y="182523"/>
                        <a:pt x="88940" y="185738"/>
                        <a:pt x="92869" y="185738"/>
                      </a:cubicBezTo>
                      <a:lnTo>
                        <a:pt x="107156" y="185738"/>
                      </a:lnTo>
                      <a:cubicBezTo>
                        <a:pt x="111085" y="185738"/>
                        <a:pt x="114300" y="182523"/>
                        <a:pt x="114300" y="178594"/>
                      </a:cubicBezTo>
                      <a:lnTo>
                        <a:pt x="114300" y="164306"/>
                      </a:lnTo>
                      <a:cubicBezTo>
                        <a:pt x="114300" y="160377"/>
                        <a:pt x="111085" y="157163"/>
                        <a:pt x="107156" y="157163"/>
                      </a:cubicBezTo>
                      <a:lnTo>
                        <a:pt x="92869" y="157163"/>
                      </a:lnTo>
                      <a:close/>
                      <a:moveTo>
                        <a:pt x="142875" y="164306"/>
                      </a:moveTo>
                      <a:lnTo>
                        <a:pt x="142875" y="178594"/>
                      </a:lnTo>
                      <a:cubicBezTo>
                        <a:pt x="142875" y="182523"/>
                        <a:pt x="146090" y="185738"/>
                        <a:pt x="150019" y="185738"/>
                      </a:cubicBezTo>
                      <a:lnTo>
                        <a:pt x="164306" y="185738"/>
                      </a:lnTo>
                      <a:cubicBezTo>
                        <a:pt x="168235" y="185738"/>
                        <a:pt x="171450" y="182523"/>
                        <a:pt x="171450" y="178594"/>
                      </a:cubicBezTo>
                      <a:lnTo>
                        <a:pt x="171450" y="164306"/>
                      </a:lnTo>
                      <a:cubicBezTo>
                        <a:pt x="171450" y="160377"/>
                        <a:pt x="168235" y="157163"/>
                        <a:pt x="164306" y="157163"/>
                      </a:cubicBezTo>
                      <a:lnTo>
                        <a:pt x="150019" y="157163"/>
                      </a:lnTo>
                      <a:cubicBezTo>
                        <a:pt x="146090" y="157163"/>
                        <a:pt x="142875" y="160377"/>
                        <a:pt x="142875" y="164306"/>
                      </a:cubicBezTo>
                      <a:close/>
                    </a:path>
                  </a:pathLst>
                </a:custGeom>
                <a:solidFill>
                  <a:srgbClr val="8B0000"/>
                </a:solidFill>
                <a:ln/>
              </p:spPr>
            </p:sp>
            <p:sp>
              <p:nvSpPr>
                <p:cNvPr id="28" name="Text 15">
                  <a:extLst>
                    <a:ext uri="{FF2B5EF4-FFF2-40B4-BE49-F238E27FC236}">
                      <a16:creationId xmlns:a16="http://schemas.microsoft.com/office/drawing/2014/main" id="{9CE883E5-C95A-C814-F807-B86049157E9F}"/>
                    </a:ext>
                  </a:extLst>
                </p:cNvPr>
                <p:cNvSpPr/>
                <p:nvPr/>
              </p:nvSpPr>
              <p:spPr>
                <a:xfrm>
                  <a:off x="933450" y="5117306"/>
                  <a:ext cx="5886450" cy="304800"/>
                </a:xfrm>
                <a:prstGeom prst="rect">
                  <a:avLst/>
                </a:prstGeom>
                <a:noFill/>
                <a:ln/>
              </p:spPr>
              <p:txBody>
                <a:bodyPr wrap="square" lIns="0" tIns="0" rIns="0" bIns="0" rtlCol="0" anchor="ctr"/>
                <a:lstStyle/>
                <a:p>
                  <a:pPr>
                    <a:lnSpc>
                      <a:spcPct val="110000"/>
                    </a:lnSpc>
                  </a:pPr>
                  <a:r>
                    <a:rPr lang="en-US" sz="1800" b="1" dirty="0">
                      <a:solidFill>
                        <a:srgbClr val="1F2937"/>
                      </a:solidFill>
                      <a:latin typeface="Times New Roman" panose="02020603050405020304" pitchFamily="18" charset="0"/>
                      <a:ea typeface="Sorts Mill Goudy" pitchFamily="34" charset="-122"/>
                      <a:cs typeface="Times New Roman" panose="02020603050405020304" pitchFamily="18" charset="0"/>
                    </a:rPr>
                    <a:t>Event Recommendations</a:t>
                  </a:r>
                  <a:endParaRPr lang="en-US" sz="1600" dirty="0">
                    <a:latin typeface="Times New Roman" panose="02020603050405020304" pitchFamily="18" charset="0"/>
                    <a:cs typeface="Times New Roman" panose="02020603050405020304" pitchFamily="18" charset="0"/>
                  </a:endParaRPr>
                </a:p>
              </p:txBody>
            </p:sp>
          </p:grpSp>
          <p:sp>
            <p:nvSpPr>
              <p:cNvPr id="29" name="Shape 13">
                <a:extLst>
                  <a:ext uri="{FF2B5EF4-FFF2-40B4-BE49-F238E27FC236}">
                    <a16:creationId xmlns:a16="http://schemas.microsoft.com/office/drawing/2014/main" id="{85940D66-A50A-B92E-C48E-6B8C3AFBA72D}"/>
                  </a:ext>
                </a:extLst>
              </p:cNvPr>
              <p:cNvSpPr/>
              <p:nvPr/>
            </p:nvSpPr>
            <p:spPr>
              <a:xfrm>
                <a:off x="321112" y="5113733"/>
                <a:ext cx="45719" cy="1201175"/>
              </a:xfrm>
              <a:custGeom>
                <a:avLst/>
                <a:gdLst/>
                <a:ahLst/>
                <a:cxnLst/>
                <a:rect l="l" t="t" r="r" b="b"/>
                <a:pathLst>
                  <a:path w="38100" h="1438275">
                    <a:moveTo>
                      <a:pt x="38100" y="0"/>
                    </a:moveTo>
                    <a:lnTo>
                      <a:pt x="38100" y="0"/>
                    </a:lnTo>
                    <a:lnTo>
                      <a:pt x="38100" y="1438275"/>
                    </a:lnTo>
                    <a:lnTo>
                      <a:pt x="38100" y="1438275"/>
                    </a:lnTo>
                    <a:cubicBezTo>
                      <a:pt x="17072" y="1438275"/>
                      <a:pt x="0" y="1421203"/>
                      <a:pt x="0" y="1400175"/>
                    </a:cubicBezTo>
                    <a:lnTo>
                      <a:pt x="0" y="38100"/>
                    </a:lnTo>
                    <a:cubicBezTo>
                      <a:pt x="0" y="17072"/>
                      <a:pt x="17072" y="0"/>
                      <a:pt x="38100" y="0"/>
                    </a:cubicBezTo>
                    <a:close/>
                  </a:path>
                </a:pathLst>
              </a:custGeom>
              <a:solidFill>
                <a:srgbClr val="8B0000"/>
              </a:solidFill>
              <a:ln/>
            </p:spPr>
          </p:sp>
        </p:grpSp>
      </p:grpSp>
      <p:pic>
        <p:nvPicPr>
          <p:cNvPr id="2" name="图片 1">
            <a:extLst>
              <a:ext uri="{FF2B5EF4-FFF2-40B4-BE49-F238E27FC236}">
                <a16:creationId xmlns:a16="http://schemas.microsoft.com/office/drawing/2014/main" id="{7A0F0B63-23AA-AABF-5561-955A39371EF2}"/>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11044" y="966470"/>
            <a:ext cx="2270760" cy="4923790"/>
          </a:xfrm>
          <a:prstGeom prst="rect">
            <a:avLst/>
          </a:prstGeom>
          <a:noFill/>
          <a:ln>
            <a:noFill/>
          </a:ln>
        </p:spPr>
      </p:pic>
      <p:pic>
        <p:nvPicPr>
          <p:cNvPr id="4" name="图片 3">
            <a:extLst>
              <a:ext uri="{FF2B5EF4-FFF2-40B4-BE49-F238E27FC236}">
                <a16:creationId xmlns:a16="http://schemas.microsoft.com/office/drawing/2014/main" id="{F428E1B7-DA09-7EEC-2FAF-0D579A2831D9}"/>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921240" y="966470"/>
            <a:ext cx="2270760" cy="4924425"/>
          </a:xfrm>
          <a:prstGeom prst="rect">
            <a:avLst/>
          </a:prstGeom>
          <a:noFill/>
          <a:ln>
            <a:noFill/>
          </a:ln>
        </p:spPr>
      </p:pic>
    </p:spTree>
    <p:extLst>
      <p:ext uri="{BB962C8B-B14F-4D97-AF65-F5344CB8AC3E}">
        <p14:creationId xmlns:p14="http://schemas.microsoft.com/office/powerpoint/2010/main" val="3832175906"/>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A761FA7-FCB0-D489-D003-AAF829930C0C}"/>
            </a:ext>
          </a:extLst>
        </p:cNvPr>
        <p:cNvGrpSpPr/>
        <p:nvPr/>
      </p:nvGrpSpPr>
      <p:grpSpPr>
        <a:xfrm>
          <a:off x="0" y="0"/>
          <a:ext cx="0" cy="0"/>
          <a:chOff x="0" y="0"/>
          <a:chExt cx="0" cy="0"/>
        </a:xfrm>
      </p:grpSpPr>
      <p:sp>
        <p:nvSpPr>
          <p:cNvPr id="9" name="Text 0">
            <a:extLst>
              <a:ext uri="{FF2B5EF4-FFF2-40B4-BE49-F238E27FC236}">
                <a16:creationId xmlns:a16="http://schemas.microsoft.com/office/drawing/2014/main" id="{89D72665-76A7-5FFB-E89F-A4972A3265CB}"/>
              </a:ext>
            </a:extLst>
          </p:cNvPr>
          <p:cNvSpPr/>
          <p:nvPr/>
        </p:nvSpPr>
        <p:spPr>
          <a:xfrm>
            <a:off x="381000" y="380999"/>
            <a:ext cx="11515725" cy="449323"/>
          </a:xfrm>
          <a:prstGeom prst="rect">
            <a:avLst/>
          </a:prstGeom>
          <a:noFill/>
          <a:ln/>
        </p:spPr>
        <p:txBody>
          <a:bodyPr wrap="square" lIns="0" tIns="0" rIns="0" bIns="0" rtlCol="0" anchor="ctr"/>
          <a:lstStyle/>
          <a:p>
            <a:pPr algn="just">
              <a:lnSpc>
                <a:spcPct val="130000"/>
              </a:lnSpc>
            </a:pPr>
            <a:r>
              <a:rPr lang="en-US" sz="2400" b="1" kern="0" spc="68" dirty="0">
                <a:solidFill>
                  <a:srgbClr val="8B0000"/>
                </a:solidFill>
                <a:latin typeface="Times New Roman" panose="02020603050405020304" pitchFamily="18" charset="0"/>
                <a:ea typeface="Sorts Mill Goudy" pitchFamily="34" charset="-122"/>
                <a:cs typeface="Times New Roman" panose="02020603050405020304" pitchFamily="18" charset="0"/>
              </a:rPr>
              <a:t>02 / Backend and Database</a:t>
            </a:r>
            <a:endParaRPr lang="en-US" sz="2400" dirty="0">
              <a:latin typeface="Times New Roman" panose="02020603050405020304" pitchFamily="18" charset="0"/>
              <a:cs typeface="Times New Roman" panose="02020603050405020304" pitchFamily="18" charset="0"/>
            </a:endParaRPr>
          </a:p>
        </p:txBody>
      </p:sp>
      <p:sp>
        <p:nvSpPr>
          <p:cNvPr id="13" name="文本框 12">
            <a:extLst>
              <a:ext uri="{FF2B5EF4-FFF2-40B4-BE49-F238E27FC236}">
                <a16:creationId xmlns:a16="http://schemas.microsoft.com/office/drawing/2014/main" id="{2BA76310-1ABB-189C-D246-A847C86334D9}"/>
              </a:ext>
            </a:extLst>
          </p:cNvPr>
          <p:cNvSpPr txBox="1"/>
          <p:nvPr/>
        </p:nvSpPr>
        <p:spPr>
          <a:xfrm>
            <a:off x="9820883" y="-14750"/>
            <a:ext cx="2371117" cy="395749"/>
          </a:xfrm>
          <a:prstGeom prst="rect">
            <a:avLst/>
          </a:prstGeom>
          <a:noFill/>
        </p:spPr>
        <p:txBody>
          <a:bodyPr wrap="square">
            <a:spAutoFit/>
          </a:bodyPr>
          <a:lstStyle/>
          <a:p>
            <a:pPr algn="ctr">
              <a:lnSpc>
                <a:spcPct val="120000"/>
              </a:lnSpc>
            </a:pPr>
            <a:r>
              <a:rPr lang="en-US" altLang="zh-CN" sz="1800" i="1" dirty="0">
                <a:solidFill>
                  <a:schemeClr val="bg1">
                    <a:lumMod val="50000"/>
                  </a:schemeClr>
                </a:solidFill>
                <a:latin typeface="Times New Roman" panose="02020603050405020304" pitchFamily="18" charset="0"/>
                <a:ea typeface="Sorts Mill Goudy" pitchFamily="34" charset="-122"/>
                <a:cs typeface="Times New Roman" panose="02020603050405020304" pitchFamily="18" charset="0"/>
              </a:rPr>
              <a:t>Luo Chenjin-25450476  </a:t>
            </a:r>
          </a:p>
        </p:txBody>
      </p:sp>
      <p:sp>
        <p:nvSpPr>
          <p:cNvPr id="4" name="文本框 3">
            <a:extLst>
              <a:ext uri="{FF2B5EF4-FFF2-40B4-BE49-F238E27FC236}">
                <a16:creationId xmlns:a16="http://schemas.microsoft.com/office/drawing/2014/main" id="{E90783B2-A29B-CF3E-C57F-D4F6A94364AC}"/>
              </a:ext>
            </a:extLst>
          </p:cNvPr>
          <p:cNvSpPr txBox="1"/>
          <p:nvPr/>
        </p:nvSpPr>
        <p:spPr>
          <a:xfrm>
            <a:off x="381000" y="1026016"/>
            <a:ext cx="2770762" cy="400110"/>
          </a:xfrm>
          <a:prstGeom prst="rect">
            <a:avLst/>
          </a:prstGeom>
          <a:noFill/>
        </p:spPr>
        <p:txBody>
          <a:bodyPr wrap="square">
            <a:spAutoFit/>
          </a:bodyPr>
          <a:lstStyle/>
          <a:p>
            <a:r>
              <a:rPr lang="zh-CN" altLang="en-US" sz="2000" b="1" dirty="0">
                <a:latin typeface="Times New Roman" panose="02020603050405020304" pitchFamily="18" charset="0"/>
                <a:cs typeface="Times New Roman" panose="02020603050405020304" pitchFamily="18" charset="0"/>
              </a:rPr>
              <a:t>Database Design</a:t>
            </a:r>
            <a:r>
              <a:rPr lang="en-US" altLang="zh-CN" sz="2000" dirty="0">
                <a:latin typeface="Times New Roman" panose="02020603050405020304" pitchFamily="18" charset="0"/>
                <a:cs typeface="Times New Roman" panose="02020603050405020304" pitchFamily="18" charset="0"/>
              </a:rPr>
              <a:t>(db.py)</a:t>
            </a:r>
            <a:endParaRPr lang="zh-CN" altLang="en-US" sz="2000" dirty="0">
              <a:latin typeface="Times New Roman" panose="02020603050405020304" pitchFamily="18" charset="0"/>
              <a:cs typeface="Times New Roman" panose="02020603050405020304" pitchFamily="18" charset="0"/>
            </a:endParaRPr>
          </a:p>
        </p:txBody>
      </p:sp>
      <p:pic>
        <p:nvPicPr>
          <p:cNvPr id="1026" name="Picture 2" descr="MongoDB Atlas: een database voor multi-cloudclusters | Ubunlog">
            <a:extLst>
              <a:ext uri="{FF2B5EF4-FFF2-40B4-BE49-F238E27FC236}">
                <a16:creationId xmlns:a16="http://schemas.microsoft.com/office/drawing/2014/main" id="{D74E4AFC-8F28-F52E-684D-1EC6FB11B0A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68036" y="814155"/>
            <a:ext cx="1842688" cy="608087"/>
          </a:xfrm>
          <a:prstGeom prst="rect">
            <a:avLst/>
          </a:prstGeom>
          <a:noFill/>
          <a:extLst>
            <a:ext uri="{909E8E84-426E-40DD-AFC4-6F175D3DCCD1}">
              <a14:hiddenFill xmlns:a14="http://schemas.microsoft.com/office/drawing/2010/main">
                <a:solidFill>
                  <a:srgbClr val="FFFFFF"/>
                </a:solidFill>
              </a14:hiddenFill>
            </a:ext>
          </a:extLst>
        </p:spPr>
      </p:pic>
      <p:sp>
        <p:nvSpPr>
          <p:cNvPr id="6" name="文本框 5">
            <a:extLst>
              <a:ext uri="{FF2B5EF4-FFF2-40B4-BE49-F238E27FC236}">
                <a16:creationId xmlns:a16="http://schemas.microsoft.com/office/drawing/2014/main" id="{BB7A4798-1882-E162-B3EA-2AED4AE93BB5}"/>
              </a:ext>
            </a:extLst>
          </p:cNvPr>
          <p:cNvSpPr txBox="1"/>
          <p:nvPr/>
        </p:nvSpPr>
        <p:spPr>
          <a:xfrm>
            <a:off x="381000" y="1426126"/>
            <a:ext cx="6162472" cy="1477328"/>
          </a:xfrm>
          <a:prstGeom prst="rect">
            <a:avLst/>
          </a:prstGeom>
          <a:noFill/>
        </p:spPr>
        <p:txBody>
          <a:bodyPr wrap="square">
            <a:spAutoFit/>
          </a:bodyPr>
          <a:lstStyle/>
          <a:p>
            <a:pPr algn="just"/>
            <a:r>
              <a:rPr lang="en-US" altLang="zh-CN" dirty="0">
                <a:latin typeface="Times New Roman" panose="02020603050405020304" pitchFamily="18" charset="0"/>
                <a:cs typeface="Times New Roman" panose="02020603050405020304" pitchFamily="18" charset="0"/>
              </a:rPr>
              <a:t>Since the user data and log information are </a:t>
            </a:r>
            <a:r>
              <a:rPr lang="en-US" altLang="zh-CN" b="1" dirty="0">
                <a:solidFill>
                  <a:srgbClr val="C00000"/>
                </a:solidFill>
                <a:latin typeface="Times New Roman" panose="02020603050405020304" pitchFamily="18" charset="0"/>
                <a:cs typeface="Times New Roman" panose="02020603050405020304" pitchFamily="18" charset="0"/>
              </a:rPr>
              <a:t>unstructured data</a:t>
            </a:r>
            <a:r>
              <a:rPr lang="en-US" altLang="zh-CN" dirty="0">
                <a:latin typeface="Times New Roman" panose="02020603050405020304" pitchFamily="18" charset="0"/>
                <a:cs typeface="Times New Roman" panose="02020603050405020304" pitchFamily="18" charset="0"/>
              </a:rPr>
              <a:t>, this system adopts MongoDB Atlas(Free tier) as the cloud database to achieve persistent storage of user data and log recording during the system operation. The database mainly consists of two collections: </a:t>
            </a:r>
            <a:r>
              <a:rPr lang="en-US" altLang="zh-CN" b="1" dirty="0">
                <a:solidFill>
                  <a:srgbClr val="C00000"/>
                </a:solidFill>
                <a:latin typeface="Times New Roman" panose="02020603050405020304" pitchFamily="18" charset="0"/>
                <a:cs typeface="Times New Roman" panose="02020603050405020304" pitchFamily="18" charset="0"/>
              </a:rPr>
              <a:t>user profiles </a:t>
            </a:r>
            <a:r>
              <a:rPr lang="en-US" altLang="zh-CN" dirty="0">
                <a:latin typeface="Times New Roman" panose="02020603050405020304" pitchFamily="18" charset="0"/>
                <a:cs typeface="Times New Roman" panose="02020603050405020304" pitchFamily="18" charset="0"/>
              </a:rPr>
              <a:t>and </a:t>
            </a:r>
            <a:r>
              <a:rPr lang="en-US" altLang="zh-CN" b="1" dirty="0">
                <a:solidFill>
                  <a:srgbClr val="C00000"/>
                </a:solidFill>
                <a:latin typeface="Times New Roman" panose="02020603050405020304" pitchFamily="18" charset="0"/>
                <a:cs typeface="Times New Roman" panose="02020603050405020304" pitchFamily="18" charset="0"/>
              </a:rPr>
              <a:t>chatting logs</a:t>
            </a:r>
            <a:r>
              <a:rPr lang="en-US" altLang="zh-CN" dirty="0">
                <a:latin typeface="Times New Roman" panose="02020603050405020304" pitchFamily="18" charset="0"/>
                <a:cs typeface="Times New Roman" panose="02020603050405020304" pitchFamily="18" charset="0"/>
              </a:rPr>
              <a:t>. </a:t>
            </a:r>
            <a:endParaRPr lang="zh-CN" altLang="en-US" dirty="0">
              <a:latin typeface="Times New Roman" panose="02020603050405020304" pitchFamily="18" charset="0"/>
              <a:cs typeface="Times New Roman" panose="02020603050405020304" pitchFamily="18" charset="0"/>
            </a:endParaRPr>
          </a:p>
        </p:txBody>
      </p:sp>
      <p:pic>
        <p:nvPicPr>
          <p:cNvPr id="12" name="图片 11">
            <a:extLst>
              <a:ext uri="{FF2B5EF4-FFF2-40B4-BE49-F238E27FC236}">
                <a16:creationId xmlns:a16="http://schemas.microsoft.com/office/drawing/2014/main" id="{7D713C71-A995-9C6D-90F1-38C45EA42362}"/>
              </a:ext>
            </a:extLst>
          </p:cNvPr>
          <p:cNvPicPr>
            <a:picLocks noChangeAspect="1"/>
          </p:cNvPicPr>
          <p:nvPr/>
        </p:nvPicPr>
        <p:blipFill>
          <a:blip r:embed="rId4"/>
          <a:srcRect l="822" t="4403" r="56597" b="1571"/>
          <a:stretch>
            <a:fillRect/>
          </a:stretch>
        </p:blipFill>
        <p:spPr>
          <a:xfrm>
            <a:off x="6619461" y="982022"/>
            <a:ext cx="5191539" cy="2304459"/>
          </a:xfrm>
          <a:prstGeom prst="rect">
            <a:avLst/>
          </a:prstGeom>
        </p:spPr>
      </p:pic>
      <p:pic>
        <p:nvPicPr>
          <p:cNvPr id="15" name="图片 14">
            <a:extLst>
              <a:ext uri="{FF2B5EF4-FFF2-40B4-BE49-F238E27FC236}">
                <a16:creationId xmlns:a16="http://schemas.microsoft.com/office/drawing/2014/main" id="{89611899-EE52-F6D5-590B-03E978C59BD7}"/>
              </a:ext>
            </a:extLst>
          </p:cNvPr>
          <p:cNvPicPr>
            <a:picLocks noChangeAspect="1"/>
          </p:cNvPicPr>
          <p:nvPr/>
        </p:nvPicPr>
        <p:blipFill>
          <a:blip r:embed="rId5"/>
          <a:stretch>
            <a:fillRect/>
          </a:stretch>
        </p:blipFill>
        <p:spPr>
          <a:xfrm>
            <a:off x="6677747" y="3735804"/>
            <a:ext cx="5074964" cy="2140173"/>
          </a:xfrm>
          <a:prstGeom prst="rect">
            <a:avLst/>
          </a:prstGeom>
        </p:spPr>
      </p:pic>
      <p:sp>
        <p:nvSpPr>
          <p:cNvPr id="16" name="文本框 15">
            <a:extLst>
              <a:ext uri="{FF2B5EF4-FFF2-40B4-BE49-F238E27FC236}">
                <a16:creationId xmlns:a16="http://schemas.microsoft.com/office/drawing/2014/main" id="{3D7F62A6-973B-830D-7922-83F1306CCEC4}"/>
              </a:ext>
            </a:extLst>
          </p:cNvPr>
          <p:cNvSpPr txBox="1"/>
          <p:nvPr/>
        </p:nvSpPr>
        <p:spPr>
          <a:xfrm>
            <a:off x="8354332" y="3286481"/>
            <a:ext cx="1721795" cy="307777"/>
          </a:xfrm>
          <a:prstGeom prst="rect">
            <a:avLst/>
          </a:prstGeom>
          <a:noFill/>
        </p:spPr>
        <p:txBody>
          <a:bodyPr wrap="square" rtlCol="0">
            <a:spAutoFit/>
          </a:bodyPr>
          <a:lstStyle/>
          <a:p>
            <a:pPr algn="ctr"/>
            <a:r>
              <a:rPr lang="en-US" altLang="zh-CN" sz="1400" i="1" dirty="0">
                <a:latin typeface="Times New Roman" panose="02020603050405020304" pitchFamily="18" charset="0"/>
                <a:cs typeface="Times New Roman" panose="02020603050405020304" pitchFamily="18" charset="0"/>
              </a:rPr>
              <a:t>Logs collection</a:t>
            </a:r>
            <a:endParaRPr lang="zh-CN" altLang="en-US" sz="1400" i="1" dirty="0">
              <a:latin typeface="Times New Roman" panose="02020603050405020304" pitchFamily="18" charset="0"/>
              <a:cs typeface="Times New Roman" panose="02020603050405020304" pitchFamily="18" charset="0"/>
            </a:endParaRPr>
          </a:p>
        </p:txBody>
      </p:sp>
      <p:sp>
        <p:nvSpPr>
          <p:cNvPr id="17" name="文本框 16">
            <a:extLst>
              <a:ext uri="{FF2B5EF4-FFF2-40B4-BE49-F238E27FC236}">
                <a16:creationId xmlns:a16="http://schemas.microsoft.com/office/drawing/2014/main" id="{ED320CDD-FD32-23B2-FB81-2B157FA09329}"/>
              </a:ext>
            </a:extLst>
          </p:cNvPr>
          <p:cNvSpPr txBox="1"/>
          <p:nvPr/>
        </p:nvSpPr>
        <p:spPr>
          <a:xfrm>
            <a:off x="8280510" y="5812874"/>
            <a:ext cx="1869438" cy="307777"/>
          </a:xfrm>
          <a:prstGeom prst="rect">
            <a:avLst/>
          </a:prstGeom>
          <a:noFill/>
        </p:spPr>
        <p:txBody>
          <a:bodyPr wrap="square" rtlCol="0">
            <a:spAutoFit/>
          </a:bodyPr>
          <a:lstStyle/>
          <a:p>
            <a:r>
              <a:rPr lang="en-US" altLang="zh-CN" sz="1400" i="1" dirty="0">
                <a:latin typeface="Times New Roman" panose="02020603050405020304" pitchFamily="18" charset="0"/>
                <a:cs typeface="Times New Roman" panose="02020603050405020304" pitchFamily="18" charset="0"/>
              </a:rPr>
              <a:t>User profiles collection</a:t>
            </a:r>
            <a:endParaRPr lang="zh-CN" altLang="en-US" sz="1400" i="1" dirty="0">
              <a:latin typeface="Times New Roman" panose="02020603050405020304" pitchFamily="18" charset="0"/>
              <a:cs typeface="Times New Roman" panose="02020603050405020304" pitchFamily="18" charset="0"/>
            </a:endParaRPr>
          </a:p>
        </p:txBody>
      </p:sp>
      <p:pic>
        <p:nvPicPr>
          <p:cNvPr id="2" name="图片 1">
            <a:extLst>
              <a:ext uri="{FF2B5EF4-FFF2-40B4-BE49-F238E27FC236}">
                <a16:creationId xmlns:a16="http://schemas.microsoft.com/office/drawing/2014/main" id="{D973CD57-CC7B-B61E-F6F4-DA758A111C0C}"/>
              </a:ext>
            </a:extLst>
          </p:cNvPr>
          <p:cNvPicPr>
            <a:picLocks noChangeAspect="1"/>
          </p:cNvPicPr>
          <p:nvPr/>
        </p:nvPicPr>
        <p:blipFill>
          <a:blip r:embed="rId6"/>
          <a:stretch>
            <a:fillRect/>
          </a:stretch>
        </p:blipFill>
        <p:spPr>
          <a:xfrm>
            <a:off x="593186" y="4489984"/>
            <a:ext cx="5502814" cy="2069622"/>
          </a:xfrm>
          <a:prstGeom prst="rect">
            <a:avLst/>
          </a:prstGeom>
        </p:spPr>
      </p:pic>
      <p:sp>
        <p:nvSpPr>
          <p:cNvPr id="5" name="文本框 4">
            <a:extLst>
              <a:ext uri="{FF2B5EF4-FFF2-40B4-BE49-F238E27FC236}">
                <a16:creationId xmlns:a16="http://schemas.microsoft.com/office/drawing/2014/main" id="{8E591F10-615D-0A26-D607-AC9013B79987}"/>
              </a:ext>
            </a:extLst>
          </p:cNvPr>
          <p:cNvSpPr txBox="1"/>
          <p:nvPr/>
        </p:nvSpPr>
        <p:spPr>
          <a:xfrm>
            <a:off x="2507304" y="6505597"/>
            <a:ext cx="1656134" cy="307777"/>
          </a:xfrm>
          <a:prstGeom prst="rect">
            <a:avLst/>
          </a:prstGeom>
          <a:noFill/>
        </p:spPr>
        <p:txBody>
          <a:bodyPr wrap="square">
            <a:spAutoFit/>
          </a:bodyPr>
          <a:lstStyle/>
          <a:p>
            <a:r>
              <a:rPr lang="en-US" altLang="zh-CN" sz="1400" i="1" dirty="0">
                <a:effectLst/>
                <a:latin typeface="Times New Roman" panose="02020603050405020304" pitchFamily="18" charset="0"/>
                <a:ea typeface="等线" panose="02010600030101010101" pitchFamily="2" charset="-122"/>
              </a:rPr>
              <a:t>MongoDB Atlas Bill</a:t>
            </a:r>
            <a:endParaRPr lang="zh-CN" altLang="en-US" sz="1400" i="1" dirty="0"/>
          </a:p>
        </p:txBody>
      </p:sp>
      <p:sp>
        <p:nvSpPr>
          <p:cNvPr id="8" name="文本框 7">
            <a:extLst>
              <a:ext uri="{FF2B5EF4-FFF2-40B4-BE49-F238E27FC236}">
                <a16:creationId xmlns:a16="http://schemas.microsoft.com/office/drawing/2014/main" id="{69CCADF1-E354-8C04-67E9-0CA3EE8D39A8}"/>
              </a:ext>
            </a:extLst>
          </p:cNvPr>
          <p:cNvSpPr txBox="1"/>
          <p:nvPr/>
        </p:nvSpPr>
        <p:spPr>
          <a:xfrm>
            <a:off x="381000" y="2763167"/>
            <a:ext cx="6162472" cy="1477328"/>
          </a:xfrm>
          <a:prstGeom prst="rect">
            <a:avLst/>
          </a:prstGeom>
          <a:noFill/>
        </p:spPr>
        <p:txBody>
          <a:bodyPr wrap="square">
            <a:spAutoFit/>
          </a:bodyPr>
          <a:lstStyle/>
          <a:p>
            <a:pPr algn="just"/>
            <a:r>
              <a:rPr lang="en-US" altLang="zh-CN" b="1" dirty="0">
                <a:latin typeface="Times New Roman" panose="02020603050405020304" pitchFamily="18" charset="0"/>
                <a:cs typeface="Times New Roman" panose="02020603050405020304" pitchFamily="18" charset="0"/>
              </a:rPr>
              <a:t>User profiles </a:t>
            </a:r>
            <a:r>
              <a:rPr lang="en-US" altLang="zh-CN" dirty="0">
                <a:latin typeface="Times New Roman" panose="02020603050405020304" pitchFamily="18" charset="0"/>
                <a:cs typeface="Times New Roman" panose="02020603050405020304" pitchFamily="18" charset="0"/>
              </a:rPr>
              <a:t>includes the </a:t>
            </a:r>
            <a:r>
              <a:rPr lang="en-US" altLang="zh-CN" b="1" dirty="0">
                <a:solidFill>
                  <a:srgbClr val="C00000"/>
                </a:solidFill>
                <a:latin typeface="Times New Roman" panose="02020603050405020304" pitchFamily="18" charset="0"/>
                <a:cs typeface="Times New Roman" panose="02020603050405020304" pitchFamily="18" charset="0"/>
              </a:rPr>
              <a:t>basic identification of users</a:t>
            </a:r>
            <a:r>
              <a:rPr lang="en-US" altLang="zh-CN" dirty="0">
                <a:latin typeface="Times New Roman" panose="02020603050405020304" pitchFamily="18" charset="0"/>
                <a:cs typeface="Times New Roman" panose="02020603050405020304" pitchFamily="18" charset="0"/>
              </a:rPr>
              <a:t> and their </a:t>
            </a:r>
            <a:r>
              <a:rPr lang="en-US" altLang="zh-CN" b="1" dirty="0">
                <a:solidFill>
                  <a:srgbClr val="C00000"/>
                </a:solidFill>
                <a:latin typeface="Times New Roman" panose="02020603050405020304" pitchFamily="18" charset="0"/>
                <a:cs typeface="Times New Roman" panose="02020603050405020304" pitchFamily="18" charset="0"/>
              </a:rPr>
              <a:t>interest data</a:t>
            </a:r>
            <a:r>
              <a:rPr lang="en-US" altLang="zh-CN" dirty="0">
                <a:latin typeface="Times New Roman" panose="02020603050405020304" pitchFamily="18" charset="0"/>
                <a:cs typeface="Times New Roman" panose="02020603050405020304" pitchFamily="18" charset="0"/>
              </a:rPr>
              <a:t>, which is used to support the functions of interest matching and personalized recommendations.</a:t>
            </a:r>
          </a:p>
          <a:p>
            <a:pPr algn="just"/>
            <a:r>
              <a:rPr lang="en-US" altLang="zh-CN" b="1" dirty="0">
                <a:latin typeface="Times New Roman" panose="02020603050405020304" pitchFamily="18" charset="0"/>
                <a:cs typeface="Times New Roman" panose="02020603050405020304" pitchFamily="18" charset="0"/>
              </a:rPr>
              <a:t>Chatting logs </a:t>
            </a:r>
            <a:r>
              <a:rPr lang="en-US" altLang="zh-CN" dirty="0">
                <a:latin typeface="Times New Roman" panose="02020603050405020304" pitchFamily="18" charset="0"/>
                <a:cs typeface="Times New Roman" panose="02020603050405020304" pitchFamily="18" charset="0"/>
              </a:rPr>
              <a:t>records each conversation process of the system, including </a:t>
            </a:r>
            <a:r>
              <a:rPr lang="en-US" altLang="zh-CN" b="1" dirty="0">
                <a:solidFill>
                  <a:srgbClr val="C00000"/>
                </a:solidFill>
                <a:latin typeface="Times New Roman" panose="02020603050405020304" pitchFamily="18" charset="0"/>
                <a:cs typeface="Times New Roman" panose="02020603050405020304" pitchFamily="18" charset="0"/>
              </a:rPr>
              <a:t>user input</a:t>
            </a:r>
            <a:r>
              <a:rPr lang="en-US" altLang="zh-CN" dirty="0">
                <a:latin typeface="Times New Roman" panose="02020603050405020304" pitchFamily="18" charset="0"/>
                <a:cs typeface="Times New Roman" panose="02020603050405020304" pitchFamily="18" charset="0"/>
              </a:rPr>
              <a:t>, </a:t>
            </a:r>
            <a:r>
              <a:rPr lang="en-US" altLang="zh-CN" b="1" dirty="0">
                <a:solidFill>
                  <a:srgbClr val="C00000"/>
                </a:solidFill>
                <a:latin typeface="Times New Roman" panose="02020603050405020304" pitchFamily="18" charset="0"/>
                <a:cs typeface="Times New Roman" panose="02020603050405020304" pitchFamily="18" charset="0"/>
              </a:rPr>
              <a:t>bot responses</a:t>
            </a:r>
            <a:r>
              <a:rPr lang="en-US" altLang="zh-CN" dirty="0">
                <a:latin typeface="Times New Roman" panose="02020603050405020304" pitchFamily="18" charset="0"/>
                <a:cs typeface="Times New Roman" panose="02020603050405020304" pitchFamily="18" charset="0"/>
              </a:rPr>
              <a:t>, and </a:t>
            </a:r>
            <a:r>
              <a:rPr lang="en-US" altLang="zh-CN" b="1" dirty="0">
                <a:solidFill>
                  <a:srgbClr val="C00000"/>
                </a:solidFill>
                <a:latin typeface="Times New Roman" panose="02020603050405020304" pitchFamily="18" charset="0"/>
                <a:cs typeface="Times New Roman" panose="02020603050405020304" pitchFamily="18" charset="0"/>
              </a:rPr>
              <a:t>running status</a:t>
            </a:r>
            <a:r>
              <a:rPr lang="en-US" altLang="zh-CN" dirty="0">
                <a:latin typeface="Times New Roman" panose="02020603050405020304" pitchFamily="18" charset="0"/>
                <a:cs typeface="Times New Roman" panose="02020603050405020304" pitchFamily="18" charset="0"/>
              </a:rPr>
              <a:t>, etc.</a:t>
            </a:r>
            <a:endParaRPr lang="zh-CN" altLang="en-US" dirty="0"/>
          </a:p>
        </p:txBody>
      </p:sp>
    </p:spTree>
    <p:extLst>
      <p:ext uri="{BB962C8B-B14F-4D97-AF65-F5344CB8AC3E}">
        <p14:creationId xmlns:p14="http://schemas.microsoft.com/office/powerpoint/2010/main" val="3010890302"/>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D5FE65C7-74FE-5FBD-9447-1A67501EE800}"/>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76767CC6-B9D7-351E-40FA-46D259DEE65B}"/>
              </a:ext>
            </a:extLst>
          </p:cNvPr>
          <p:cNvSpPr/>
          <p:nvPr/>
        </p:nvSpPr>
        <p:spPr>
          <a:xfrm>
            <a:off x="203200" y="177800"/>
            <a:ext cx="11734800" cy="508000"/>
          </a:xfrm>
          <a:prstGeom prst="rect">
            <a:avLst/>
          </a:prstGeom>
          <a:noFill/>
          <a:ln w="12700" cap="flat" cmpd="sng">
            <a:noFill/>
            <a:prstDash val="solid"/>
            <a:round/>
          </a:ln>
        </p:spPr>
        <p:txBody>
          <a:bodyPr vert="horz" wrap="none" lIns="88900" tIns="50800" rIns="88900" bIns="50800" rtlCol="0" anchor="t" anchorCtr="0"/>
          <a:lstStyle/>
          <a:p>
            <a:pPr indent="0" algn="l">
              <a:lnSpc>
                <a:spcPct val="100000"/>
              </a:lnSpc>
              <a:defRPr/>
            </a:pPr>
            <a:r>
              <a:rPr lang="en-US" sz="2400" b="1" i="0" u="none" strike="noStrike">
                <a:solidFill>
                  <a:srgbClr val="8B0000"/>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03 / DEVOPS AND CI/CD WORKFLOW</a:t>
            </a:r>
            <a:endParaRPr lang="en-US" sz="1100">
              <a:latin typeface="Times New Roman" panose="02020603050405020304" pitchFamily="18" charset="0"/>
              <a:cs typeface="Times New Roman" panose="02020603050405020304" pitchFamily="18" charset="0"/>
            </a:endParaRPr>
          </a:p>
        </p:txBody>
      </p:sp>
      <p:sp>
        <p:nvSpPr>
          <p:cNvPr id="3" name="AutoShape 3">
            <a:extLst>
              <a:ext uri="{FF2B5EF4-FFF2-40B4-BE49-F238E27FC236}">
                <a16:creationId xmlns:a16="http://schemas.microsoft.com/office/drawing/2014/main" id="{1FC3275B-B190-5381-6ECD-3739E662C167}"/>
              </a:ext>
            </a:extLst>
          </p:cNvPr>
          <p:cNvSpPr/>
          <p:nvPr/>
        </p:nvSpPr>
        <p:spPr>
          <a:xfrm>
            <a:off x="10261600" y="51436"/>
            <a:ext cx="1930400" cy="381000"/>
          </a:xfrm>
          <a:prstGeom prst="rect">
            <a:avLst/>
          </a:prstGeom>
          <a:noFill/>
          <a:ln w="12700" cap="flat" cmpd="sng">
            <a:noFill/>
            <a:prstDash val="solid"/>
            <a:round/>
          </a:ln>
        </p:spPr>
        <p:txBody>
          <a:bodyPr vert="horz" wrap="square" lIns="88900" tIns="50800" rIns="88900" bIns="50800" rtlCol="0" anchor="t" anchorCtr="0"/>
          <a:lstStyle/>
          <a:p>
            <a:pPr indent="0" algn="r">
              <a:lnSpc>
                <a:spcPct val="100000"/>
              </a:lnSpc>
              <a:defRPr/>
            </a:pPr>
            <a:r>
              <a:rPr lang="en-US" sz="1400" b="0" i="1" u="none" strike="noStrike" dirty="0">
                <a:solidFill>
                  <a:srgbClr val="808080"/>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Zhang Zilong-25454722</a:t>
            </a:r>
            <a:endParaRPr lang="en-US" sz="1100" i="1" dirty="0">
              <a:latin typeface="Times New Roman" panose="02020603050405020304" pitchFamily="18" charset="0"/>
              <a:cs typeface="Times New Roman" panose="02020603050405020304" pitchFamily="18" charset="0"/>
            </a:endParaRPr>
          </a:p>
        </p:txBody>
      </p:sp>
      <p:sp>
        <p:nvSpPr>
          <p:cNvPr id="5" name="AutoShape 4">
            <a:extLst>
              <a:ext uri="{FF2B5EF4-FFF2-40B4-BE49-F238E27FC236}">
                <a16:creationId xmlns:a16="http://schemas.microsoft.com/office/drawing/2014/main" id="{F72BB05D-F163-DEA1-1490-148699C4F61A}"/>
              </a:ext>
            </a:extLst>
          </p:cNvPr>
          <p:cNvSpPr/>
          <p:nvPr>
            <p:custDataLst>
              <p:tags r:id="rId1"/>
            </p:custDataLst>
          </p:nvPr>
        </p:nvSpPr>
        <p:spPr>
          <a:xfrm>
            <a:off x="144780" y="821690"/>
            <a:ext cx="5570220" cy="3269615"/>
          </a:xfrm>
          <a:prstGeom prst="roundRect">
            <a:avLst>
              <a:gd name="adj" fmla="val 4347"/>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latin typeface="Times New Roman" panose="02020603050405020304" pitchFamily="18" charset="0"/>
              <a:cs typeface="Times New Roman" panose="02020603050405020304" pitchFamily="18" charset="0"/>
            </a:endParaRPr>
          </a:p>
        </p:txBody>
      </p:sp>
      <p:sp>
        <p:nvSpPr>
          <p:cNvPr id="6" name="AutoShape 12">
            <a:extLst>
              <a:ext uri="{FF2B5EF4-FFF2-40B4-BE49-F238E27FC236}">
                <a16:creationId xmlns:a16="http://schemas.microsoft.com/office/drawing/2014/main" id="{77519300-05B0-F922-E934-76331F7DDA81}"/>
              </a:ext>
            </a:extLst>
          </p:cNvPr>
          <p:cNvSpPr/>
          <p:nvPr/>
        </p:nvSpPr>
        <p:spPr>
          <a:xfrm>
            <a:off x="381000" y="5969000"/>
            <a:ext cx="11430000" cy="508000"/>
          </a:xfrm>
          <a:prstGeom prst="roundRect">
            <a:avLst>
              <a:gd name="adj" fmla="val 2500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endParaRPr>
              <a:latin typeface="Times New Roman" panose="02020603050405020304" pitchFamily="18" charset="0"/>
              <a:cs typeface="Times New Roman" panose="02020603050405020304" pitchFamily="18" charset="0"/>
            </a:endParaRPr>
          </a:p>
        </p:txBody>
      </p:sp>
      <p:pic>
        <p:nvPicPr>
          <p:cNvPr id="8" name="Picture 13">
            <a:extLst>
              <a:ext uri="{FF2B5EF4-FFF2-40B4-BE49-F238E27FC236}">
                <a16:creationId xmlns:a16="http://schemas.microsoft.com/office/drawing/2014/main" id="{9E2CA299-5725-9CAB-6BC3-E523994686A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71500" y="6096000"/>
            <a:ext cx="254000" cy="254000"/>
          </a:xfrm>
          <a:prstGeom prst="rect">
            <a:avLst/>
          </a:prstGeom>
        </p:spPr>
      </p:pic>
      <p:sp>
        <p:nvSpPr>
          <p:cNvPr id="9" name="AutoShape 14">
            <a:extLst>
              <a:ext uri="{FF2B5EF4-FFF2-40B4-BE49-F238E27FC236}">
                <a16:creationId xmlns:a16="http://schemas.microsoft.com/office/drawing/2014/main" id="{C4B04453-26CD-0C50-8013-D1BB36D7DB0C}"/>
              </a:ext>
            </a:extLst>
          </p:cNvPr>
          <p:cNvSpPr/>
          <p:nvPr/>
        </p:nvSpPr>
        <p:spPr>
          <a:xfrm>
            <a:off x="952500" y="6032500"/>
            <a:ext cx="10160000" cy="381000"/>
          </a:xfrm>
          <a:prstGeom prst="rect">
            <a:avLst/>
          </a:prstGeom>
          <a:noFill/>
          <a:ln w="12700" cap="flat" cmpd="sng">
            <a:noFill/>
            <a:prstDash val="solid"/>
            <a:round/>
          </a:ln>
        </p:spPr>
        <p:txBody>
          <a:bodyPr vert="horz" wrap="none" lIns="63500" tIns="0" rIns="63500" bIns="0" rtlCol="0" anchor="ctr" anchorCtr="0"/>
          <a:lstStyle/>
          <a:p>
            <a:pPr indent="0" algn="l">
              <a:lnSpc>
                <a:spcPct val="100000"/>
              </a:lnSpc>
              <a:defRPr/>
            </a:pPr>
            <a:r>
              <a:rPr lang="en-US" sz="1400" b="1" i="0" u="none" strike="noStrike">
                <a:solidFill>
                  <a:srgbClr val="1F2329"/>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Project Repository:</a:t>
            </a:r>
            <a:r>
              <a:rPr lang="en-US" sz="1400" b="0" i="0" u="none" strike="noStrike">
                <a:solidFill>
                  <a:srgbClr val="37415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github.com/pary666/comp7940-group</a:t>
            </a:r>
            <a:endParaRPr lang="en-US" sz="1100">
              <a:latin typeface="Times New Roman" panose="02020603050405020304" pitchFamily="18" charset="0"/>
              <a:cs typeface="Times New Roman" panose="02020603050405020304" pitchFamily="18" charset="0"/>
            </a:endParaRPr>
          </a:p>
        </p:txBody>
      </p:sp>
      <p:pic>
        <p:nvPicPr>
          <p:cNvPr id="11" name="图片 1">
            <a:extLst>
              <a:ext uri="{FF2B5EF4-FFF2-40B4-BE49-F238E27FC236}">
                <a16:creationId xmlns:a16="http://schemas.microsoft.com/office/drawing/2014/main" id="{68D54941-DB1B-BA90-1E7D-79B88029D403}"/>
              </a:ext>
            </a:extLst>
          </p:cNvPr>
          <p:cNvPicPr>
            <a:picLocks noChangeAspect="1"/>
          </p:cNvPicPr>
          <p:nvPr/>
        </p:nvPicPr>
        <p:blipFill>
          <a:blip r:embed="rId5"/>
          <a:stretch>
            <a:fillRect/>
          </a:stretch>
        </p:blipFill>
        <p:spPr>
          <a:xfrm>
            <a:off x="5966460" y="1371283"/>
            <a:ext cx="6047740" cy="2169795"/>
          </a:xfrm>
          <a:prstGeom prst="rect">
            <a:avLst/>
          </a:prstGeom>
        </p:spPr>
      </p:pic>
      <p:sp>
        <p:nvSpPr>
          <p:cNvPr id="12" name="AutoShape 4">
            <a:extLst>
              <a:ext uri="{FF2B5EF4-FFF2-40B4-BE49-F238E27FC236}">
                <a16:creationId xmlns:a16="http://schemas.microsoft.com/office/drawing/2014/main" id="{2F26C5C2-9A38-B78E-F8CD-5C2F60C317B6}"/>
              </a:ext>
            </a:extLst>
          </p:cNvPr>
          <p:cNvSpPr/>
          <p:nvPr/>
        </p:nvSpPr>
        <p:spPr>
          <a:xfrm>
            <a:off x="254000" y="889000"/>
            <a:ext cx="5461000" cy="381000"/>
          </a:xfrm>
          <a:prstGeom prst="rect">
            <a:avLst/>
          </a:prstGeom>
          <a:noFill/>
          <a:ln w="12700" cap="flat" cmpd="sng">
            <a:noFill/>
            <a:prstDash val="solid"/>
            <a:round/>
          </a:ln>
        </p:spPr>
        <p:txBody>
          <a:bodyPr vert="horz" wrap="square" lIns="63500" tIns="25400" rIns="63500" bIns="25400" rtlCol="0" anchor="t" anchorCtr="0"/>
          <a:lstStyle/>
          <a:p>
            <a:pPr indent="0" algn="l">
              <a:lnSpc>
                <a:spcPct val="100000"/>
              </a:lnSpc>
              <a:defRPr/>
            </a:pPr>
            <a:r>
              <a:rPr lang="en-US" sz="1800" b="1" i="0" u="none" strike="noStrike">
                <a:solidFill>
                  <a:srgbClr val="8B0000"/>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Core Design &amp; Git Version Management</a:t>
            </a:r>
            <a:endParaRPr lang="en-US" sz="1100">
              <a:latin typeface="Times New Roman" panose="02020603050405020304" pitchFamily="18" charset="0"/>
              <a:cs typeface="Times New Roman" panose="02020603050405020304" pitchFamily="18" charset="0"/>
            </a:endParaRPr>
          </a:p>
        </p:txBody>
      </p:sp>
      <p:sp>
        <p:nvSpPr>
          <p:cNvPr id="13" name="AutoShape 5">
            <a:extLst>
              <a:ext uri="{FF2B5EF4-FFF2-40B4-BE49-F238E27FC236}">
                <a16:creationId xmlns:a16="http://schemas.microsoft.com/office/drawing/2014/main" id="{59315004-EE09-4CDF-7AB4-26045AD7EEA7}"/>
              </a:ext>
            </a:extLst>
          </p:cNvPr>
          <p:cNvSpPr/>
          <p:nvPr/>
        </p:nvSpPr>
        <p:spPr>
          <a:xfrm>
            <a:off x="254000" y="1333500"/>
            <a:ext cx="5461000" cy="762000"/>
          </a:xfrm>
          <a:prstGeom prst="rect">
            <a:avLst/>
          </a:prstGeom>
          <a:noFill/>
          <a:ln w="12700" cap="flat" cmpd="sng">
            <a:noFill/>
            <a:prstDash val="solid"/>
            <a:round/>
          </a:ln>
        </p:spPr>
        <p:txBody>
          <a:bodyPr vert="horz" wrap="square" lIns="63500" tIns="25400" rIns="63500" bIns="25400" rtlCol="0" anchor="t" anchorCtr="0"/>
          <a:lstStyle/>
          <a:p>
            <a:pPr indent="0" algn="just">
              <a:lnSpc>
                <a:spcPct val="108000"/>
              </a:lnSpc>
              <a:defRPr/>
            </a:pPr>
            <a:r>
              <a:rPr lang="en-US" sz="1200" b="1" i="0" u="none" strike="noStrike">
                <a:solidFill>
                  <a:srgbClr val="8B0000"/>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Core Target:</a:t>
            </a:r>
            <a:r>
              <a:rPr lang="en-US" sz="1200" b="0" i="0" u="none" strike="noStrike">
                <a:solidFill>
                  <a:srgbClr val="1F2329"/>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Fully meet the course's mandatory Git management requirement, and implement DevOps best practices to achieve fully automated, consistent and secure deployment, for course bonus points.</a:t>
            </a:r>
            <a:endParaRPr lang="en-US" sz="1100">
              <a:latin typeface="Times New Roman" panose="02020603050405020304" pitchFamily="18" charset="0"/>
              <a:cs typeface="Times New Roman" panose="02020603050405020304" pitchFamily="18" charset="0"/>
            </a:endParaRPr>
          </a:p>
        </p:txBody>
      </p:sp>
      <p:sp>
        <p:nvSpPr>
          <p:cNvPr id="14" name="AutoShape 6">
            <a:extLst>
              <a:ext uri="{FF2B5EF4-FFF2-40B4-BE49-F238E27FC236}">
                <a16:creationId xmlns:a16="http://schemas.microsoft.com/office/drawing/2014/main" id="{41300811-A512-F08D-2A3D-42AD677F38C5}"/>
              </a:ext>
            </a:extLst>
          </p:cNvPr>
          <p:cNvSpPr/>
          <p:nvPr/>
        </p:nvSpPr>
        <p:spPr>
          <a:xfrm>
            <a:off x="254000" y="2159000"/>
            <a:ext cx="5461000" cy="889000"/>
          </a:xfrm>
          <a:prstGeom prst="rect">
            <a:avLst/>
          </a:prstGeom>
          <a:noFill/>
          <a:ln w="12700" cap="flat" cmpd="sng">
            <a:noFill/>
            <a:prstDash val="solid"/>
            <a:round/>
          </a:ln>
        </p:spPr>
        <p:txBody>
          <a:bodyPr vert="horz" wrap="square" lIns="63500" tIns="25400" rIns="63500" bIns="25400" rtlCol="0" anchor="t" anchorCtr="0"/>
          <a:lstStyle/>
          <a:p>
            <a:pPr indent="0" algn="l">
              <a:lnSpc>
                <a:spcPct val="108000"/>
              </a:lnSpc>
              <a:defRPr/>
            </a:pPr>
            <a:r>
              <a:rPr lang="en-US" sz="1200" b="1" i="0" u="none" strike="noStrike">
                <a:solidFill>
                  <a:srgbClr val="8B0000"/>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Standardized Git Management:</a:t>
            </a:r>
            <a:endParaRPr lang="en-US" sz="1100">
              <a:latin typeface="Times New Roman" panose="02020603050405020304" pitchFamily="18" charset="0"/>
              <a:cs typeface="Times New Roman" panose="02020603050405020304" pitchFamily="18" charset="0"/>
            </a:endParaRPr>
          </a:p>
          <a:p>
            <a:pPr marL="152400" indent="-152400" algn="l">
              <a:lnSpc>
                <a:spcPct val="100000"/>
              </a:lnSpc>
              <a:buClr>
                <a:srgbClr val="1F2329"/>
              </a:buClr>
              <a:buFont typeface="Wingdings" panose="05000000000000000000"/>
              <a:buChar char="ü"/>
            </a:pPr>
            <a:r>
              <a:rPr lang="en-US" sz="1200" b="0" i="0" u="none" strike="noStrike">
                <a:solidFill>
                  <a:srgbClr val="1F2329"/>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Full project code hosted on GitHub public repository</a:t>
            </a:r>
          </a:p>
          <a:p>
            <a:pPr marL="152400" indent="-152400" algn="l">
              <a:lnSpc>
                <a:spcPct val="100000"/>
              </a:lnSpc>
              <a:buClr>
                <a:srgbClr val="1F2329"/>
              </a:buClr>
              <a:buFont typeface="Wingdings" panose="05000000000000000000"/>
              <a:buChar char="ü"/>
            </a:pPr>
            <a:r>
              <a:rPr lang="en-US" sz="1200" b="0" i="0" u="none" strike="noStrike">
                <a:solidFill>
                  <a:srgbClr val="1F2329"/>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Complete traceable commit history &amp; version iteration</a:t>
            </a:r>
          </a:p>
          <a:p>
            <a:pPr marL="152400" indent="-152400" algn="l">
              <a:lnSpc>
                <a:spcPct val="100000"/>
              </a:lnSpc>
              <a:buClr>
                <a:srgbClr val="1F2329"/>
              </a:buClr>
              <a:buFont typeface="Wingdings" panose="05000000000000000000"/>
              <a:buChar char="ü"/>
            </a:pPr>
            <a:r>
              <a:rPr lang="en-US" sz="1200" b="0" i="0" u="none" strike="noStrike">
                <a:solidFill>
                  <a:srgbClr val="1F2329"/>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Standardized team collaborative workflow</a:t>
            </a:r>
          </a:p>
        </p:txBody>
      </p:sp>
      <p:sp>
        <p:nvSpPr>
          <p:cNvPr id="15" name="AutoShape 7">
            <a:extLst>
              <a:ext uri="{FF2B5EF4-FFF2-40B4-BE49-F238E27FC236}">
                <a16:creationId xmlns:a16="http://schemas.microsoft.com/office/drawing/2014/main" id="{130E457D-89C3-7DA0-C4F3-F1E72A4B1CA3}"/>
              </a:ext>
            </a:extLst>
          </p:cNvPr>
          <p:cNvSpPr/>
          <p:nvPr/>
        </p:nvSpPr>
        <p:spPr>
          <a:xfrm>
            <a:off x="254000" y="3175000"/>
            <a:ext cx="5461000" cy="762000"/>
          </a:xfrm>
          <a:prstGeom prst="rect">
            <a:avLst/>
          </a:prstGeom>
          <a:noFill/>
          <a:ln w="12700" cap="flat" cmpd="sng">
            <a:noFill/>
            <a:prstDash val="solid"/>
            <a:round/>
          </a:ln>
        </p:spPr>
        <p:txBody>
          <a:bodyPr vert="horz" wrap="square" lIns="63500" tIns="25400" rIns="63500" bIns="25400" rtlCol="0" anchor="t" anchorCtr="0"/>
          <a:lstStyle/>
          <a:p>
            <a:pPr indent="0" algn="l">
              <a:lnSpc>
                <a:spcPct val="108000"/>
              </a:lnSpc>
              <a:defRPr/>
            </a:pPr>
            <a:r>
              <a:rPr lang="en-US" sz="1200" b="1" i="0" u="none" strike="noStrike">
                <a:solidFill>
                  <a:srgbClr val="8B0000"/>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Auto Trigger Rule:</a:t>
            </a:r>
            <a:endParaRPr lang="en-US" sz="1100">
              <a:latin typeface="Times New Roman" panose="02020603050405020304" pitchFamily="18" charset="0"/>
              <a:cs typeface="Times New Roman" panose="02020603050405020304" pitchFamily="18" charset="0"/>
            </a:endParaRPr>
          </a:p>
          <a:p>
            <a:pPr marL="152400" indent="-152400" algn="l">
              <a:lnSpc>
                <a:spcPct val="100000"/>
              </a:lnSpc>
              <a:buClr>
                <a:srgbClr val="1F2329"/>
              </a:buClr>
              <a:buFont typeface="Wingdings" panose="05000000000000000000"/>
              <a:buChar char="ü"/>
            </a:pPr>
            <a:r>
              <a:rPr lang="en-US" sz="1200" b="0" i="0" u="none" strike="noStrike">
                <a:solidFill>
                  <a:srgbClr val="1F2329"/>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Auto-execute when code is pushed to `main` branch</a:t>
            </a:r>
          </a:p>
          <a:p>
            <a:pPr marL="152400" indent="-152400" algn="l">
              <a:lnSpc>
                <a:spcPct val="100000"/>
              </a:lnSpc>
              <a:buClr>
                <a:srgbClr val="1F2329"/>
              </a:buClr>
              <a:buFont typeface="Wingdings" panose="05000000000000000000"/>
              <a:buChar char="ü"/>
            </a:pPr>
            <a:r>
              <a:rPr lang="en-US" sz="1200" b="0" i="0" u="none" strike="noStrike">
                <a:solidFill>
                  <a:srgbClr val="1F2329"/>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Zero manual operation throughout the full process</a:t>
            </a:r>
          </a:p>
        </p:txBody>
      </p:sp>
    </p:spTree>
    <p:extLst>
      <p:ext uri="{BB962C8B-B14F-4D97-AF65-F5344CB8AC3E}">
        <p14:creationId xmlns:p14="http://schemas.microsoft.com/office/powerpoint/2010/main" val="3405412759"/>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B5E71D1C-DA08-0FE8-ADA6-9F2EF3200F48}"/>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D8CBAE37-90C5-7D3C-6479-D4FB192B6C3A}"/>
              </a:ext>
            </a:extLst>
          </p:cNvPr>
          <p:cNvSpPr/>
          <p:nvPr/>
        </p:nvSpPr>
        <p:spPr>
          <a:xfrm>
            <a:off x="203200" y="177800"/>
            <a:ext cx="11734800" cy="508000"/>
          </a:xfrm>
          <a:prstGeom prst="rect">
            <a:avLst/>
          </a:prstGeom>
          <a:noFill/>
          <a:ln w="12700" cap="flat" cmpd="sng">
            <a:noFill/>
            <a:prstDash val="solid"/>
            <a:round/>
          </a:ln>
        </p:spPr>
        <p:txBody>
          <a:bodyPr vert="horz" wrap="none" lIns="88900" tIns="50800" rIns="88900" bIns="50800" rtlCol="0" anchor="t" anchorCtr="0"/>
          <a:lstStyle/>
          <a:p>
            <a:pPr indent="0" algn="l">
              <a:lnSpc>
                <a:spcPct val="100000"/>
              </a:lnSpc>
              <a:defRPr/>
            </a:pPr>
            <a:r>
              <a:rPr lang="en-US" sz="2400" b="1" i="0" u="none" strike="noStrike">
                <a:solidFill>
                  <a:srgbClr val="8B0000"/>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03 / DEVOPS AND CI/CD WORKFLOW</a:t>
            </a:r>
            <a:endParaRPr lang="en-US" sz="1100">
              <a:latin typeface="Times New Roman" panose="02020603050405020304" pitchFamily="18" charset="0"/>
              <a:cs typeface="Times New Roman" panose="02020603050405020304" pitchFamily="18" charset="0"/>
            </a:endParaRPr>
          </a:p>
        </p:txBody>
      </p:sp>
      <p:sp>
        <p:nvSpPr>
          <p:cNvPr id="3" name="AutoShape 3">
            <a:extLst>
              <a:ext uri="{FF2B5EF4-FFF2-40B4-BE49-F238E27FC236}">
                <a16:creationId xmlns:a16="http://schemas.microsoft.com/office/drawing/2014/main" id="{B759B86D-58E4-56A8-BF62-DCA5A9E753F3}"/>
              </a:ext>
            </a:extLst>
          </p:cNvPr>
          <p:cNvSpPr/>
          <p:nvPr/>
        </p:nvSpPr>
        <p:spPr>
          <a:xfrm>
            <a:off x="9975272" y="63500"/>
            <a:ext cx="1962727" cy="381000"/>
          </a:xfrm>
          <a:prstGeom prst="rect">
            <a:avLst/>
          </a:prstGeom>
          <a:noFill/>
          <a:ln w="12700" cap="flat" cmpd="sng">
            <a:noFill/>
            <a:prstDash val="solid"/>
            <a:round/>
          </a:ln>
        </p:spPr>
        <p:txBody>
          <a:bodyPr vert="horz" wrap="square" lIns="88900" tIns="50800" rIns="88900" bIns="50800" rtlCol="0" anchor="t" anchorCtr="0"/>
          <a:lstStyle/>
          <a:p>
            <a:pPr indent="0" algn="r">
              <a:lnSpc>
                <a:spcPct val="100000"/>
              </a:lnSpc>
              <a:defRPr/>
            </a:pPr>
            <a:r>
              <a:rPr lang="en-US" sz="1400" b="0" i="1" u="none" strike="noStrike" dirty="0">
                <a:solidFill>
                  <a:srgbClr val="808080"/>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Zhang Zilong-25454722</a:t>
            </a:r>
            <a:endParaRPr lang="en-US" sz="1100" i="1" dirty="0">
              <a:latin typeface="Times New Roman" panose="02020603050405020304" pitchFamily="18" charset="0"/>
              <a:cs typeface="Times New Roman" panose="02020603050405020304" pitchFamily="18" charset="0"/>
            </a:endParaRPr>
          </a:p>
        </p:txBody>
      </p:sp>
      <p:sp>
        <p:nvSpPr>
          <p:cNvPr id="4" name="AutoShape 8">
            <a:extLst>
              <a:ext uri="{FF2B5EF4-FFF2-40B4-BE49-F238E27FC236}">
                <a16:creationId xmlns:a16="http://schemas.microsoft.com/office/drawing/2014/main" id="{9A87D8E3-AFE0-822F-DF04-3C2D1F2205B8}"/>
              </a:ext>
            </a:extLst>
          </p:cNvPr>
          <p:cNvSpPr/>
          <p:nvPr>
            <p:custDataLst>
              <p:tags r:id="rId1"/>
            </p:custDataLst>
          </p:nvPr>
        </p:nvSpPr>
        <p:spPr>
          <a:xfrm>
            <a:off x="113030" y="889000"/>
            <a:ext cx="5461000" cy="3342005"/>
          </a:xfrm>
          <a:prstGeom prst="roundRect">
            <a:avLst>
              <a:gd name="adj" fmla="val 4347"/>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latin typeface="Times New Roman" panose="02020603050405020304" pitchFamily="18" charset="0"/>
              <a:cs typeface="Times New Roman" panose="02020603050405020304" pitchFamily="18" charset="0"/>
            </a:endParaRPr>
          </a:p>
        </p:txBody>
      </p:sp>
      <p:sp>
        <p:nvSpPr>
          <p:cNvPr id="5" name="AutoShape 12">
            <a:extLst>
              <a:ext uri="{FF2B5EF4-FFF2-40B4-BE49-F238E27FC236}">
                <a16:creationId xmlns:a16="http://schemas.microsoft.com/office/drawing/2014/main" id="{BADA3C48-9D3E-D198-68FE-94F813D711D4}"/>
              </a:ext>
            </a:extLst>
          </p:cNvPr>
          <p:cNvSpPr/>
          <p:nvPr/>
        </p:nvSpPr>
        <p:spPr>
          <a:xfrm>
            <a:off x="381000" y="5969000"/>
            <a:ext cx="11430000" cy="508000"/>
          </a:xfrm>
          <a:prstGeom prst="roundRect">
            <a:avLst>
              <a:gd name="adj" fmla="val 2500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endParaRPr>
              <a:latin typeface="Times New Roman" panose="02020603050405020304" pitchFamily="18" charset="0"/>
              <a:cs typeface="Times New Roman" panose="02020603050405020304" pitchFamily="18" charset="0"/>
            </a:endParaRPr>
          </a:p>
        </p:txBody>
      </p:sp>
      <p:pic>
        <p:nvPicPr>
          <p:cNvPr id="6" name="Picture 13">
            <a:extLst>
              <a:ext uri="{FF2B5EF4-FFF2-40B4-BE49-F238E27FC236}">
                <a16:creationId xmlns:a16="http://schemas.microsoft.com/office/drawing/2014/main" id="{B2CCC103-99B5-F31E-9F96-327C9A24C59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71500" y="6096000"/>
            <a:ext cx="254000" cy="254000"/>
          </a:xfrm>
          <a:prstGeom prst="rect">
            <a:avLst/>
          </a:prstGeom>
        </p:spPr>
      </p:pic>
      <p:sp>
        <p:nvSpPr>
          <p:cNvPr id="7" name="AutoShape 14">
            <a:extLst>
              <a:ext uri="{FF2B5EF4-FFF2-40B4-BE49-F238E27FC236}">
                <a16:creationId xmlns:a16="http://schemas.microsoft.com/office/drawing/2014/main" id="{9CF0443C-B3D7-8564-AE4D-1E5709476825}"/>
              </a:ext>
            </a:extLst>
          </p:cNvPr>
          <p:cNvSpPr/>
          <p:nvPr/>
        </p:nvSpPr>
        <p:spPr>
          <a:xfrm>
            <a:off x="952500" y="6032500"/>
            <a:ext cx="10160000" cy="381000"/>
          </a:xfrm>
          <a:prstGeom prst="rect">
            <a:avLst/>
          </a:prstGeom>
          <a:noFill/>
          <a:ln w="12700" cap="flat" cmpd="sng">
            <a:noFill/>
            <a:prstDash val="solid"/>
            <a:round/>
          </a:ln>
        </p:spPr>
        <p:txBody>
          <a:bodyPr vert="horz" wrap="none" lIns="63500" tIns="0" rIns="63500" bIns="0" rtlCol="0" anchor="ctr" anchorCtr="0"/>
          <a:lstStyle/>
          <a:p>
            <a:pPr indent="0" algn="l">
              <a:lnSpc>
                <a:spcPct val="100000"/>
              </a:lnSpc>
              <a:defRPr/>
            </a:pPr>
            <a:r>
              <a:rPr lang="en-US" sz="1400" b="1" i="0" u="none" strike="noStrike">
                <a:solidFill>
                  <a:srgbClr val="1F2329"/>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Project Repository:</a:t>
            </a:r>
            <a:r>
              <a:rPr lang="en-US" sz="1400" b="0" i="0" u="none" strike="noStrike">
                <a:solidFill>
                  <a:srgbClr val="37415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github.com/pary666/comp7940-group</a:t>
            </a:r>
            <a:endParaRPr lang="en-US" sz="1100">
              <a:latin typeface="Times New Roman" panose="02020603050405020304" pitchFamily="18" charset="0"/>
              <a:cs typeface="Times New Roman" panose="02020603050405020304" pitchFamily="18" charset="0"/>
            </a:endParaRPr>
          </a:p>
        </p:txBody>
      </p:sp>
      <p:pic>
        <p:nvPicPr>
          <p:cNvPr id="9" name="图片 1">
            <a:extLst>
              <a:ext uri="{FF2B5EF4-FFF2-40B4-BE49-F238E27FC236}">
                <a16:creationId xmlns:a16="http://schemas.microsoft.com/office/drawing/2014/main" id="{313EFE1C-F850-E182-7888-104A6FB47A98}"/>
              </a:ext>
            </a:extLst>
          </p:cNvPr>
          <p:cNvPicPr>
            <a:picLocks noChangeAspect="1"/>
          </p:cNvPicPr>
          <p:nvPr/>
        </p:nvPicPr>
        <p:blipFill>
          <a:blip r:embed="rId5"/>
          <a:stretch>
            <a:fillRect/>
          </a:stretch>
        </p:blipFill>
        <p:spPr>
          <a:xfrm>
            <a:off x="6269990" y="888683"/>
            <a:ext cx="5110480" cy="3068955"/>
          </a:xfrm>
          <a:prstGeom prst="rect">
            <a:avLst/>
          </a:prstGeom>
        </p:spPr>
      </p:pic>
      <p:sp>
        <p:nvSpPr>
          <p:cNvPr id="10" name="AutoShape 8">
            <a:extLst>
              <a:ext uri="{FF2B5EF4-FFF2-40B4-BE49-F238E27FC236}">
                <a16:creationId xmlns:a16="http://schemas.microsoft.com/office/drawing/2014/main" id="{402E0362-D976-3902-D9BB-263951F493C6}"/>
              </a:ext>
            </a:extLst>
          </p:cNvPr>
          <p:cNvSpPr/>
          <p:nvPr/>
        </p:nvSpPr>
        <p:spPr>
          <a:xfrm>
            <a:off x="203200" y="942975"/>
            <a:ext cx="5461000" cy="381000"/>
          </a:xfrm>
          <a:prstGeom prst="rect">
            <a:avLst/>
          </a:prstGeom>
          <a:noFill/>
          <a:ln w="12700" cap="flat" cmpd="sng">
            <a:noFill/>
            <a:prstDash val="solid"/>
            <a:round/>
          </a:ln>
        </p:spPr>
        <p:txBody>
          <a:bodyPr vert="horz" wrap="square" lIns="63500" tIns="25400" rIns="63500" bIns="25400" rtlCol="0" anchor="t" anchorCtr="0"/>
          <a:lstStyle/>
          <a:p>
            <a:pPr indent="0" algn="l">
              <a:lnSpc>
                <a:spcPct val="100000"/>
              </a:lnSpc>
              <a:defRPr/>
            </a:pPr>
            <a:r>
              <a:rPr lang="en-US" sz="1800" b="1" i="0" u="none" strike="noStrike">
                <a:solidFill>
                  <a:srgbClr val="8B0000"/>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End-to-End Automated CI/CD Pipeline</a:t>
            </a:r>
            <a:endParaRPr lang="en-US" sz="1100">
              <a:latin typeface="Times New Roman" panose="02020603050405020304" pitchFamily="18" charset="0"/>
              <a:cs typeface="Times New Roman" panose="02020603050405020304" pitchFamily="18" charset="0"/>
            </a:endParaRPr>
          </a:p>
        </p:txBody>
      </p:sp>
      <p:sp>
        <p:nvSpPr>
          <p:cNvPr id="11" name="AutoShape 9">
            <a:extLst>
              <a:ext uri="{FF2B5EF4-FFF2-40B4-BE49-F238E27FC236}">
                <a16:creationId xmlns:a16="http://schemas.microsoft.com/office/drawing/2014/main" id="{F7D99265-66E4-49F1-7A56-A82DC03A283B}"/>
              </a:ext>
            </a:extLst>
          </p:cNvPr>
          <p:cNvSpPr/>
          <p:nvPr/>
        </p:nvSpPr>
        <p:spPr>
          <a:xfrm>
            <a:off x="203200" y="1387475"/>
            <a:ext cx="5461000" cy="1397000"/>
          </a:xfrm>
          <a:prstGeom prst="rect">
            <a:avLst/>
          </a:prstGeom>
          <a:noFill/>
          <a:ln w="12700" cap="flat" cmpd="sng">
            <a:noFill/>
            <a:prstDash val="solid"/>
            <a:round/>
          </a:ln>
        </p:spPr>
        <p:txBody>
          <a:bodyPr vert="horz" wrap="square" lIns="63500" tIns="25400" rIns="63500" bIns="25400" rtlCol="0" anchor="t" anchorCtr="0"/>
          <a:lstStyle/>
          <a:p>
            <a:pPr indent="0" algn="l">
              <a:lnSpc>
                <a:spcPct val="108000"/>
              </a:lnSpc>
              <a:defRPr/>
            </a:pPr>
            <a:r>
              <a:rPr lang="en-US" sz="1200" b="1" i="0" u="none" strike="noStrike">
                <a:solidFill>
                  <a:srgbClr val="8B0000"/>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Full Automated Workflow:</a:t>
            </a:r>
            <a:endParaRPr lang="en-US" sz="1100">
              <a:latin typeface="Times New Roman" panose="02020603050405020304" pitchFamily="18" charset="0"/>
              <a:cs typeface="Times New Roman" panose="02020603050405020304" pitchFamily="18" charset="0"/>
            </a:endParaRPr>
          </a:p>
          <a:p>
            <a:pPr marL="152400" indent="-152400" algn="l">
              <a:lnSpc>
                <a:spcPct val="100000"/>
              </a:lnSpc>
              <a:buClr>
                <a:srgbClr val="1F2329"/>
              </a:buClr>
              <a:buFont typeface="+mj-lt"/>
              <a:buAutoNum type="arabicPeriod"/>
            </a:pPr>
            <a:r>
              <a:rPr lang="en-US" sz="1200" b="0" i="0" u="none" strike="noStrike">
                <a:solidFill>
                  <a:srgbClr val="1F2329"/>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Checkout latest code from the repository</a:t>
            </a:r>
          </a:p>
          <a:p>
            <a:pPr marL="152400" indent="-152400" algn="l">
              <a:lnSpc>
                <a:spcPct val="100000"/>
              </a:lnSpc>
              <a:buClr>
                <a:srgbClr val="1F2329"/>
              </a:buClr>
              <a:buFont typeface="+mj-lt"/>
              <a:buAutoNum type="arabicPeriod"/>
            </a:pPr>
            <a:r>
              <a:rPr lang="en-US" sz="1200" b="0" i="0" u="none" strike="noStrike">
                <a:solidFill>
                  <a:srgbClr val="1F2329"/>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Configure SSH secure access environment</a:t>
            </a:r>
          </a:p>
          <a:p>
            <a:pPr marL="152400" indent="-152400" algn="l">
              <a:lnSpc>
                <a:spcPct val="100000"/>
              </a:lnSpc>
              <a:buClr>
                <a:srgbClr val="1F2329"/>
              </a:buClr>
              <a:buFont typeface="+mj-lt"/>
              <a:buAutoNum type="arabicPeriod"/>
            </a:pPr>
            <a:r>
              <a:rPr lang="en-US" sz="1200" b="0" i="0" u="none" strike="noStrike">
                <a:solidFill>
                  <a:srgbClr val="1F2329"/>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Build Docker image on GitHub runner</a:t>
            </a:r>
          </a:p>
          <a:p>
            <a:pPr marL="152400" indent="-152400" algn="l">
              <a:lnSpc>
                <a:spcPct val="100000"/>
              </a:lnSpc>
              <a:buClr>
                <a:srgbClr val="1F2329"/>
              </a:buClr>
              <a:buFont typeface="+mj-lt"/>
              <a:buAutoNum type="arabicPeriod"/>
            </a:pPr>
            <a:r>
              <a:rPr lang="en-US" sz="1200" b="0" i="0" u="none" strike="noStrike">
                <a:solidFill>
                  <a:srgbClr val="1F2329"/>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Package image and transfer to EC2 via SCP</a:t>
            </a:r>
          </a:p>
          <a:p>
            <a:pPr marL="152400" indent="-152400" algn="l">
              <a:lnSpc>
                <a:spcPct val="100000"/>
              </a:lnSpc>
              <a:buClr>
                <a:srgbClr val="1F2329"/>
              </a:buClr>
              <a:buFont typeface="+mj-lt"/>
              <a:buAutoNum type="arabicPeriod"/>
            </a:pPr>
            <a:r>
              <a:rPr lang="en-US" sz="1200" b="0" i="0" u="none" strike="noStrike">
                <a:solidFill>
                  <a:srgbClr val="1F2329"/>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Load image on EC2 &amp; clean up old container</a:t>
            </a:r>
          </a:p>
          <a:p>
            <a:pPr marL="152400" indent="-152400" algn="l">
              <a:lnSpc>
                <a:spcPct val="100000"/>
              </a:lnSpc>
              <a:buClr>
                <a:srgbClr val="1F2329"/>
              </a:buClr>
              <a:buFont typeface="+mj-lt"/>
              <a:buAutoNum type="arabicPeriod"/>
            </a:pPr>
            <a:r>
              <a:rPr lang="en-US" sz="1200" b="0" i="0" u="none" strike="noStrike">
                <a:solidFill>
                  <a:srgbClr val="1F2329"/>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Start new container with auto-restart configuration</a:t>
            </a:r>
          </a:p>
        </p:txBody>
      </p:sp>
      <p:sp>
        <p:nvSpPr>
          <p:cNvPr id="12" name="AutoShape 10">
            <a:extLst>
              <a:ext uri="{FF2B5EF4-FFF2-40B4-BE49-F238E27FC236}">
                <a16:creationId xmlns:a16="http://schemas.microsoft.com/office/drawing/2014/main" id="{1CD3BDF7-B65C-DB21-F8A6-B30808BA47B5}"/>
              </a:ext>
            </a:extLst>
          </p:cNvPr>
          <p:cNvSpPr/>
          <p:nvPr/>
        </p:nvSpPr>
        <p:spPr>
          <a:xfrm>
            <a:off x="203200" y="2911475"/>
            <a:ext cx="5461000" cy="1143000"/>
          </a:xfrm>
          <a:prstGeom prst="rect">
            <a:avLst/>
          </a:prstGeom>
          <a:noFill/>
          <a:ln w="12700" cap="flat" cmpd="sng">
            <a:noFill/>
            <a:prstDash val="solid"/>
            <a:round/>
          </a:ln>
        </p:spPr>
        <p:txBody>
          <a:bodyPr vert="horz" wrap="square" lIns="63500" tIns="25400" rIns="63500" bIns="25400" rtlCol="0" anchor="t" anchorCtr="0"/>
          <a:lstStyle/>
          <a:p>
            <a:pPr indent="0" algn="l">
              <a:lnSpc>
                <a:spcPct val="108000"/>
              </a:lnSpc>
              <a:defRPr/>
            </a:pPr>
            <a:r>
              <a:rPr lang="en-US" sz="1200" b="1" i="0" u="none" strike="noStrike">
                <a:solidFill>
                  <a:srgbClr val="8B0000"/>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Core Design Highlights:</a:t>
            </a:r>
            <a:endParaRPr lang="en-US" sz="1100">
              <a:latin typeface="Times New Roman" panose="02020603050405020304" pitchFamily="18" charset="0"/>
              <a:cs typeface="Times New Roman" panose="02020603050405020304" pitchFamily="18" charset="0"/>
            </a:endParaRPr>
          </a:p>
          <a:p>
            <a:pPr marL="152400" indent="-152400" algn="l">
              <a:lnSpc>
                <a:spcPct val="100000"/>
              </a:lnSpc>
              <a:buClr>
                <a:srgbClr val="1F2329"/>
              </a:buClr>
              <a:buFont typeface="Wingdings" panose="05000000000000000000"/>
              <a:buChar char="ü"/>
            </a:pPr>
            <a:r>
              <a:rPr lang="en-US" sz="1200" b="0" i="0" u="none" strike="noStrike">
                <a:solidFill>
                  <a:srgbClr val="1F2329"/>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Sensitive info fully protected via GitHub Secrets (no hardcoding)</a:t>
            </a:r>
          </a:p>
          <a:p>
            <a:pPr marL="152400" indent="-152400" algn="l">
              <a:lnSpc>
                <a:spcPct val="100000"/>
              </a:lnSpc>
              <a:buClr>
                <a:srgbClr val="1F2329"/>
              </a:buClr>
              <a:buFont typeface="Wingdings" panose="05000000000000000000"/>
              <a:buChar char="ü"/>
            </a:pPr>
            <a:r>
              <a:rPr lang="en-US" sz="1200" b="0" i="0" u="none" strike="noStrike">
                <a:solidFill>
                  <a:srgbClr val="1F2329"/>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Image build does not occupy EC2 computing resources</a:t>
            </a:r>
          </a:p>
          <a:p>
            <a:pPr marL="152400" indent="-152400" algn="l">
              <a:lnSpc>
                <a:spcPct val="100000"/>
              </a:lnSpc>
              <a:buClr>
                <a:srgbClr val="1F2329"/>
              </a:buClr>
              <a:buFont typeface="Wingdings" panose="05000000000000000000"/>
              <a:buChar char="ü"/>
            </a:pPr>
            <a:r>
              <a:rPr lang="en-US" sz="1200" b="0" i="0" u="none" strike="noStrike">
                <a:solidFill>
                  <a:srgbClr val="1F2329"/>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Configuration and image decoupled via volume mount</a:t>
            </a:r>
          </a:p>
          <a:p>
            <a:pPr marL="152400" indent="-152400" algn="l">
              <a:lnSpc>
                <a:spcPct val="100000"/>
              </a:lnSpc>
              <a:buClr>
                <a:srgbClr val="1F2329"/>
              </a:buClr>
              <a:buFont typeface="Wingdings" panose="05000000000000000000"/>
              <a:buChar char="ü"/>
            </a:pPr>
            <a:r>
              <a:rPr lang="en-US" sz="1200" b="0" i="0" u="none" strike="noStrike">
                <a:solidFill>
                  <a:srgbClr val="1F2329"/>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Guaranteed environment consistency &amp; deployment stability</a:t>
            </a:r>
          </a:p>
        </p:txBody>
      </p:sp>
    </p:spTree>
    <p:extLst>
      <p:ext uri="{BB962C8B-B14F-4D97-AF65-F5344CB8AC3E}">
        <p14:creationId xmlns:p14="http://schemas.microsoft.com/office/powerpoint/2010/main" val="543946964"/>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CBA853FF-A55B-D035-AE6E-CB44482CB743}"/>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FDBC910D-1281-DDA3-599C-5B584E6845B9}"/>
              </a:ext>
            </a:extLst>
          </p:cNvPr>
          <p:cNvSpPr txBox="1"/>
          <p:nvPr/>
        </p:nvSpPr>
        <p:spPr>
          <a:xfrm>
            <a:off x="207010" y="180975"/>
            <a:ext cx="8416925" cy="730885"/>
          </a:xfrm>
          <a:prstGeom prst="rect">
            <a:avLst/>
          </a:prstGeom>
          <a:noFill/>
        </p:spPr>
        <p:txBody>
          <a:bodyPr wrap="square">
            <a:spAutoFit/>
          </a:bodyPr>
          <a:lstStyle/>
          <a:p>
            <a:pPr algn="just">
              <a:lnSpc>
                <a:spcPct val="130000"/>
              </a:lnSpc>
            </a:pPr>
            <a:r>
              <a:rPr lang="en-US" altLang="zh-CN" sz="3200" b="1" kern="0" spc="68" dirty="0">
                <a:solidFill>
                  <a:srgbClr val="8B0000"/>
                </a:solidFill>
                <a:latin typeface="Times New Roman" panose="02020603050405020304" pitchFamily="18" charset="0"/>
                <a:ea typeface="Sorts Mill Goudy" pitchFamily="34" charset="-122"/>
                <a:cs typeface="Times New Roman" panose="02020603050405020304" pitchFamily="18" charset="0"/>
              </a:rPr>
              <a:t>04 / </a:t>
            </a:r>
            <a:r>
              <a:rPr lang="en-US" altLang="zh-CN" sz="2800" b="1" dirty="0">
                <a:solidFill>
                  <a:srgbClr val="8B0000"/>
                </a:solidFill>
                <a:latin typeface="Times New Roman" panose="02020603050405020304" pitchFamily="18" charset="0"/>
                <a:cs typeface="Times New Roman" panose="02020603050405020304" pitchFamily="18" charset="0"/>
              </a:rPr>
              <a:t>Containerization Strategy &amp; Environment Setup</a:t>
            </a:r>
          </a:p>
        </p:txBody>
      </p:sp>
      <p:sp>
        <p:nvSpPr>
          <p:cNvPr id="3" name="文本框 2">
            <a:extLst>
              <a:ext uri="{FF2B5EF4-FFF2-40B4-BE49-F238E27FC236}">
                <a16:creationId xmlns:a16="http://schemas.microsoft.com/office/drawing/2014/main" id="{DA658C35-8CFE-7A58-056F-449F781C6D98}"/>
              </a:ext>
            </a:extLst>
          </p:cNvPr>
          <p:cNvSpPr txBox="1"/>
          <p:nvPr/>
        </p:nvSpPr>
        <p:spPr>
          <a:xfrm>
            <a:off x="9830610" y="47291"/>
            <a:ext cx="2361390" cy="395749"/>
          </a:xfrm>
          <a:prstGeom prst="rect">
            <a:avLst/>
          </a:prstGeom>
          <a:noFill/>
        </p:spPr>
        <p:txBody>
          <a:bodyPr wrap="square">
            <a:spAutoFit/>
          </a:bodyPr>
          <a:lstStyle/>
          <a:p>
            <a:pPr algn="ctr">
              <a:lnSpc>
                <a:spcPct val="120000"/>
              </a:lnSpc>
            </a:pPr>
            <a:r>
              <a:rPr lang="en-US" altLang="zh-CN" sz="1800" i="1" dirty="0">
                <a:solidFill>
                  <a:schemeClr val="bg1">
                    <a:lumMod val="50000"/>
                  </a:schemeClr>
                </a:solidFill>
                <a:latin typeface="Times New Roman" panose="02020603050405020304" pitchFamily="18" charset="0"/>
                <a:ea typeface="Sorts Mill Goudy" pitchFamily="34" charset="-122"/>
                <a:cs typeface="Times New Roman" panose="02020603050405020304" pitchFamily="18" charset="0"/>
              </a:rPr>
              <a:t>Zhang Ziru-</a:t>
            </a:r>
            <a:r>
              <a:rPr lang="en-US" altLang="zh-CN" sz="1800" i="1" dirty="0">
                <a:solidFill>
                  <a:schemeClr val="bg1">
                    <a:lumMod val="50000"/>
                  </a:schemeClr>
                </a:solidFill>
                <a:latin typeface="Times New Roman" panose="02020603050405020304" pitchFamily="18" charset="0"/>
                <a:cs typeface="Times New Roman" panose="02020603050405020304" pitchFamily="18" charset="0"/>
              </a:rPr>
              <a:t>25450492</a:t>
            </a:r>
            <a:r>
              <a:rPr lang="en-US" altLang="zh-CN" sz="1800" i="1" dirty="0">
                <a:solidFill>
                  <a:schemeClr val="bg1">
                    <a:lumMod val="50000"/>
                  </a:schemeClr>
                </a:solidFill>
                <a:latin typeface="Times New Roman" panose="02020603050405020304" pitchFamily="18" charset="0"/>
                <a:ea typeface="Sorts Mill Goudy" pitchFamily="34" charset="-122"/>
                <a:cs typeface="Times New Roman" panose="02020603050405020304" pitchFamily="18" charset="0"/>
              </a:rPr>
              <a:t>  </a:t>
            </a:r>
          </a:p>
        </p:txBody>
      </p:sp>
      <p:pic>
        <p:nvPicPr>
          <p:cNvPr id="4" name="图片 3">
            <a:extLst>
              <a:ext uri="{FF2B5EF4-FFF2-40B4-BE49-F238E27FC236}">
                <a16:creationId xmlns:a16="http://schemas.microsoft.com/office/drawing/2014/main" id="{3F973F78-4215-6025-F570-9F48A1EEDF8B}"/>
              </a:ext>
            </a:extLst>
          </p:cNvPr>
          <p:cNvPicPr>
            <a:picLocks noChangeAspect="1"/>
          </p:cNvPicPr>
          <p:nvPr/>
        </p:nvPicPr>
        <p:blipFill>
          <a:blip r:embed="rId3"/>
          <a:stretch>
            <a:fillRect/>
          </a:stretch>
        </p:blipFill>
        <p:spPr>
          <a:xfrm>
            <a:off x="207010" y="1012825"/>
            <a:ext cx="5060950" cy="5400040"/>
          </a:xfrm>
          <a:prstGeom prst="rect">
            <a:avLst/>
          </a:prstGeom>
        </p:spPr>
      </p:pic>
      <p:sp>
        <p:nvSpPr>
          <p:cNvPr id="5" name="文本框 4">
            <a:extLst>
              <a:ext uri="{FF2B5EF4-FFF2-40B4-BE49-F238E27FC236}">
                <a16:creationId xmlns:a16="http://schemas.microsoft.com/office/drawing/2014/main" id="{6578BC38-49DC-B79F-8629-6D686CB469EE}"/>
              </a:ext>
            </a:extLst>
          </p:cNvPr>
          <p:cNvSpPr txBox="1"/>
          <p:nvPr/>
        </p:nvSpPr>
        <p:spPr>
          <a:xfrm>
            <a:off x="5667375" y="1022350"/>
            <a:ext cx="6275705" cy="5354320"/>
          </a:xfrm>
          <a:prstGeom prst="rect">
            <a:avLst/>
          </a:prstGeom>
          <a:noFill/>
        </p:spPr>
        <p:txBody>
          <a:bodyPr wrap="square" rtlCol="0">
            <a:spAutoFit/>
          </a:bodyPr>
          <a:lstStyle/>
          <a:p>
            <a:pPr indent="0" algn="just" fontAlgn="auto">
              <a:lnSpc>
                <a:spcPct val="100000"/>
              </a:lnSpc>
              <a:buClrTx/>
              <a:buSzTx/>
              <a:buFont typeface="Arial" panose="020B0604020202020204" pitchFamily="34" charset="0"/>
              <a:buChar char="•"/>
            </a:pPr>
            <a:r>
              <a:rPr lang="en-US" sz="1900" b="1" dirty="0">
                <a:solidFill>
                  <a:srgbClr val="1F2937"/>
                </a:solidFill>
                <a:latin typeface="Times New Roman" panose="02020603050405020304" pitchFamily="18" charset="0"/>
                <a:ea typeface="Sorts Mill Goudy" pitchFamily="34" charset="-122"/>
                <a:cs typeface="Times New Roman" panose="02020603050405020304" pitchFamily="18" charset="0"/>
              </a:rPr>
              <a:t>Lightweight base image：</a:t>
            </a:r>
            <a:endParaRPr lang="en-US" sz="1900" dirty="0">
              <a:solidFill>
                <a:srgbClr val="1F2937"/>
              </a:solidFill>
              <a:latin typeface="Times New Roman" panose="02020603050405020304" pitchFamily="18" charset="0"/>
              <a:ea typeface="Sorts Mill Goudy" pitchFamily="34" charset="-122"/>
              <a:cs typeface="Times New Roman" panose="02020603050405020304" pitchFamily="18" charset="0"/>
            </a:endParaRPr>
          </a:p>
          <a:p>
            <a:pPr indent="0" algn="just" fontAlgn="auto">
              <a:lnSpc>
                <a:spcPct val="100000"/>
              </a:lnSpc>
              <a:buClrTx/>
              <a:buSzTx/>
              <a:buFont typeface="Arial" panose="020B0604020202020204" pitchFamily="34" charset="0"/>
              <a:buNone/>
            </a:pPr>
            <a:r>
              <a:rPr lang="en-US" sz="1900" dirty="0">
                <a:solidFill>
                  <a:srgbClr val="1F2937"/>
                </a:solidFill>
                <a:latin typeface="Times New Roman" panose="02020603050405020304" pitchFamily="18" charset="0"/>
                <a:ea typeface="Sorts Mill Goudy" pitchFamily="34" charset="-122"/>
                <a:cs typeface="Times New Roman" panose="02020603050405020304" pitchFamily="18" charset="0"/>
              </a:rPr>
              <a:t>      By using </a:t>
            </a:r>
            <a:r>
              <a:rPr lang="en-US" sz="1900" b="1" dirty="0">
                <a:solidFill>
                  <a:srgbClr val="C00000"/>
                </a:solidFill>
                <a:latin typeface="Times New Roman" panose="02020603050405020304" pitchFamily="18" charset="0"/>
                <a:ea typeface="Sorts Mill Goudy" pitchFamily="34" charset="-122"/>
                <a:cs typeface="Times New Roman" panose="02020603050405020304" pitchFamily="18" charset="0"/>
              </a:rPr>
              <a:t>python:3.11-slim</a:t>
            </a:r>
            <a:r>
              <a:rPr lang="en-US" sz="1900" dirty="0">
                <a:solidFill>
                  <a:srgbClr val="1F2937"/>
                </a:solidFill>
                <a:latin typeface="Times New Roman" panose="02020603050405020304" pitchFamily="18" charset="0"/>
                <a:ea typeface="Sorts Mill Goudy" pitchFamily="34" charset="-122"/>
                <a:cs typeface="Times New Roman" panose="02020603050405020304" pitchFamily="18" charset="0"/>
              </a:rPr>
              <a:t>, the image size is significantly reduced, improving the efficiency of pulling and deploying in a cloud environment.</a:t>
            </a:r>
          </a:p>
          <a:p>
            <a:pPr indent="0" algn="just" fontAlgn="auto">
              <a:lnSpc>
                <a:spcPct val="100000"/>
              </a:lnSpc>
              <a:buClrTx/>
              <a:buSzTx/>
              <a:buFont typeface="Arial" panose="020B0604020202020204" pitchFamily="34" charset="0"/>
              <a:buChar char="•"/>
            </a:pPr>
            <a:r>
              <a:rPr lang="en-US" sz="1900" b="1" dirty="0">
                <a:solidFill>
                  <a:srgbClr val="1F2937"/>
                </a:solidFill>
                <a:latin typeface="Times New Roman" panose="02020603050405020304" pitchFamily="18" charset="0"/>
                <a:ea typeface="Sorts Mill Goudy" pitchFamily="34" charset="-122"/>
                <a:cs typeface="Times New Roman" panose="02020603050405020304" pitchFamily="18" charset="0"/>
              </a:rPr>
              <a:t>Layer Caching：</a:t>
            </a:r>
          </a:p>
          <a:p>
            <a:pPr indent="0" algn="just" fontAlgn="auto">
              <a:lnSpc>
                <a:spcPct val="100000"/>
              </a:lnSpc>
              <a:buClrTx/>
              <a:buSzTx/>
              <a:buFont typeface="Arial" panose="020B0604020202020204" pitchFamily="34" charset="0"/>
              <a:buNone/>
            </a:pPr>
            <a:r>
              <a:rPr lang="en-US" sz="1900" dirty="0">
                <a:solidFill>
                  <a:srgbClr val="1F2937"/>
                </a:solidFill>
                <a:latin typeface="Times New Roman" panose="02020603050405020304" pitchFamily="18" charset="0"/>
                <a:ea typeface="Sorts Mill Goudy" pitchFamily="34" charset="-122"/>
                <a:cs typeface="Times New Roman" panose="02020603050405020304" pitchFamily="18" charset="0"/>
              </a:rPr>
              <a:t>      Before copying the main project code, first execute </a:t>
            </a:r>
            <a:r>
              <a:rPr lang="en-US" sz="1900" b="1" dirty="0">
                <a:solidFill>
                  <a:srgbClr val="C00000"/>
                </a:solidFill>
                <a:latin typeface="Times New Roman" panose="02020603050405020304" pitchFamily="18" charset="0"/>
                <a:ea typeface="Sorts Mill Goudy" pitchFamily="34" charset="-122"/>
                <a:cs typeface="Times New Roman" panose="02020603050405020304" pitchFamily="18" charset="0"/>
              </a:rPr>
              <a:t>`COPY requirements.txt`</a:t>
            </a:r>
            <a:r>
              <a:rPr lang="en-US" sz="1900" dirty="0">
                <a:solidFill>
                  <a:srgbClr val="1F2937"/>
                </a:solidFill>
                <a:latin typeface="Times New Roman" panose="02020603050405020304" pitchFamily="18" charset="0"/>
                <a:ea typeface="Sorts Mill Goudy" pitchFamily="34" charset="-122"/>
                <a:cs typeface="Times New Roman" panose="02020603050405020304" pitchFamily="18" charset="0"/>
              </a:rPr>
              <a:t> and install dependencies to fully utilize Docker's caching mechanism.</a:t>
            </a:r>
          </a:p>
          <a:p>
            <a:pPr indent="0" algn="just" fontAlgn="auto">
              <a:lnSpc>
                <a:spcPct val="100000"/>
              </a:lnSpc>
              <a:buClrTx/>
              <a:buSzTx/>
              <a:buFont typeface="Arial" panose="020B0604020202020204" pitchFamily="34" charset="0"/>
              <a:buChar char="•"/>
            </a:pPr>
            <a:r>
              <a:rPr lang="en-US" sz="1900" b="1" dirty="0">
                <a:solidFill>
                  <a:srgbClr val="1F2937"/>
                </a:solidFill>
                <a:latin typeface="Times New Roman" panose="02020603050405020304" pitchFamily="18" charset="0"/>
                <a:ea typeface="Sorts Mill Goudy" pitchFamily="34" charset="-122"/>
                <a:cs typeface="Times New Roman" panose="02020603050405020304" pitchFamily="18" charset="0"/>
              </a:rPr>
              <a:t>DevOps Practice Highlights：</a:t>
            </a:r>
          </a:p>
          <a:p>
            <a:pPr indent="0" algn="just" fontAlgn="auto">
              <a:lnSpc>
                <a:spcPct val="100000"/>
              </a:lnSpc>
              <a:buClrTx/>
              <a:buSzTx/>
              <a:buFont typeface="Arial" panose="020B0604020202020204" pitchFamily="34" charset="0"/>
              <a:buNone/>
            </a:pPr>
            <a:r>
              <a:rPr lang="en-US" sz="1900" dirty="0">
                <a:solidFill>
                  <a:srgbClr val="1F2937"/>
                </a:solidFill>
                <a:latin typeface="Times New Roman" panose="02020603050405020304" pitchFamily="18" charset="0"/>
                <a:ea typeface="Sorts Mill Goudy" pitchFamily="34" charset="-122"/>
                <a:cs typeface="Times New Roman" panose="02020603050405020304" pitchFamily="18" charset="0"/>
              </a:rPr>
              <a:t>      By leveraging Docker's caching mechanism, the process of repeatedly installing dependencies is eliminated when only application logic is modified,</a:t>
            </a:r>
            <a:r>
              <a:rPr lang="en-US" sz="1900" b="1" dirty="0">
                <a:solidFill>
                  <a:srgbClr val="C00000"/>
                </a:solidFill>
                <a:latin typeface="Times New Roman" panose="02020603050405020304" pitchFamily="18" charset="0"/>
                <a:ea typeface="Sorts Mill Goudy" pitchFamily="34" charset="-122"/>
                <a:cs typeface="Times New Roman" panose="02020603050405020304" pitchFamily="18" charset="0"/>
              </a:rPr>
              <a:t> greatly accelerating the CI/CD build process</a:t>
            </a:r>
            <a:r>
              <a:rPr lang="en-US" sz="1900" dirty="0">
                <a:solidFill>
                  <a:srgbClr val="1F2937"/>
                </a:solidFill>
                <a:latin typeface="Times New Roman" panose="02020603050405020304" pitchFamily="18" charset="0"/>
                <a:ea typeface="Sorts Mill Goudy" pitchFamily="34" charset="-122"/>
                <a:cs typeface="Times New Roman" panose="02020603050405020304" pitchFamily="18" charset="0"/>
              </a:rPr>
              <a:t>.</a:t>
            </a:r>
          </a:p>
          <a:p>
            <a:pPr indent="0" algn="just" fontAlgn="auto">
              <a:lnSpc>
                <a:spcPct val="100000"/>
              </a:lnSpc>
              <a:buClrTx/>
              <a:buSzTx/>
              <a:buFont typeface="Arial" panose="020B0604020202020204" pitchFamily="34" charset="0"/>
              <a:buChar char="•"/>
            </a:pPr>
            <a:r>
              <a:rPr lang="en-US" sz="1900" b="1" dirty="0">
                <a:solidFill>
                  <a:srgbClr val="1F2937"/>
                </a:solidFill>
                <a:latin typeface="Times New Roman" panose="02020603050405020304" pitchFamily="18" charset="0"/>
                <a:ea typeface="Sorts Mill Goudy" pitchFamily="34" charset="-122"/>
                <a:cs typeface="Times New Roman" panose="02020603050405020304" pitchFamily="18" charset="0"/>
              </a:rPr>
              <a:t>Automated service launch：</a:t>
            </a:r>
          </a:p>
          <a:p>
            <a:pPr indent="0" algn="just" fontAlgn="auto">
              <a:lnSpc>
                <a:spcPct val="100000"/>
              </a:lnSpc>
              <a:buClrTx/>
              <a:buSzTx/>
              <a:buFont typeface="Arial" panose="020B0604020202020204" pitchFamily="34" charset="0"/>
              <a:buNone/>
            </a:pPr>
            <a:r>
              <a:rPr lang="en-US" sz="1900" dirty="0">
                <a:solidFill>
                  <a:srgbClr val="1F2937"/>
                </a:solidFill>
                <a:latin typeface="Times New Roman" panose="02020603050405020304" pitchFamily="18" charset="0"/>
                <a:ea typeface="Sorts Mill Goudy" pitchFamily="34" charset="-122"/>
                <a:cs typeface="Times New Roman" panose="02020603050405020304" pitchFamily="18" charset="0"/>
              </a:rPr>
              <a:t>      By setting the container startup entry point using </a:t>
            </a:r>
            <a:r>
              <a:rPr lang="en-US" sz="1900" b="1" dirty="0">
                <a:solidFill>
                  <a:srgbClr val="C00000"/>
                </a:solidFill>
                <a:latin typeface="Times New Roman" panose="02020603050405020304" pitchFamily="18" charset="0"/>
                <a:ea typeface="Sorts Mill Goudy" pitchFamily="34" charset="-122"/>
                <a:cs typeface="Times New Roman" panose="02020603050405020304" pitchFamily="18" charset="0"/>
              </a:rPr>
              <a:t>CMD ["python", "chatbot.py"]</a:t>
            </a:r>
            <a:r>
              <a:rPr lang="en-US" sz="1900" dirty="0">
                <a:solidFill>
                  <a:srgbClr val="1F2937"/>
                </a:solidFill>
                <a:latin typeface="Times New Roman" panose="02020603050405020304" pitchFamily="18" charset="0"/>
                <a:ea typeface="Sorts Mill Goudy" pitchFamily="34" charset="-122"/>
                <a:cs typeface="Times New Roman" panose="02020603050405020304" pitchFamily="18" charset="0"/>
              </a:rPr>
              <a:t>, you can ensure that the application is immediately available after deployment in the cloud.</a:t>
            </a:r>
          </a:p>
        </p:txBody>
      </p:sp>
    </p:spTree>
    <p:extLst>
      <p:ext uri="{BB962C8B-B14F-4D97-AF65-F5344CB8AC3E}">
        <p14:creationId xmlns:p14="http://schemas.microsoft.com/office/powerpoint/2010/main" val="446037996"/>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D70AED9D-340F-4BC5-F633-B95FBB396448}"/>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F17E2C43-BEBA-E036-70B1-F05B01289708}"/>
              </a:ext>
            </a:extLst>
          </p:cNvPr>
          <p:cNvSpPr txBox="1"/>
          <p:nvPr/>
        </p:nvSpPr>
        <p:spPr>
          <a:xfrm>
            <a:off x="206712" y="180757"/>
            <a:ext cx="6094378" cy="524567"/>
          </a:xfrm>
          <a:prstGeom prst="rect">
            <a:avLst/>
          </a:prstGeom>
          <a:noFill/>
        </p:spPr>
        <p:txBody>
          <a:bodyPr wrap="square">
            <a:spAutoFit/>
          </a:bodyPr>
          <a:lstStyle/>
          <a:p>
            <a:pPr algn="just">
              <a:lnSpc>
                <a:spcPct val="130000"/>
              </a:lnSpc>
            </a:pPr>
            <a:r>
              <a:rPr lang="en-US" altLang="zh-CN" sz="2400" b="1" kern="0" spc="68" dirty="0">
                <a:solidFill>
                  <a:srgbClr val="8B0000"/>
                </a:solidFill>
                <a:latin typeface="Times New Roman" panose="02020603050405020304" pitchFamily="18" charset="0"/>
                <a:ea typeface="Sorts Mill Goudy" pitchFamily="34" charset="-122"/>
                <a:cs typeface="Times New Roman" panose="02020603050405020304" pitchFamily="18" charset="0"/>
              </a:rPr>
              <a:t>04 / </a:t>
            </a:r>
            <a:r>
              <a:rPr lang="en-US" altLang="zh-CN" sz="2400" b="1" dirty="0">
                <a:solidFill>
                  <a:srgbClr val="8B0000"/>
                </a:solidFill>
                <a:latin typeface="Times New Roman" panose="02020603050405020304" pitchFamily="18" charset="0"/>
                <a:cs typeface="Times New Roman" panose="02020603050405020304" pitchFamily="18" charset="0"/>
              </a:rPr>
              <a:t>Build Optimization &amp; DevOps</a:t>
            </a:r>
          </a:p>
        </p:txBody>
      </p:sp>
      <p:sp>
        <p:nvSpPr>
          <p:cNvPr id="3" name="文本框 2">
            <a:extLst>
              <a:ext uri="{FF2B5EF4-FFF2-40B4-BE49-F238E27FC236}">
                <a16:creationId xmlns:a16="http://schemas.microsoft.com/office/drawing/2014/main" id="{40C26C85-A2A6-60CB-4D30-826BEA040437}"/>
              </a:ext>
            </a:extLst>
          </p:cNvPr>
          <p:cNvSpPr txBox="1"/>
          <p:nvPr/>
        </p:nvSpPr>
        <p:spPr>
          <a:xfrm>
            <a:off x="9830610" y="47291"/>
            <a:ext cx="2361390" cy="395749"/>
          </a:xfrm>
          <a:prstGeom prst="rect">
            <a:avLst/>
          </a:prstGeom>
          <a:noFill/>
        </p:spPr>
        <p:txBody>
          <a:bodyPr wrap="square">
            <a:spAutoFit/>
          </a:bodyPr>
          <a:lstStyle/>
          <a:p>
            <a:pPr algn="ctr">
              <a:lnSpc>
                <a:spcPct val="120000"/>
              </a:lnSpc>
            </a:pPr>
            <a:r>
              <a:rPr lang="en-US" altLang="zh-CN" sz="1800" i="1" dirty="0">
                <a:solidFill>
                  <a:schemeClr val="bg1">
                    <a:lumMod val="50000"/>
                  </a:schemeClr>
                </a:solidFill>
                <a:latin typeface="Times New Roman" panose="02020603050405020304" pitchFamily="18" charset="0"/>
                <a:ea typeface="Sorts Mill Goudy" pitchFamily="34" charset="-122"/>
                <a:cs typeface="Times New Roman" panose="02020603050405020304" pitchFamily="18" charset="0"/>
              </a:rPr>
              <a:t>Zhang Ziru-</a:t>
            </a:r>
            <a:r>
              <a:rPr lang="en-US" altLang="zh-CN" sz="1800" i="1" dirty="0">
                <a:solidFill>
                  <a:schemeClr val="bg1">
                    <a:lumMod val="50000"/>
                  </a:schemeClr>
                </a:solidFill>
                <a:latin typeface="Times New Roman" panose="02020603050405020304" pitchFamily="18" charset="0"/>
                <a:cs typeface="Times New Roman" panose="02020603050405020304" pitchFamily="18" charset="0"/>
              </a:rPr>
              <a:t>25450492</a:t>
            </a:r>
            <a:r>
              <a:rPr lang="en-US" altLang="zh-CN" sz="1800" i="1" dirty="0">
                <a:solidFill>
                  <a:schemeClr val="bg1">
                    <a:lumMod val="50000"/>
                  </a:schemeClr>
                </a:solidFill>
                <a:latin typeface="Times New Roman" panose="02020603050405020304" pitchFamily="18" charset="0"/>
                <a:ea typeface="Sorts Mill Goudy" pitchFamily="34" charset="-122"/>
                <a:cs typeface="Times New Roman" panose="02020603050405020304" pitchFamily="18" charset="0"/>
              </a:rPr>
              <a:t>  </a:t>
            </a:r>
          </a:p>
        </p:txBody>
      </p:sp>
      <p:pic>
        <p:nvPicPr>
          <p:cNvPr id="4" name="图片 1">
            <a:extLst>
              <a:ext uri="{FF2B5EF4-FFF2-40B4-BE49-F238E27FC236}">
                <a16:creationId xmlns:a16="http://schemas.microsoft.com/office/drawing/2014/main" id="{B1BB6D06-3769-833B-38A4-6C4D11D8746E}"/>
              </a:ext>
            </a:extLst>
          </p:cNvPr>
          <p:cNvPicPr>
            <a:picLocks noChangeAspect="1"/>
          </p:cNvPicPr>
          <p:nvPr/>
        </p:nvPicPr>
        <p:blipFill>
          <a:blip r:embed="rId3"/>
          <a:stretch>
            <a:fillRect/>
          </a:stretch>
        </p:blipFill>
        <p:spPr>
          <a:xfrm>
            <a:off x="106045" y="834390"/>
            <a:ext cx="6857365" cy="3261995"/>
          </a:xfrm>
          <a:prstGeom prst="rect">
            <a:avLst/>
          </a:prstGeom>
        </p:spPr>
      </p:pic>
      <p:pic>
        <p:nvPicPr>
          <p:cNvPr id="5" name="图片 1">
            <a:extLst>
              <a:ext uri="{FF2B5EF4-FFF2-40B4-BE49-F238E27FC236}">
                <a16:creationId xmlns:a16="http://schemas.microsoft.com/office/drawing/2014/main" id="{9858F493-EC6C-0C26-EA25-69DBB3C58F08}"/>
              </a:ext>
            </a:extLst>
          </p:cNvPr>
          <p:cNvPicPr>
            <a:picLocks noChangeAspect="1"/>
          </p:cNvPicPr>
          <p:nvPr/>
        </p:nvPicPr>
        <p:blipFill>
          <a:blip r:embed="rId4"/>
          <a:stretch>
            <a:fillRect/>
          </a:stretch>
        </p:blipFill>
        <p:spPr>
          <a:xfrm>
            <a:off x="106680" y="4558665"/>
            <a:ext cx="6856730" cy="1688465"/>
          </a:xfrm>
          <a:prstGeom prst="rect">
            <a:avLst/>
          </a:prstGeom>
        </p:spPr>
      </p:pic>
      <p:sp>
        <p:nvSpPr>
          <p:cNvPr id="6" name="文本框 5">
            <a:extLst>
              <a:ext uri="{FF2B5EF4-FFF2-40B4-BE49-F238E27FC236}">
                <a16:creationId xmlns:a16="http://schemas.microsoft.com/office/drawing/2014/main" id="{5FCEA29F-9426-B502-5815-B549E0B330BB}"/>
              </a:ext>
            </a:extLst>
          </p:cNvPr>
          <p:cNvSpPr txBox="1"/>
          <p:nvPr/>
        </p:nvSpPr>
        <p:spPr>
          <a:xfrm>
            <a:off x="2407920" y="6294120"/>
            <a:ext cx="1692275" cy="307777"/>
          </a:xfrm>
          <a:prstGeom prst="rect">
            <a:avLst/>
          </a:prstGeom>
          <a:noFill/>
        </p:spPr>
        <p:txBody>
          <a:bodyPr wrap="square" rtlCol="0">
            <a:spAutoFit/>
          </a:bodyPr>
          <a:lstStyle/>
          <a:p>
            <a:r>
              <a:rPr lang="en-US" altLang="zh-CN" sz="1400" i="1" dirty="0">
                <a:latin typeface="Times New Roman" panose="02020603050405020304" pitchFamily="18" charset="0"/>
                <a:cs typeface="Times New Roman" panose="02020603050405020304" pitchFamily="18" charset="0"/>
              </a:rPr>
              <a:t>AWS EC2 Bill</a:t>
            </a:r>
          </a:p>
        </p:txBody>
      </p:sp>
      <p:sp>
        <p:nvSpPr>
          <p:cNvPr id="7" name="文本框 6">
            <a:extLst>
              <a:ext uri="{FF2B5EF4-FFF2-40B4-BE49-F238E27FC236}">
                <a16:creationId xmlns:a16="http://schemas.microsoft.com/office/drawing/2014/main" id="{43D6AC99-0495-9E71-8E48-CF9074A52FE8}"/>
              </a:ext>
            </a:extLst>
          </p:cNvPr>
          <p:cNvSpPr txBox="1"/>
          <p:nvPr/>
        </p:nvSpPr>
        <p:spPr>
          <a:xfrm>
            <a:off x="2407920" y="4143375"/>
            <a:ext cx="2665730" cy="368300"/>
          </a:xfrm>
          <a:prstGeom prst="rect">
            <a:avLst/>
          </a:prstGeom>
          <a:noFill/>
        </p:spPr>
        <p:txBody>
          <a:bodyPr wrap="square" rtlCol="0">
            <a:spAutoFit/>
          </a:bodyPr>
          <a:lstStyle/>
          <a:p>
            <a:r>
              <a:rPr lang="en-US" altLang="zh-CN" i="1" dirty="0">
                <a:latin typeface="Times New Roman" panose="02020603050405020304" pitchFamily="18" charset="0"/>
                <a:cs typeface="Times New Roman" panose="02020603050405020304" pitchFamily="18" charset="0"/>
              </a:rPr>
              <a:t>EC2 Instance</a:t>
            </a:r>
          </a:p>
        </p:txBody>
      </p:sp>
      <p:sp>
        <p:nvSpPr>
          <p:cNvPr id="8" name="文本框 7">
            <a:extLst>
              <a:ext uri="{FF2B5EF4-FFF2-40B4-BE49-F238E27FC236}">
                <a16:creationId xmlns:a16="http://schemas.microsoft.com/office/drawing/2014/main" id="{439EDF91-E3F7-09D0-3D47-F960D448E225}"/>
              </a:ext>
            </a:extLst>
          </p:cNvPr>
          <p:cNvSpPr txBox="1"/>
          <p:nvPr/>
        </p:nvSpPr>
        <p:spPr>
          <a:xfrm>
            <a:off x="7114540" y="915670"/>
            <a:ext cx="4848225" cy="2414905"/>
          </a:xfrm>
          <a:prstGeom prst="rect">
            <a:avLst/>
          </a:prstGeom>
          <a:noFill/>
        </p:spPr>
        <p:txBody>
          <a:bodyPr wrap="square" rtlCol="0">
            <a:spAutoFit/>
          </a:bodyPr>
          <a:lstStyle/>
          <a:p>
            <a:pPr algn="l" fontAlgn="auto">
              <a:lnSpc>
                <a:spcPct val="140000"/>
              </a:lnSpc>
              <a:buClrTx/>
              <a:buSzTx/>
              <a:buFont typeface="Arial" panose="020B0604020202020204" pitchFamily="34" charset="0"/>
              <a:buChar char="•"/>
            </a:pPr>
            <a:r>
              <a:rPr lang="en-US" b="1" dirty="0">
                <a:solidFill>
                  <a:srgbClr val="C00000"/>
                </a:solidFill>
                <a:latin typeface="Times New Roman" panose="02020603050405020304" pitchFamily="18" charset="0"/>
                <a:ea typeface="Sorts Mill Goudy" pitchFamily="34" charset="-122"/>
                <a:cs typeface="Times New Roman" panose="02020603050405020304" pitchFamily="18" charset="0"/>
              </a:rPr>
              <a:t>  </a:t>
            </a:r>
            <a:r>
              <a:rPr lang="en-US" altLang="zh-CN" b="1" dirty="0">
                <a:solidFill>
                  <a:srgbClr val="C00000"/>
                </a:solidFill>
                <a:latin typeface="Times New Roman" panose="02020603050405020304" pitchFamily="18" charset="0"/>
                <a:ea typeface="Sorts Mill Goudy" pitchFamily="34" charset="-122"/>
                <a:cs typeface="Times New Roman" panose="02020603050405020304" pitchFamily="18" charset="0"/>
              </a:rPr>
              <a:t>AWS EC2</a:t>
            </a:r>
          </a:p>
          <a:p>
            <a:pPr algn="l" fontAlgn="auto">
              <a:lnSpc>
                <a:spcPct val="140000"/>
              </a:lnSpc>
              <a:buClrTx/>
              <a:buSzTx/>
              <a:buFont typeface="Arial" panose="020B0604020202020204" pitchFamily="34" charset="0"/>
              <a:buChar char="•"/>
            </a:pPr>
            <a:r>
              <a:rPr lang="en-US" dirty="0">
                <a:solidFill>
                  <a:srgbClr val="1F2937"/>
                </a:solidFill>
                <a:latin typeface="Times New Roman" panose="02020603050405020304" pitchFamily="18" charset="0"/>
                <a:ea typeface="Sorts Mill Goudy" pitchFamily="34" charset="-122"/>
                <a:cs typeface="Times New Roman" panose="02020603050405020304" pitchFamily="18" charset="0"/>
              </a:rPr>
              <a:t>The built Docker image was successfully deployed to the </a:t>
            </a:r>
            <a:r>
              <a:rPr lang="en-US" b="1" dirty="0">
                <a:solidFill>
                  <a:srgbClr val="C00000"/>
                </a:solidFill>
                <a:latin typeface="Times New Roman" panose="02020603050405020304" pitchFamily="18" charset="0"/>
                <a:ea typeface="Sorts Mill Goudy" pitchFamily="34" charset="-122"/>
                <a:cs typeface="Times New Roman" panose="02020603050405020304" pitchFamily="18" charset="0"/>
              </a:rPr>
              <a:t>AWS EC2 cloud server</a:t>
            </a:r>
            <a:r>
              <a:rPr lang="en-US" dirty="0">
                <a:solidFill>
                  <a:srgbClr val="1F2937"/>
                </a:solidFill>
                <a:latin typeface="Times New Roman" panose="02020603050405020304" pitchFamily="18" charset="0"/>
                <a:ea typeface="Sorts Mill Goudy" pitchFamily="34" charset="-122"/>
                <a:cs typeface="Times New Roman" panose="02020603050405020304" pitchFamily="18" charset="0"/>
              </a:rPr>
              <a:t>.</a:t>
            </a:r>
          </a:p>
          <a:p>
            <a:pPr algn="l" fontAlgn="auto">
              <a:lnSpc>
                <a:spcPct val="140000"/>
              </a:lnSpc>
              <a:buClrTx/>
              <a:buSzTx/>
              <a:buFont typeface="Arial" panose="020B0604020202020204" pitchFamily="34" charset="0"/>
              <a:buChar char="•"/>
            </a:pPr>
            <a:r>
              <a:rPr lang="en-US" dirty="0">
                <a:solidFill>
                  <a:srgbClr val="1F2937"/>
                </a:solidFill>
                <a:latin typeface="Times New Roman" panose="02020603050405020304" pitchFamily="18" charset="0"/>
                <a:ea typeface="Sorts Mill Goudy" pitchFamily="34" charset="-122"/>
                <a:cs typeface="Times New Roman" panose="02020603050405020304" pitchFamily="18" charset="0"/>
              </a:rPr>
              <a:t>  The instance </a:t>
            </a:r>
            <a:r>
              <a:rPr lang="en-US" b="1" dirty="0">
                <a:solidFill>
                  <a:srgbClr val="C00000"/>
                </a:solidFill>
                <a:latin typeface="Times New Roman" panose="02020603050405020304" pitchFamily="18" charset="0"/>
                <a:ea typeface="Sorts Mill Goudy" pitchFamily="34" charset="-122"/>
                <a:cs typeface="Times New Roman" panose="02020603050405020304" pitchFamily="18" charset="0"/>
              </a:rPr>
              <a:t>(i-0bc...)</a:t>
            </a:r>
            <a:r>
              <a:rPr lang="en-US" dirty="0">
                <a:solidFill>
                  <a:srgbClr val="1F2937"/>
                </a:solidFill>
                <a:latin typeface="Times New Roman" panose="02020603050405020304" pitchFamily="18" charset="0"/>
                <a:ea typeface="Sorts Mill Goudy" pitchFamily="34" charset="-122"/>
                <a:cs typeface="Times New Roman" panose="02020603050405020304" pitchFamily="18" charset="0"/>
              </a:rPr>
              <a:t> is in the </a:t>
            </a:r>
            <a:r>
              <a:rPr lang="en-US" b="1" dirty="0">
                <a:solidFill>
                  <a:srgbClr val="C00000"/>
                </a:solidFill>
                <a:latin typeface="Times New Roman" panose="02020603050405020304" pitchFamily="18" charset="0"/>
                <a:ea typeface="Sorts Mill Goudy" pitchFamily="34" charset="-122"/>
                <a:cs typeface="Times New Roman" panose="02020603050405020304" pitchFamily="18" charset="0"/>
              </a:rPr>
              <a:t>Running state</a:t>
            </a:r>
            <a:r>
              <a:rPr lang="en-US" dirty="0">
                <a:solidFill>
                  <a:srgbClr val="1F2937"/>
                </a:solidFill>
                <a:latin typeface="Times New Roman" panose="02020603050405020304" pitchFamily="18" charset="0"/>
                <a:ea typeface="Sorts Mill Goudy" pitchFamily="34" charset="-122"/>
                <a:cs typeface="Times New Roman" panose="02020603050405020304" pitchFamily="18" charset="0"/>
              </a:rPr>
              <a:t>, and all network configurations and environments are ready.</a:t>
            </a:r>
          </a:p>
        </p:txBody>
      </p:sp>
      <p:sp>
        <p:nvSpPr>
          <p:cNvPr id="9" name="文本框 8">
            <a:extLst>
              <a:ext uri="{FF2B5EF4-FFF2-40B4-BE49-F238E27FC236}">
                <a16:creationId xmlns:a16="http://schemas.microsoft.com/office/drawing/2014/main" id="{354F4CA7-3068-4496-CB30-EFE315D5351E}"/>
              </a:ext>
            </a:extLst>
          </p:cNvPr>
          <p:cNvSpPr txBox="1"/>
          <p:nvPr/>
        </p:nvSpPr>
        <p:spPr>
          <a:xfrm>
            <a:off x="7121525" y="3549015"/>
            <a:ext cx="4841240" cy="2802255"/>
          </a:xfrm>
          <a:prstGeom prst="rect">
            <a:avLst/>
          </a:prstGeom>
          <a:noFill/>
        </p:spPr>
        <p:txBody>
          <a:bodyPr wrap="square" rtlCol="0">
            <a:spAutoFit/>
          </a:bodyPr>
          <a:lstStyle/>
          <a:p>
            <a:pPr algn="l">
              <a:lnSpc>
                <a:spcPct val="140000"/>
              </a:lnSpc>
              <a:buClrTx/>
              <a:buSzTx/>
              <a:buFont typeface="Arial" panose="020B0604020202020204" pitchFamily="34" charset="0"/>
              <a:buChar char="•"/>
            </a:pPr>
            <a:r>
              <a:rPr lang="en-US" altLang="zh-CN" b="1" dirty="0">
                <a:solidFill>
                  <a:srgbClr val="C00000"/>
                </a:solidFill>
                <a:latin typeface="Times New Roman" panose="02020603050405020304" pitchFamily="18" charset="0"/>
                <a:ea typeface="Sorts Mill Goudy" pitchFamily="34" charset="-122"/>
                <a:cs typeface="Times New Roman" panose="02020603050405020304" pitchFamily="18" charset="0"/>
              </a:rPr>
              <a:t>Cost-Awareness</a:t>
            </a:r>
          </a:p>
          <a:p>
            <a:pPr algn="l">
              <a:lnSpc>
                <a:spcPct val="140000"/>
              </a:lnSpc>
              <a:buClrTx/>
              <a:buSzTx/>
              <a:buFont typeface="Arial" panose="020B0604020202020204" pitchFamily="34" charset="0"/>
              <a:buChar char="•"/>
            </a:pPr>
            <a:r>
              <a:rPr lang="en-US" dirty="0">
                <a:solidFill>
                  <a:srgbClr val="1F2937"/>
                </a:solidFill>
                <a:latin typeface="Times New Roman" panose="02020603050405020304" pitchFamily="18" charset="0"/>
                <a:ea typeface="Sorts Mill Goudy" pitchFamily="34" charset="-122"/>
                <a:cs typeface="Times New Roman" panose="02020603050405020304" pitchFamily="18" charset="0"/>
              </a:rPr>
              <a:t>This perfectly addresses the course's technical requirement to </a:t>
            </a:r>
            <a:r>
              <a:rPr lang="en-US" b="1" dirty="0">
                <a:solidFill>
                  <a:srgbClr val="C00000"/>
                </a:solidFill>
                <a:latin typeface="Times New Roman" panose="02020603050405020304" pitchFamily="18" charset="0"/>
                <a:ea typeface="Sorts Mill Goudy" pitchFamily="34" charset="-122"/>
                <a:cs typeface="Times New Roman" panose="02020603050405020304" pitchFamily="18" charset="0"/>
              </a:rPr>
              <a:t>"avoid incurring high costs."</a:t>
            </a:r>
            <a:endParaRPr lang="en-US" dirty="0">
              <a:solidFill>
                <a:srgbClr val="1F2937"/>
              </a:solidFill>
              <a:latin typeface="Times New Roman" panose="02020603050405020304" pitchFamily="18" charset="0"/>
              <a:ea typeface="Sorts Mill Goudy" pitchFamily="34" charset="-122"/>
              <a:cs typeface="Times New Roman" panose="02020603050405020304" pitchFamily="18" charset="0"/>
            </a:endParaRPr>
          </a:p>
          <a:p>
            <a:pPr algn="l">
              <a:lnSpc>
                <a:spcPct val="140000"/>
              </a:lnSpc>
              <a:buClrTx/>
              <a:buSzTx/>
              <a:buFont typeface="Arial" panose="020B0604020202020204" pitchFamily="34" charset="0"/>
              <a:buChar char="•"/>
            </a:pPr>
            <a:r>
              <a:rPr lang="en-US" dirty="0">
                <a:solidFill>
                  <a:srgbClr val="1F2937"/>
                </a:solidFill>
                <a:latin typeface="Times New Roman" panose="02020603050405020304" pitchFamily="18" charset="0"/>
                <a:ea typeface="Sorts Mill Goudy" pitchFamily="34" charset="-122"/>
                <a:cs typeface="Times New Roman" panose="02020603050405020304" pitchFamily="18" charset="0"/>
              </a:rPr>
              <a:t>Precisely utilizes t3.micro instances from the AWS </a:t>
            </a:r>
            <a:r>
              <a:rPr lang="en-US" b="1" dirty="0">
                <a:solidFill>
                  <a:srgbClr val="C00000"/>
                </a:solidFill>
                <a:latin typeface="Times New Roman" panose="02020603050405020304" pitchFamily="18" charset="0"/>
                <a:ea typeface="Sorts Mill Goudy" pitchFamily="34" charset="-122"/>
                <a:cs typeface="Times New Roman" panose="02020603050405020304" pitchFamily="18" charset="0"/>
              </a:rPr>
              <a:t>Free tier</a:t>
            </a:r>
            <a:r>
              <a:rPr lang="en-US" dirty="0">
                <a:solidFill>
                  <a:srgbClr val="1F2937"/>
                </a:solidFill>
                <a:latin typeface="Times New Roman" panose="02020603050405020304" pitchFamily="18" charset="0"/>
                <a:ea typeface="Sorts Mill Goudy" pitchFamily="34" charset="-122"/>
                <a:cs typeface="Times New Roman" panose="02020603050405020304" pitchFamily="18" charset="0"/>
              </a:rPr>
              <a:t>.</a:t>
            </a:r>
          </a:p>
          <a:p>
            <a:pPr algn="l">
              <a:lnSpc>
                <a:spcPct val="140000"/>
              </a:lnSpc>
              <a:buClrTx/>
              <a:buSzTx/>
              <a:buFont typeface="Arial" panose="020B0604020202020204" pitchFamily="34" charset="0"/>
              <a:buChar char="•"/>
            </a:pPr>
            <a:r>
              <a:rPr lang="en-US" dirty="0">
                <a:solidFill>
                  <a:srgbClr val="1F2937"/>
                </a:solidFill>
                <a:latin typeface="Times New Roman" panose="02020603050405020304" pitchFamily="18" charset="0"/>
                <a:ea typeface="Sorts Mill Goudy" pitchFamily="34" charset="-122"/>
                <a:cs typeface="Times New Roman" panose="02020603050405020304" pitchFamily="18" charset="0"/>
              </a:rPr>
              <a:t>The cloud platform service fee was successfully kept at </a:t>
            </a:r>
            <a:r>
              <a:rPr lang="en-US" b="1" dirty="0">
                <a:solidFill>
                  <a:srgbClr val="C00000"/>
                </a:solidFill>
                <a:latin typeface="Times New Roman" panose="02020603050405020304" pitchFamily="18" charset="0"/>
                <a:ea typeface="Sorts Mill Goudy" pitchFamily="34" charset="-122"/>
                <a:cs typeface="Times New Roman" panose="02020603050405020304" pitchFamily="18" charset="0"/>
              </a:rPr>
              <a:t>$0.00 </a:t>
            </a:r>
            <a:r>
              <a:rPr lang="en-US" dirty="0">
                <a:solidFill>
                  <a:srgbClr val="1F2937"/>
                </a:solidFill>
                <a:latin typeface="Times New Roman" panose="02020603050405020304" pitchFamily="18" charset="0"/>
                <a:ea typeface="Sorts Mill Goudy" pitchFamily="34" charset="-122"/>
                <a:cs typeface="Times New Roman" panose="02020603050405020304" pitchFamily="18" charset="0"/>
              </a:rPr>
              <a:t>during this phase.</a:t>
            </a:r>
          </a:p>
        </p:txBody>
      </p:sp>
    </p:spTree>
    <p:extLst>
      <p:ext uri="{BB962C8B-B14F-4D97-AF65-F5344CB8AC3E}">
        <p14:creationId xmlns:p14="http://schemas.microsoft.com/office/powerpoint/2010/main" val="2521899657"/>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9B3C9FA-0CCD-D20E-7C10-FF91847E9AB2}"/>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150DFF59-1BAD-D2C5-537F-5ABA9FA70643}"/>
              </a:ext>
            </a:extLst>
          </p:cNvPr>
          <p:cNvSpPr txBox="1"/>
          <p:nvPr/>
        </p:nvSpPr>
        <p:spPr>
          <a:xfrm>
            <a:off x="206712" y="180757"/>
            <a:ext cx="6094378" cy="524567"/>
          </a:xfrm>
          <a:prstGeom prst="rect">
            <a:avLst/>
          </a:prstGeom>
          <a:noFill/>
        </p:spPr>
        <p:txBody>
          <a:bodyPr wrap="square">
            <a:spAutoFit/>
          </a:bodyPr>
          <a:lstStyle/>
          <a:p>
            <a:pPr algn="just">
              <a:lnSpc>
                <a:spcPct val="130000"/>
              </a:lnSpc>
            </a:pPr>
            <a:r>
              <a:rPr lang="en-US" altLang="zh-CN" sz="2400" b="1" kern="0" spc="68" dirty="0">
                <a:solidFill>
                  <a:srgbClr val="8B0000"/>
                </a:solidFill>
                <a:latin typeface="Times New Roman" panose="02020603050405020304" pitchFamily="18" charset="0"/>
                <a:ea typeface="Sorts Mill Goudy" pitchFamily="34" charset="-122"/>
                <a:cs typeface="Times New Roman" panose="02020603050405020304" pitchFamily="18" charset="0"/>
              </a:rPr>
              <a:t>04 / </a:t>
            </a:r>
            <a:r>
              <a:rPr lang="en-US" altLang="zh-CN" sz="2400" b="1" dirty="0">
                <a:solidFill>
                  <a:srgbClr val="8B0000"/>
                </a:solidFill>
                <a:latin typeface="Times New Roman" panose="02020603050405020304" pitchFamily="18" charset="0"/>
                <a:cs typeface="Times New Roman" panose="02020603050405020304" pitchFamily="18" charset="0"/>
              </a:rPr>
              <a:t>System Monitoring &amp; Observability</a:t>
            </a:r>
          </a:p>
        </p:txBody>
      </p:sp>
      <p:sp>
        <p:nvSpPr>
          <p:cNvPr id="4" name="文本框 3">
            <a:extLst>
              <a:ext uri="{FF2B5EF4-FFF2-40B4-BE49-F238E27FC236}">
                <a16:creationId xmlns:a16="http://schemas.microsoft.com/office/drawing/2014/main" id="{ED0A8625-9C53-762B-EDFB-CACE8E0F5BCF}"/>
              </a:ext>
            </a:extLst>
          </p:cNvPr>
          <p:cNvSpPr txBox="1"/>
          <p:nvPr/>
        </p:nvSpPr>
        <p:spPr>
          <a:xfrm>
            <a:off x="9830610" y="47291"/>
            <a:ext cx="2361390" cy="395749"/>
          </a:xfrm>
          <a:prstGeom prst="rect">
            <a:avLst/>
          </a:prstGeom>
          <a:noFill/>
        </p:spPr>
        <p:txBody>
          <a:bodyPr wrap="square">
            <a:spAutoFit/>
          </a:bodyPr>
          <a:lstStyle/>
          <a:p>
            <a:pPr algn="ctr">
              <a:lnSpc>
                <a:spcPct val="120000"/>
              </a:lnSpc>
            </a:pPr>
            <a:r>
              <a:rPr lang="en-US" altLang="zh-CN" sz="1800" i="1" dirty="0">
                <a:solidFill>
                  <a:schemeClr val="bg1">
                    <a:lumMod val="50000"/>
                  </a:schemeClr>
                </a:solidFill>
                <a:latin typeface="Times New Roman" panose="02020603050405020304" pitchFamily="18" charset="0"/>
                <a:ea typeface="Sorts Mill Goudy" pitchFamily="34" charset="-122"/>
                <a:cs typeface="Times New Roman" panose="02020603050405020304" pitchFamily="18" charset="0"/>
              </a:rPr>
              <a:t>Zhang Ziru-</a:t>
            </a:r>
            <a:r>
              <a:rPr lang="en-US" altLang="zh-CN" sz="1800" i="1" dirty="0">
                <a:solidFill>
                  <a:schemeClr val="bg1">
                    <a:lumMod val="50000"/>
                  </a:schemeClr>
                </a:solidFill>
                <a:latin typeface="Times New Roman" panose="02020603050405020304" pitchFamily="18" charset="0"/>
                <a:cs typeface="Times New Roman" panose="02020603050405020304" pitchFamily="18" charset="0"/>
              </a:rPr>
              <a:t>25450492</a:t>
            </a:r>
            <a:r>
              <a:rPr lang="en-US" altLang="zh-CN" sz="1800" i="1" dirty="0">
                <a:solidFill>
                  <a:schemeClr val="bg1">
                    <a:lumMod val="50000"/>
                  </a:schemeClr>
                </a:solidFill>
                <a:latin typeface="Times New Roman" panose="02020603050405020304" pitchFamily="18" charset="0"/>
                <a:ea typeface="Sorts Mill Goudy" pitchFamily="34" charset="-122"/>
                <a:cs typeface="Times New Roman" panose="02020603050405020304" pitchFamily="18" charset="0"/>
              </a:rPr>
              <a:t>  </a:t>
            </a:r>
          </a:p>
        </p:txBody>
      </p:sp>
      <p:pic>
        <p:nvPicPr>
          <p:cNvPr id="6" name="图片 1">
            <a:extLst>
              <a:ext uri="{FF2B5EF4-FFF2-40B4-BE49-F238E27FC236}">
                <a16:creationId xmlns:a16="http://schemas.microsoft.com/office/drawing/2014/main" id="{25EE9E72-5ABB-E576-4684-619EFC22FADC}"/>
              </a:ext>
            </a:extLst>
          </p:cNvPr>
          <p:cNvPicPr>
            <a:picLocks noChangeAspect="1"/>
          </p:cNvPicPr>
          <p:nvPr/>
        </p:nvPicPr>
        <p:blipFill>
          <a:blip r:embed="rId3">
            <a:grayscl/>
          </a:blip>
          <a:stretch>
            <a:fillRect/>
          </a:stretch>
        </p:blipFill>
        <p:spPr>
          <a:xfrm>
            <a:off x="462280" y="830580"/>
            <a:ext cx="11267440" cy="5079365"/>
          </a:xfrm>
          <a:prstGeom prst="rect">
            <a:avLst/>
          </a:prstGeom>
          <a:ln>
            <a:gradFill>
              <a:gsLst>
                <a:gs pos="50000">
                  <a:schemeClr val="tx1"/>
                </a:gs>
                <a:gs pos="0">
                  <a:schemeClr val="tx1">
                    <a:lumMod val="25000"/>
                    <a:lumOff val="75000"/>
                  </a:schemeClr>
                </a:gs>
                <a:gs pos="100000">
                  <a:schemeClr val="tx1">
                    <a:lumMod val="85000"/>
                  </a:schemeClr>
                </a:gs>
              </a:gsLst>
              <a:lin ang="5400000" scaled="0"/>
            </a:gradFill>
          </a:ln>
        </p:spPr>
      </p:pic>
      <p:sp>
        <p:nvSpPr>
          <p:cNvPr id="7" name="文本框 6">
            <a:extLst>
              <a:ext uri="{FF2B5EF4-FFF2-40B4-BE49-F238E27FC236}">
                <a16:creationId xmlns:a16="http://schemas.microsoft.com/office/drawing/2014/main" id="{1086A253-2AB8-F658-E070-23B5E955CBF5}"/>
              </a:ext>
            </a:extLst>
          </p:cNvPr>
          <p:cNvSpPr txBox="1"/>
          <p:nvPr/>
        </p:nvSpPr>
        <p:spPr>
          <a:xfrm>
            <a:off x="4220210" y="6045200"/>
            <a:ext cx="3548380" cy="307777"/>
          </a:xfrm>
          <a:prstGeom prst="rect">
            <a:avLst/>
          </a:prstGeom>
          <a:noFill/>
        </p:spPr>
        <p:txBody>
          <a:bodyPr wrap="square" rtlCol="0">
            <a:spAutoFit/>
          </a:bodyPr>
          <a:lstStyle/>
          <a:p>
            <a:r>
              <a:rPr lang="en-US" altLang="zh-CN" sz="1400" i="1" dirty="0">
                <a:latin typeface="Times New Roman" panose="02020603050405020304" pitchFamily="18" charset="0"/>
                <a:cs typeface="Times New Roman" panose="02020603050405020304" pitchFamily="18" charset="0"/>
              </a:rPr>
              <a:t>Container on the EC2 Instance</a:t>
            </a:r>
          </a:p>
        </p:txBody>
      </p:sp>
      <p:sp>
        <p:nvSpPr>
          <p:cNvPr id="8" name="矩形 7">
            <a:extLst>
              <a:ext uri="{FF2B5EF4-FFF2-40B4-BE49-F238E27FC236}">
                <a16:creationId xmlns:a16="http://schemas.microsoft.com/office/drawing/2014/main" id="{93256202-FD73-04CF-151F-C9A85FC897EB}"/>
              </a:ext>
            </a:extLst>
          </p:cNvPr>
          <p:cNvSpPr/>
          <p:nvPr/>
        </p:nvSpPr>
        <p:spPr>
          <a:xfrm>
            <a:off x="2273300" y="3568700"/>
            <a:ext cx="588010" cy="97790"/>
          </a:xfrm>
          <a:prstGeom prst="rect">
            <a:avLst/>
          </a:prstGeom>
          <a:ln>
            <a:solidFill>
              <a:srgbClr val="FF0000"/>
            </a:solidFill>
          </a:ln>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B6F876CA-0B5A-DA94-B222-A872486D40A6}"/>
              </a:ext>
            </a:extLst>
          </p:cNvPr>
          <p:cNvSpPr/>
          <p:nvPr/>
        </p:nvSpPr>
        <p:spPr>
          <a:xfrm>
            <a:off x="2273300" y="3895090"/>
            <a:ext cx="758190" cy="163830"/>
          </a:xfrm>
          <a:prstGeom prst="rect">
            <a:avLst/>
          </a:prstGeom>
          <a:ln>
            <a:solidFill>
              <a:srgbClr val="FF0000"/>
            </a:solidFill>
          </a:ln>
        </p:spPr>
        <p:style>
          <a:lnRef idx="3">
            <a:schemeClr val="accent1"/>
          </a:lnRef>
          <a:fillRef idx="0">
            <a:srgbClr val="FFFFFF"/>
          </a:fillRef>
          <a:effectRef idx="0">
            <a:srgbClr val="FFFFFF"/>
          </a:effectRef>
          <a:fontRef idx="minor">
            <a:schemeClr val="tx1"/>
          </a:fontRef>
        </p:style>
        <p:txBody>
          <a:bodyPr rtlCol="0" anchor="ctr"/>
          <a:lstStyle/>
          <a:p>
            <a:pPr algn="ctr"/>
            <a:endParaRPr lang="zh-CN" altLang="en-US"/>
          </a:p>
        </p:txBody>
      </p:sp>
    </p:spTree>
    <p:extLst>
      <p:ext uri="{BB962C8B-B14F-4D97-AF65-F5344CB8AC3E}">
        <p14:creationId xmlns:p14="http://schemas.microsoft.com/office/powerpoint/2010/main" val="3373172147"/>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grpSp>
        <p:nvGrpSpPr>
          <p:cNvPr id="13" name="组合 12">
            <a:extLst>
              <a:ext uri="{FF2B5EF4-FFF2-40B4-BE49-F238E27FC236}">
                <a16:creationId xmlns:a16="http://schemas.microsoft.com/office/drawing/2014/main" id="{AAFBA57B-5F66-0287-5A64-CC636F502F42}"/>
              </a:ext>
            </a:extLst>
          </p:cNvPr>
          <p:cNvGrpSpPr/>
          <p:nvPr/>
        </p:nvGrpSpPr>
        <p:grpSpPr>
          <a:xfrm>
            <a:off x="1347881" y="2178917"/>
            <a:ext cx="9478676" cy="1295400"/>
            <a:chOff x="1355620" y="1138238"/>
            <a:chExt cx="9478676" cy="1295400"/>
          </a:xfrm>
        </p:grpSpPr>
        <p:sp>
          <p:nvSpPr>
            <p:cNvPr id="2" name="Shape 0"/>
            <p:cNvSpPr/>
            <p:nvPr/>
          </p:nvSpPr>
          <p:spPr>
            <a:xfrm>
              <a:off x="5486326" y="1138238"/>
              <a:ext cx="1219200" cy="38100"/>
            </a:xfrm>
            <a:custGeom>
              <a:avLst/>
              <a:gdLst/>
              <a:ahLst/>
              <a:cxnLst/>
              <a:rect l="l" t="t" r="r" b="b"/>
              <a:pathLst>
                <a:path w="1219200" h="38100">
                  <a:moveTo>
                    <a:pt x="0" y="0"/>
                  </a:moveTo>
                  <a:lnTo>
                    <a:pt x="1219200" y="0"/>
                  </a:lnTo>
                  <a:lnTo>
                    <a:pt x="1219200" y="38100"/>
                  </a:lnTo>
                  <a:lnTo>
                    <a:pt x="0" y="38100"/>
                  </a:lnTo>
                  <a:lnTo>
                    <a:pt x="0" y="0"/>
                  </a:lnTo>
                  <a:close/>
                </a:path>
              </a:pathLst>
            </a:custGeom>
            <a:solidFill>
              <a:srgbClr val="8B0000"/>
            </a:solidFill>
            <a:ln/>
          </p:spPr>
        </p:sp>
        <p:sp>
          <p:nvSpPr>
            <p:cNvPr id="3" name="Text 1"/>
            <p:cNvSpPr/>
            <p:nvPr/>
          </p:nvSpPr>
          <p:spPr>
            <a:xfrm>
              <a:off x="1355620" y="1362075"/>
              <a:ext cx="9478676" cy="685800"/>
            </a:xfrm>
            <a:prstGeom prst="rect">
              <a:avLst/>
            </a:prstGeom>
            <a:noFill/>
            <a:ln/>
          </p:spPr>
          <p:txBody>
            <a:bodyPr wrap="square" lIns="0" tIns="0" rIns="0" bIns="0" rtlCol="0" anchor="ctr"/>
            <a:lstStyle/>
            <a:p>
              <a:pPr algn="ctr">
                <a:lnSpc>
                  <a:spcPct val="100000"/>
                </a:lnSpc>
              </a:pPr>
              <a:r>
                <a:rPr lang="en-US" altLang="zh-CN" sz="5400" b="1" dirty="0">
                  <a:latin typeface="Times New Roman" panose="02020603050405020304" pitchFamily="18" charset="0"/>
                  <a:ea typeface="Sorts Mill Goudy" pitchFamily="34" charset="-122"/>
                  <a:cs typeface="Times New Roman" panose="02020603050405020304" pitchFamily="18" charset="0"/>
                </a:rPr>
                <a:t>Thank you for your attention</a:t>
              </a:r>
              <a:endParaRPr lang="en-US" altLang="zh-CN" sz="4000" b="1" dirty="0">
                <a:latin typeface="Times New Roman" panose="02020603050405020304" pitchFamily="18" charset="0"/>
                <a:cs typeface="Times New Roman" panose="02020603050405020304" pitchFamily="18" charset="0"/>
              </a:endParaRPr>
            </a:p>
          </p:txBody>
        </p:sp>
        <p:sp>
          <p:nvSpPr>
            <p:cNvPr id="4" name="Shape 2"/>
            <p:cNvSpPr/>
            <p:nvPr/>
          </p:nvSpPr>
          <p:spPr>
            <a:xfrm>
              <a:off x="5486326" y="2395538"/>
              <a:ext cx="1219200" cy="38100"/>
            </a:xfrm>
            <a:custGeom>
              <a:avLst/>
              <a:gdLst/>
              <a:ahLst/>
              <a:cxnLst/>
              <a:rect l="l" t="t" r="r" b="b"/>
              <a:pathLst>
                <a:path w="1219200" h="38100">
                  <a:moveTo>
                    <a:pt x="0" y="0"/>
                  </a:moveTo>
                  <a:lnTo>
                    <a:pt x="1219200" y="0"/>
                  </a:lnTo>
                  <a:lnTo>
                    <a:pt x="1219200" y="38100"/>
                  </a:lnTo>
                  <a:lnTo>
                    <a:pt x="0" y="38100"/>
                  </a:lnTo>
                  <a:lnTo>
                    <a:pt x="0" y="0"/>
                  </a:lnTo>
                  <a:close/>
                </a:path>
              </a:pathLst>
            </a:custGeom>
            <a:solidFill>
              <a:srgbClr val="8B0000"/>
            </a:solidFill>
            <a:ln/>
          </p:spPr>
        </p:sp>
      </p:grpSp>
      <p:sp>
        <p:nvSpPr>
          <p:cNvPr id="6" name="Text 4"/>
          <p:cNvSpPr/>
          <p:nvPr/>
        </p:nvSpPr>
        <p:spPr>
          <a:xfrm>
            <a:off x="3682901" y="3843338"/>
            <a:ext cx="4829175" cy="266700"/>
          </a:xfrm>
          <a:prstGeom prst="rect">
            <a:avLst/>
          </a:prstGeom>
          <a:noFill/>
          <a:ln/>
        </p:spPr>
        <p:txBody>
          <a:bodyPr wrap="square" lIns="0" tIns="0" rIns="0" bIns="0" rtlCol="0" anchor="ctr"/>
          <a:lstStyle/>
          <a:p>
            <a:pPr algn="ctr">
              <a:lnSpc>
                <a:spcPct val="120000"/>
              </a:lnSpc>
            </a:pPr>
            <a:r>
              <a:rPr lang="en-US" sz="1500" b="1" dirty="0">
                <a:solidFill>
                  <a:srgbClr val="1F2937"/>
                </a:solidFill>
                <a:latin typeface="Times New Roman" panose="02020603050405020304" pitchFamily="18" charset="0"/>
                <a:ea typeface="Sorts Mill Goudy" pitchFamily="34" charset="-122"/>
                <a:cs typeface="Times New Roman" panose="02020603050405020304" pitchFamily="18" charset="0"/>
              </a:rPr>
              <a:t>Project Repository:</a:t>
            </a:r>
            <a:r>
              <a:rPr lang="en-US" sz="1500" dirty="0">
                <a:solidFill>
                  <a:srgbClr val="1F2937"/>
                </a:solidFill>
                <a:latin typeface="Times New Roman" panose="02020603050405020304" pitchFamily="18" charset="0"/>
                <a:ea typeface="Sorts Mill Goudy" pitchFamily="34" charset="-122"/>
                <a:cs typeface="Times New Roman" panose="02020603050405020304" pitchFamily="18" charset="0"/>
              </a:rPr>
              <a:t> github.com/pary666/comp7940-group</a:t>
            </a:r>
            <a:endParaRPr lang="en-US" sz="1600" dirty="0">
              <a:latin typeface="Times New Roman" panose="02020603050405020304" pitchFamily="18" charset="0"/>
              <a:cs typeface="Times New Roman" panose="02020603050405020304" pitchFamily="18" charset="0"/>
            </a:endParaRPr>
          </a:p>
        </p:txBody>
      </p:sp>
      <p:sp>
        <p:nvSpPr>
          <p:cNvPr id="7" name="Text 5"/>
          <p:cNvSpPr/>
          <p:nvPr/>
        </p:nvSpPr>
        <p:spPr>
          <a:xfrm>
            <a:off x="3682901" y="4262438"/>
            <a:ext cx="4829175" cy="266700"/>
          </a:xfrm>
          <a:prstGeom prst="rect">
            <a:avLst/>
          </a:prstGeom>
          <a:noFill/>
          <a:ln/>
        </p:spPr>
        <p:txBody>
          <a:bodyPr wrap="square" lIns="0" tIns="0" rIns="0" bIns="0" rtlCol="0" anchor="ctr"/>
          <a:lstStyle/>
          <a:p>
            <a:pPr algn="ctr">
              <a:lnSpc>
                <a:spcPct val="120000"/>
              </a:lnSpc>
            </a:pPr>
            <a:r>
              <a:rPr lang="en-US" sz="1500" b="1" dirty="0">
                <a:solidFill>
                  <a:srgbClr val="1F2937"/>
                </a:solidFill>
                <a:latin typeface="Times New Roman" panose="02020603050405020304" pitchFamily="18" charset="0"/>
                <a:ea typeface="Sorts Mill Goudy" pitchFamily="34" charset="-122"/>
                <a:cs typeface="Times New Roman" panose="02020603050405020304" pitchFamily="18" charset="0"/>
              </a:rPr>
              <a:t>Bot ID:</a:t>
            </a:r>
            <a:r>
              <a:rPr lang="en-US" sz="1500" dirty="0">
                <a:solidFill>
                  <a:srgbClr val="1F2937"/>
                </a:solidFill>
                <a:latin typeface="Times New Roman" panose="02020603050405020304" pitchFamily="18" charset="0"/>
                <a:ea typeface="Sorts Mill Goudy" pitchFamily="34" charset="-122"/>
                <a:cs typeface="Times New Roman" panose="02020603050405020304" pitchFamily="18" charset="0"/>
              </a:rPr>
              <a:t> @Group_AK_bot</a:t>
            </a:r>
            <a:endParaRPr lang="en-US" sz="1600" dirty="0">
              <a:latin typeface="Times New Roman" panose="02020603050405020304" pitchFamily="18" charset="0"/>
              <a:cs typeface="Times New Roman" panose="02020603050405020304" pitchFamily="18" charset="0"/>
            </a:endParaRPr>
          </a:p>
        </p:txBody>
      </p:sp>
      <p:sp>
        <p:nvSpPr>
          <p:cNvPr id="8" name="Shape 6"/>
          <p:cNvSpPr/>
          <p:nvPr/>
        </p:nvSpPr>
        <p:spPr>
          <a:xfrm>
            <a:off x="4480471" y="5143500"/>
            <a:ext cx="3228975" cy="9525"/>
          </a:xfrm>
          <a:custGeom>
            <a:avLst/>
            <a:gdLst/>
            <a:ahLst/>
            <a:cxnLst/>
            <a:rect l="l" t="t" r="r" b="b"/>
            <a:pathLst>
              <a:path w="3228975" h="9525">
                <a:moveTo>
                  <a:pt x="0" y="0"/>
                </a:moveTo>
                <a:lnTo>
                  <a:pt x="3228975" y="0"/>
                </a:lnTo>
                <a:lnTo>
                  <a:pt x="3228975" y="9525"/>
                </a:lnTo>
                <a:lnTo>
                  <a:pt x="0" y="9525"/>
                </a:lnTo>
                <a:lnTo>
                  <a:pt x="0" y="0"/>
                </a:lnTo>
                <a:close/>
              </a:path>
            </a:pathLst>
          </a:custGeom>
          <a:solidFill>
            <a:srgbClr val="D1D5DC"/>
          </a:solidFill>
          <a:ln/>
        </p:spPr>
      </p:sp>
      <p:grpSp>
        <p:nvGrpSpPr>
          <p:cNvPr id="10" name="组合 9">
            <a:extLst>
              <a:ext uri="{FF2B5EF4-FFF2-40B4-BE49-F238E27FC236}">
                <a16:creationId xmlns:a16="http://schemas.microsoft.com/office/drawing/2014/main" id="{DDD4DB9F-997B-D5EC-2CAB-6E6A6332AA08}"/>
              </a:ext>
            </a:extLst>
          </p:cNvPr>
          <p:cNvGrpSpPr/>
          <p:nvPr/>
        </p:nvGrpSpPr>
        <p:grpSpPr>
          <a:xfrm>
            <a:off x="4363194" y="5317259"/>
            <a:ext cx="3467100" cy="1176483"/>
            <a:chOff x="4363194" y="4919663"/>
            <a:chExt cx="3467100" cy="1176483"/>
          </a:xfrm>
        </p:grpSpPr>
        <p:sp>
          <p:nvSpPr>
            <p:cNvPr id="11" name="Text 5">
              <a:extLst>
                <a:ext uri="{FF2B5EF4-FFF2-40B4-BE49-F238E27FC236}">
                  <a16:creationId xmlns:a16="http://schemas.microsoft.com/office/drawing/2014/main" id="{9340D68E-F50C-1925-04E3-E852AF9EFBD7}"/>
                </a:ext>
              </a:extLst>
            </p:cNvPr>
            <p:cNvSpPr/>
            <p:nvPr/>
          </p:nvSpPr>
          <p:spPr>
            <a:xfrm>
              <a:off x="4363194" y="4919663"/>
              <a:ext cx="3467100" cy="304800"/>
            </a:xfrm>
            <a:prstGeom prst="rect">
              <a:avLst/>
            </a:prstGeom>
            <a:noFill/>
            <a:ln/>
          </p:spPr>
          <p:txBody>
            <a:bodyPr wrap="square" lIns="0" tIns="0" rIns="0" bIns="0" rtlCol="0" anchor="ctr"/>
            <a:lstStyle/>
            <a:p>
              <a:pPr algn="ctr">
                <a:lnSpc>
                  <a:spcPct val="110000"/>
                </a:lnSpc>
              </a:pPr>
              <a:r>
                <a:rPr lang="en-US" sz="1800" dirty="0">
                  <a:solidFill>
                    <a:srgbClr val="1F2937"/>
                  </a:solidFill>
                  <a:latin typeface="Times New Roman" panose="02020603050405020304" pitchFamily="18" charset="0"/>
                  <a:ea typeface="Sorts Mill Goudy" pitchFamily="34" charset="-122"/>
                  <a:cs typeface="Times New Roman" panose="02020603050405020304" pitchFamily="18" charset="0"/>
                </a:rPr>
                <a:t>Group AK</a:t>
              </a:r>
              <a:endParaRPr lang="en-US" sz="1600" dirty="0">
                <a:latin typeface="Times New Roman" panose="02020603050405020304" pitchFamily="18" charset="0"/>
                <a:cs typeface="Times New Roman" panose="02020603050405020304" pitchFamily="18" charset="0"/>
              </a:endParaRPr>
            </a:p>
          </p:txBody>
        </p:sp>
        <p:sp>
          <p:nvSpPr>
            <p:cNvPr id="12" name="Text 6">
              <a:extLst>
                <a:ext uri="{FF2B5EF4-FFF2-40B4-BE49-F238E27FC236}">
                  <a16:creationId xmlns:a16="http://schemas.microsoft.com/office/drawing/2014/main" id="{4732DD55-8011-241F-69BE-4D513FA21998}"/>
                </a:ext>
              </a:extLst>
            </p:cNvPr>
            <p:cNvSpPr/>
            <p:nvPr/>
          </p:nvSpPr>
          <p:spPr>
            <a:xfrm>
              <a:off x="4363194" y="5230381"/>
              <a:ext cx="3448050" cy="865765"/>
            </a:xfrm>
            <a:prstGeom prst="rect">
              <a:avLst/>
            </a:prstGeom>
            <a:noFill/>
            <a:ln/>
          </p:spPr>
          <p:txBody>
            <a:bodyPr wrap="square" lIns="0" tIns="0" rIns="0" bIns="0" rtlCol="0" anchor="ctr"/>
            <a:lstStyle/>
            <a:p>
              <a:pPr algn="ctr">
                <a:lnSpc>
                  <a:spcPct val="120000"/>
                </a:lnSpc>
              </a:pPr>
              <a:r>
                <a:rPr lang="en-US" sz="1500" dirty="0">
                  <a:solidFill>
                    <a:schemeClr val="bg1">
                      <a:lumMod val="50000"/>
                    </a:schemeClr>
                  </a:solidFill>
                  <a:latin typeface="Times New Roman" panose="02020603050405020304" pitchFamily="18" charset="0"/>
                  <a:ea typeface="Sorts Mill Goudy" pitchFamily="34" charset="-122"/>
                  <a:cs typeface="Times New Roman" panose="02020603050405020304" pitchFamily="18" charset="0"/>
                </a:rPr>
                <a:t>Luo Chenjin-25450476</a:t>
              </a:r>
            </a:p>
            <a:p>
              <a:pPr algn="ctr">
                <a:lnSpc>
                  <a:spcPct val="120000"/>
                </a:lnSpc>
              </a:pPr>
              <a:r>
                <a:rPr lang="en-US" altLang="zh-CN" sz="1500" dirty="0">
                  <a:solidFill>
                    <a:schemeClr val="bg1">
                      <a:lumMod val="50000"/>
                    </a:schemeClr>
                  </a:solidFill>
                  <a:latin typeface="Times New Roman" panose="02020603050405020304" pitchFamily="18" charset="0"/>
                  <a:ea typeface="Sorts Mill Goudy" pitchFamily="34" charset="-122"/>
                  <a:cs typeface="Times New Roman" panose="02020603050405020304" pitchFamily="18" charset="0"/>
                </a:rPr>
                <a:t>Zhang Zilong-</a:t>
              </a:r>
              <a:r>
                <a:rPr lang="en-US" altLang="zh-CN" sz="1500" dirty="0">
                  <a:solidFill>
                    <a:schemeClr val="bg1">
                      <a:lumMod val="50000"/>
                    </a:schemeClr>
                  </a:solidFill>
                  <a:latin typeface="Times New Roman" panose="02020603050405020304" pitchFamily="18" charset="0"/>
                  <a:cs typeface="Times New Roman" panose="02020603050405020304" pitchFamily="18" charset="0"/>
                </a:rPr>
                <a:t>25454722</a:t>
              </a:r>
              <a:r>
                <a:rPr lang="en-US" sz="1500" dirty="0">
                  <a:solidFill>
                    <a:schemeClr val="bg1">
                      <a:lumMod val="50000"/>
                    </a:schemeClr>
                  </a:solidFill>
                  <a:latin typeface="Times New Roman" panose="02020603050405020304" pitchFamily="18" charset="0"/>
                  <a:ea typeface="Sorts Mill Goudy" pitchFamily="34" charset="-122"/>
                  <a:cs typeface="Times New Roman" panose="02020603050405020304" pitchFamily="18" charset="0"/>
                </a:rPr>
                <a:t>  </a:t>
              </a:r>
            </a:p>
            <a:p>
              <a:pPr algn="ctr">
                <a:lnSpc>
                  <a:spcPct val="120000"/>
                </a:lnSpc>
              </a:pPr>
              <a:r>
                <a:rPr lang="en-US" sz="1500" dirty="0">
                  <a:solidFill>
                    <a:schemeClr val="bg1">
                      <a:lumMod val="50000"/>
                    </a:schemeClr>
                  </a:solidFill>
                  <a:latin typeface="Times New Roman" panose="02020603050405020304" pitchFamily="18" charset="0"/>
                  <a:ea typeface="Sorts Mill Goudy" pitchFamily="34" charset="-122"/>
                  <a:cs typeface="Times New Roman" panose="02020603050405020304" pitchFamily="18" charset="0"/>
                </a:rPr>
                <a:t>Zhang Ziru-</a:t>
              </a:r>
              <a:r>
                <a:rPr lang="en-US" altLang="zh-CN" sz="1500" dirty="0">
                  <a:solidFill>
                    <a:schemeClr val="bg1">
                      <a:lumMod val="50000"/>
                    </a:schemeClr>
                  </a:solidFill>
                  <a:latin typeface="Times New Roman" panose="02020603050405020304" pitchFamily="18" charset="0"/>
                  <a:cs typeface="Times New Roman" panose="02020603050405020304" pitchFamily="18" charset="0"/>
                </a:rPr>
                <a:t>25450492</a:t>
              </a:r>
              <a:r>
                <a:rPr lang="en-US" sz="1500" dirty="0">
                  <a:solidFill>
                    <a:schemeClr val="bg1">
                      <a:lumMod val="50000"/>
                    </a:schemeClr>
                  </a:solidFill>
                  <a:latin typeface="Times New Roman" panose="02020603050405020304" pitchFamily="18" charset="0"/>
                  <a:ea typeface="Sorts Mill Goudy" pitchFamily="34" charset="-122"/>
                  <a:cs typeface="Times New Roman" panose="02020603050405020304" pitchFamily="18" charset="0"/>
                </a:rPr>
                <a:t>  </a:t>
              </a:r>
            </a:p>
          </p:txBody>
        </p:sp>
      </p:grpSp>
    </p:spTree>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KSO_WM_DIAGRAM_VIRTUALLY_FRAME" val="{&quot;height&quot;:230,&quot;left&quot;:30,&quot;top&quot;:70,&quot;width&quot;:430}"/>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230,&quot;left&quot;:8.9,&quot;top&quot;:70,&quot;width&quot;:921.1}"/>
</p:tagLst>
</file>

<file path=ppt/theme/theme1.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134</TotalTime>
  <Words>1085</Words>
  <Application>Microsoft Office PowerPoint</Application>
  <PresentationFormat>宽屏</PresentationFormat>
  <Paragraphs>136</Paragraphs>
  <Slides>12</Slides>
  <Notes>12</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12</vt:i4>
      </vt:variant>
    </vt:vector>
  </HeadingPairs>
  <TitlesOfParts>
    <vt:vector size="16" baseType="lpstr">
      <vt:lpstr>Arial</vt:lpstr>
      <vt:lpstr>Times New Roman</vt:lpstr>
      <vt:lpstr>Wingdings</vt:lpstr>
      <vt:lpstr>Custom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Group_AK_bot: Cloud-Based Telegram Chatbot</dc:title>
  <dc:subject>Group_AK_bot: Cloud-Based Telegram Chatbot</dc:subject>
  <dc:creator>Kimi</dc:creator>
  <cp:lastModifiedBy>chenjin luo</cp:lastModifiedBy>
  <cp:revision>10</cp:revision>
  <dcterms:created xsi:type="dcterms:W3CDTF">2026-03-30T12:13:49Z</dcterms:created>
  <dcterms:modified xsi:type="dcterms:W3CDTF">2026-04-02T06:38:40Z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{"Label":"Group_AK_bot: Cloud-Based Telegram Chatbot","ContentProducer":"001191110108MACG2KBH8F10000","ProduceID":"19d3ea66-47f2-84fb-8000-00005ef4ce16","ReservedCode1":"","ContentPropagator":"001191110108MACG2KBH8F20000","PropagateID":"19d3ea66-47f2-84fb-8000-00005ef4ce16","ReservedCode2":""}</vt:lpwstr>
  </property>
</Properties>
</file>